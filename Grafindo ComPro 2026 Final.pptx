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1" r:id="rId25"/>
    <p:sldId id="279" r:id="rId26"/>
    <p:sldId id="28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varScale="1">
        <p:scale>
          <a:sx n="66" d="100"/>
          <a:sy n="66" d="100"/>
        </p:scale>
        <p:origin x="668"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9378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original </a:t>
            </a:r>
            <a:r>
              <a:rPr dirty="0" err="1"/>
              <a:t>Grafindo</a:t>
            </a:r>
            <a:r>
              <a:rPr dirty="0"/>
              <a:t> </a:t>
            </a:r>
            <a:r>
              <a:rPr dirty="0" err="1"/>
              <a:t>ComPro</a:t>
            </a:r>
            <a:r>
              <a:rPr dirty="0"/>
              <a:t> 2026, slide(s) 1.</a:t>
            </a:r>
          </a:p>
          <a:p>
            <a:r>
              <a:rPr dirty="0"/>
              <a:t>Opening company profile. The product photo is from the original deck, slide 19.</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original </a:t>
            </a:r>
            <a:r>
              <a:rPr dirty="0" err="1"/>
              <a:t>Grafindo</a:t>
            </a:r>
            <a:r>
              <a:rPr dirty="0"/>
              <a:t> </a:t>
            </a:r>
            <a:r>
              <a:rPr dirty="0" err="1"/>
              <a:t>ComPro</a:t>
            </a:r>
            <a:r>
              <a:rPr dirty="0"/>
              <a:t> 2026, slide(s) 2.</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3.</a:t>
            </a:r>
          </a:p>
          <a:p>
            <a:r>
              <a:t>Facility plan reproduced from the source without changing the physical arrangement. Original Indonesian floor labels: Lantai 1 / Lantai 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3.</a:t>
            </a:r>
          </a:p>
          <a:p>
            <a:r>
              <a:t>Facility plan reproduced from the source without changing the physical arrangement. Original Indonesian floor labels: Lantai 1 / Lantai 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5.</a:t>
            </a:r>
          </a:p>
          <a:p>
            <a:r>
              <a:t>Click 1 reveals the Cikarang map and geographic callouts. Click 2 reveals the facility photo and site address. The fade preset comes from the original slide.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6.</a:t>
            </a:r>
          </a:p>
          <a:p>
            <a:r>
              <a:t>Source organization chart dated Cikarang, 7 January 2026. Solid lines show the direct links displayed in the source. Dotted lines indicate the source coordination links between operational, business/quality, and administration roles. The six departmental teams are expanded on the next slide. Source role GM Admin &amp; Umum translated to General Affairs.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6.</a:t>
            </a:r>
          </a:p>
          <a:p>
            <a:r>
              <a:t>Editable transcription of all six departmental branches in the source organization chart. Role abbreviations and employee names are retained from the image. Finance, Accounting and Sales reporting are shown on the leadership slide.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7.</a:t>
            </a:r>
          </a:p>
          <a:p>
            <a:r>
              <a:t>One click reveals the original graphic-application highlight images together. The source fade animation sequence and timing are retained.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8.</a:t>
            </a:r>
          </a:p>
          <a:p>
            <a:r>
              <a:t>Product descriptions and RoHS, GADSL, REACH SVHC compliance statements are carried over from the source deck.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9.</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10.</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11.</a:t>
            </a:r>
          </a:p>
          <a:p>
            <a:r>
              <a:t>Six clicks build four ink colors, then the clear-coat/dome finish, then the benefit strip. The original animation timing is preserved and retargeted to the redesigned editable cross-section. Original artwork is retained, with the four color images registered in a gray/white/black/red build.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12.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13.</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14.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15.</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16.</a:t>
            </a:r>
          </a:p>
          <a:p>
            <a:r>
              <a:t>The original EMF table has been transcribed into editable native text and shapes. Thicknesses are unchanged. Layer 1 offers gloss/matte appearances; layer 2 can be pigmented (e.g. gold and red); layer 3 can be brushed for hairlines. The layer-stack schematic is illustrative and not to scale.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17.</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18.</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19.</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20.</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21.</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A8208-48F3-F57E-84BE-8BC8C63F29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91950-C46C-3F33-FEC4-4069B4FAD5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1D06B8F-023C-7D13-BD10-B31C80608710}"/>
              </a:ext>
            </a:extLst>
          </p:cNvPr>
          <p:cNvSpPr>
            <a:spLocks noGrp="1"/>
          </p:cNvSpPr>
          <p:nvPr>
            <p:ph type="body" sz="quarter" idx="3"/>
          </p:nvPr>
        </p:nvSpPr>
        <p:spPr/>
        <p:txBody>
          <a:bodyPr/>
          <a:lstStyle/>
          <a:p>
            <a:r>
              <a:rPr dirty="0"/>
              <a:t>Source: original </a:t>
            </a:r>
            <a:r>
              <a:rPr dirty="0" err="1"/>
              <a:t>Grafindo</a:t>
            </a:r>
            <a:r>
              <a:rPr dirty="0"/>
              <a:t> </a:t>
            </a:r>
            <a:r>
              <a:rPr dirty="0" err="1"/>
              <a:t>ComPro</a:t>
            </a:r>
            <a:r>
              <a:rPr dirty="0"/>
              <a:t> 2026, slide(s) 22.</a:t>
            </a:r>
          </a:p>
          <a:p>
            <a:endParaRPr dirty="0"/>
          </a:p>
        </p:txBody>
      </p:sp>
      <p:sp>
        <p:nvSpPr>
          <p:cNvPr id="4" name="Slide Number Placeholder 3">
            <a:extLst>
              <a:ext uri="{FF2B5EF4-FFF2-40B4-BE49-F238E27FC236}">
                <a16:creationId xmlns:a16="http://schemas.microsoft.com/office/drawing/2014/main" id="{49A1EB21-70EC-5240-1F62-516B3D628DF2}"/>
              </a:ext>
            </a:extLst>
          </p:cNvPr>
          <p:cNvSpPr>
            <a:spLocks noGrp="1"/>
          </p:cNvSpPr>
          <p:nvPr>
            <p:ph type="sldNum" sz="quarter" idx="5"/>
          </p:nvPr>
        </p:nvSpPr>
        <p:spPr/>
      </p:sp>
    </p:spTree>
    <p:extLst>
      <p:ext uri="{BB962C8B-B14F-4D97-AF65-F5344CB8AC3E}">
        <p14:creationId xmlns:p14="http://schemas.microsoft.com/office/powerpoint/2010/main" val="8507480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22.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original Grafindo ComPro 2026, slide(s) 5, 23.</a:t>
            </a:r>
          </a:p>
          <a:p>
            <a:r>
              <a:t>Contact details reproduced from the contact image on source slide 5. Thank-you message from source slide 23.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jpg"/><Relationship Id="rId3" Type="http://schemas.openxmlformats.org/officeDocument/2006/relationships/image" Target="../media/image2.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10.xml"/><Relationship Id="rId16"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jp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image" Target="../media/image2.png"/><Relationship Id="rId7" Type="http://schemas.openxmlformats.org/officeDocument/2006/relationships/image" Target="../media/image32.jp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1.jp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png"/><Relationship Id="rId7"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8" Type="http://schemas.openxmlformats.org/officeDocument/2006/relationships/image" Target="../media/image48.jpg"/><Relationship Id="rId3" Type="http://schemas.openxmlformats.org/officeDocument/2006/relationships/image" Target="../media/image2.png"/><Relationship Id="rId7" Type="http://schemas.openxmlformats.org/officeDocument/2006/relationships/image" Target="../media/image47.jp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46.jpg"/><Relationship Id="rId5" Type="http://schemas.openxmlformats.org/officeDocument/2006/relationships/image" Target="../media/image45.jpg"/><Relationship Id="rId4" Type="http://schemas.openxmlformats.org/officeDocument/2006/relationships/image" Target="../media/image44.jpg"/></Relationships>
</file>

<file path=ppt/slides/_rels/slide15.xml.rels><?xml version="1.0" encoding="UTF-8" standalone="yes"?>
<Relationships xmlns="http://schemas.openxmlformats.org/package/2006/relationships"><Relationship Id="rId8" Type="http://schemas.openxmlformats.org/officeDocument/2006/relationships/image" Target="../media/image53.jpg"/><Relationship Id="rId3" Type="http://schemas.openxmlformats.org/officeDocument/2006/relationships/image" Target="../media/image2.png"/><Relationship Id="rId7" Type="http://schemas.openxmlformats.org/officeDocument/2006/relationships/image" Target="../media/image52.jp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1.jpg"/><Relationship Id="rId5" Type="http://schemas.openxmlformats.org/officeDocument/2006/relationships/image" Target="../media/image50.jpg"/><Relationship Id="rId10" Type="http://schemas.openxmlformats.org/officeDocument/2006/relationships/image" Target="../media/image55.jpg"/><Relationship Id="rId4" Type="http://schemas.openxmlformats.org/officeDocument/2006/relationships/image" Target="../media/image49.jpg"/><Relationship Id="rId9" Type="http://schemas.openxmlformats.org/officeDocument/2006/relationships/image" Target="../media/image54.jpg"/></Relationships>
</file>

<file path=ppt/slides/_rels/slide16.xml.rels><?xml version="1.0" encoding="UTF-8" standalone="yes"?>
<Relationships xmlns="http://schemas.openxmlformats.org/package/2006/relationships"><Relationship Id="rId8" Type="http://schemas.openxmlformats.org/officeDocument/2006/relationships/image" Target="../media/image60.jpg"/><Relationship Id="rId3" Type="http://schemas.openxmlformats.org/officeDocument/2006/relationships/image" Target="../media/image2.png"/><Relationship Id="rId7" Type="http://schemas.openxmlformats.org/officeDocument/2006/relationships/image" Target="../media/image59.jp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8.jpg"/><Relationship Id="rId5" Type="http://schemas.openxmlformats.org/officeDocument/2006/relationships/image" Target="../media/image57.jpg"/><Relationship Id="rId10" Type="http://schemas.openxmlformats.org/officeDocument/2006/relationships/image" Target="../media/image62.jpg"/><Relationship Id="rId4" Type="http://schemas.openxmlformats.org/officeDocument/2006/relationships/image" Target="../media/image56.jpg"/><Relationship Id="rId9" Type="http://schemas.openxmlformats.org/officeDocument/2006/relationships/image" Target="../media/image61.jp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63.png"/><Relationship Id="rId4" Type="http://schemas.openxmlformats.org/officeDocument/2006/relationships/image" Target="../media/image1.jp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65.png"/><Relationship Id="rId4" Type="http://schemas.openxmlformats.org/officeDocument/2006/relationships/image" Target="../media/image1.jp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9.jp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68.jpg"/><Relationship Id="rId5" Type="http://schemas.openxmlformats.org/officeDocument/2006/relationships/image" Target="../media/image67.jpg"/><Relationship Id="rId4" Type="http://schemas.openxmlformats.org/officeDocument/2006/relationships/image" Target="../media/image66.jp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3.jp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72.jpg"/><Relationship Id="rId5" Type="http://schemas.openxmlformats.org/officeDocument/2006/relationships/image" Target="../media/image71.jpg"/><Relationship Id="rId4" Type="http://schemas.openxmlformats.org/officeDocument/2006/relationships/image" Target="../media/image70.jpg"/></Relationships>
</file>

<file path=ppt/slides/_rels/slide24.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2.png"/><Relationship Id="rId7" Type="http://schemas.openxmlformats.org/officeDocument/2006/relationships/image" Target="../media/image77.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9" Type="http://schemas.openxmlformats.org/officeDocument/2006/relationships/image" Target="../media/image79.png"/></Relationships>
</file>

<file path=ppt/slides/_rels/slide25.xml.rels><?xml version="1.0" encoding="UTF-8" standalone="yes"?>
<Relationships xmlns="http://schemas.openxmlformats.org/package/2006/relationships"><Relationship Id="rId8" Type="http://schemas.openxmlformats.org/officeDocument/2006/relationships/image" Target="../media/image84.jpg"/><Relationship Id="rId3" Type="http://schemas.openxmlformats.org/officeDocument/2006/relationships/image" Target="../media/image2.png"/><Relationship Id="rId7" Type="http://schemas.openxmlformats.org/officeDocument/2006/relationships/image" Target="../media/image83.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82.png"/><Relationship Id="rId5" Type="http://schemas.openxmlformats.org/officeDocument/2006/relationships/image" Target="../media/image81.jpg"/><Relationship Id="rId4" Type="http://schemas.openxmlformats.org/officeDocument/2006/relationships/image" Target="../media/image80.png"/><Relationship Id="rId9" Type="http://schemas.openxmlformats.org/officeDocument/2006/relationships/image" Target="../media/image85.png"/></Relationships>
</file>

<file path=ppt/slides/_rels/slide2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pic>
        <p:nvPicPr>
          <p:cNvPr id="3" name="Picture 2" descr="image72.jpg"/>
          <p:cNvPicPr>
            <a:picLocks noChangeAspect="1"/>
          </p:cNvPicPr>
          <p:nvPr/>
        </p:nvPicPr>
        <p:blipFill>
          <a:blip r:embed="rId3"/>
          <a:srcRect l="19005" r="21386" b="9200"/>
          <a:stretch>
            <a:fillRect/>
          </a:stretch>
        </p:blipFill>
        <p:spPr>
          <a:xfrm>
            <a:off x="5486401" y="91440"/>
            <a:ext cx="6722894" cy="6693408"/>
          </a:xfrm>
          <a:prstGeom prst="rect">
            <a:avLst/>
          </a:prstGeom>
          <a:effectLst/>
        </p:spPr>
      </p:pic>
      <p:sp>
        <p:nvSpPr>
          <p:cNvPr id="4" name="Rectangle 3"/>
          <p:cNvSpPr/>
          <p:nvPr/>
        </p:nvSpPr>
        <p:spPr>
          <a:xfrm>
            <a:off x="5458968" y="0"/>
            <a:ext cx="73152" cy="6858000"/>
          </a:xfrm>
          <a:prstGeom prst="rect">
            <a:avLst/>
          </a:prstGeom>
          <a:solidFill>
            <a:srgbClr val="244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5" name="Rectangle 4"/>
          <p:cNvSpPr/>
          <p:nvPr/>
        </p:nvSpPr>
        <p:spPr>
          <a:xfrm>
            <a:off x="594360" y="566928"/>
            <a:ext cx="859536"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pic>
        <p:nvPicPr>
          <p:cNvPr id="6" name="Picture 5" descr="image1.png"/>
          <p:cNvPicPr>
            <a:picLocks noChangeAspect="1"/>
          </p:cNvPicPr>
          <p:nvPr/>
        </p:nvPicPr>
        <p:blipFill>
          <a:blip r:embed="rId4"/>
          <a:stretch>
            <a:fillRect/>
          </a:stretch>
        </p:blipFill>
        <p:spPr>
          <a:xfrm>
            <a:off x="669797" y="630936"/>
            <a:ext cx="699516" cy="466344"/>
          </a:xfrm>
          <a:prstGeom prst="rect">
            <a:avLst/>
          </a:prstGeom>
          <a:effectLst/>
        </p:spPr>
      </p:pic>
      <p:sp>
        <p:nvSpPr>
          <p:cNvPr id="7" name="TextBox 6"/>
          <p:cNvSpPr txBox="1"/>
          <p:nvPr/>
        </p:nvSpPr>
        <p:spPr>
          <a:xfrm>
            <a:off x="1627632" y="667512"/>
            <a:ext cx="3383280" cy="475488"/>
          </a:xfrm>
          <a:prstGeom prst="rect">
            <a:avLst/>
          </a:prstGeom>
          <a:noFill/>
          <a:effectLst/>
        </p:spPr>
        <p:txBody>
          <a:bodyPr wrap="square" lIns="0" tIns="0" rIns="0" bIns="0" anchor="t">
            <a:spAutoFit/>
          </a:bodyPr>
          <a:lstStyle/>
          <a:p>
            <a:pPr algn="l">
              <a:lnSpc>
                <a:spcPct val="112000"/>
              </a:lnSpc>
              <a:spcBef>
                <a:spcPts val="0"/>
              </a:spcBef>
              <a:spcAft>
                <a:spcPts val="0"/>
              </a:spcAft>
            </a:pPr>
            <a:r>
              <a:rPr sz="1250" b="1" spc="40" dirty="0">
                <a:solidFill>
                  <a:srgbClr val="FFFFFF"/>
                </a:solidFill>
                <a:latin typeface="Arial"/>
              </a:rPr>
              <a:t>PT. GRAFINDO</a:t>
            </a:r>
          </a:p>
          <a:p>
            <a:pPr algn="l">
              <a:lnSpc>
                <a:spcPct val="112000"/>
              </a:lnSpc>
              <a:spcBef>
                <a:spcPts val="0"/>
              </a:spcBef>
              <a:spcAft>
                <a:spcPts val="0"/>
              </a:spcAft>
            </a:pPr>
            <a:r>
              <a:rPr sz="1250" b="1" spc="40" dirty="0">
                <a:solidFill>
                  <a:srgbClr val="FFFFFF"/>
                </a:solidFill>
                <a:latin typeface="Arial"/>
              </a:rPr>
              <a:t>MITRASEMESTA</a:t>
            </a:r>
          </a:p>
        </p:txBody>
      </p:sp>
      <p:sp>
        <p:nvSpPr>
          <p:cNvPr id="8" name="TextBox 7"/>
          <p:cNvSpPr txBox="1"/>
          <p:nvPr/>
        </p:nvSpPr>
        <p:spPr>
          <a:xfrm>
            <a:off x="621792" y="2167128"/>
            <a:ext cx="4572000" cy="246888"/>
          </a:xfrm>
          <a:prstGeom prst="rect">
            <a:avLst/>
          </a:prstGeom>
          <a:noFill/>
          <a:effectLst/>
        </p:spPr>
        <p:txBody>
          <a:bodyPr wrap="square" lIns="0" tIns="0" rIns="0" bIns="0" anchor="t">
            <a:spAutoFit/>
          </a:bodyPr>
          <a:lstStyle/>
          <a:p>
            <a:pPr algn="l">
              <a:lnSpc>
                <a:spcPct val="114000"/>
              </a:lnSpc>
              <a:spcBef>
                <a:spcPts val="0"/>
              </a:spcBef>
              <a:spcAft>
                <a:spcPts val="0"/>
              </a:spcAft>
            </a:pPr>
            <a:r>
              <a:rPr sz="1100" b="1" spc="140" dirty="0">
                <a:solidFill>
                  <a:srgbClr val="48D0DF"/>
                </a:solidFill>
                <a:latin typeface="Arial"/>
              </a:rPr>
              <a:t>COMPANY PROFILE  /  2026</a:t>
            </a:r>
          </a:p>
        </p:txBody>
      </p:sp>
      <p:sp>
        <p:nvSpPr>
          <p:cNvPr id="9" name="TextBox 8"/>
          <p:cNvSpPr txBox="1"/>
          <p:nvPr/>
        </p:nvSpPr>
        <p:spPr>
          <a:xfrm>
            <a:off x="585216" y="2660904"/>
            <a:ext cx="4818888" cy="1618488"/>
          </a:xfrm>
          <a:prstGeom prst="rect">
            <a:avLst/>
          </a:prstGeom>
          <a:noFill/>
          <a:effectLst/>
        </p:spPr>
        <p:txBody>
          <a:bodyPr wrap="square" lIns="0" tIns="0" rIns="0" bIns="0" anchor="t">
            <a:spAutoFit/>
          </a:bodyPr>
          <a:lstStyle/>
          <a:p>
            <a:pPr algn="l">
              <a:lnSpc>
                <a:spcPct val="114000"/>
              </a:lnSpc>
              <a:spcBef>
                <a:spcPts val="0"/>
              </a:spcBef>
              <a:spcAft>
                <a:spcPts val="0"/>
              </a:spcAft>
            </a:pPr>
            <a:r>
              <a:rPr sz="3700" b="1" spc="-60" dirty="0">
                <a:solidFill>
                  <a:srgbClr val="FFFFFF"/>
                </a:solidFill>
                <a:latin typeface="Arial"/>
              </a:rPr>
              <a:t>OEM automotive</a:t>
            </a:r>
          </a:p>
          <a:p>
            <a:pPr algn="l">
              <a:lnSpc>
                <a:spcPct val="114000"/>
              </a:lnSpc>
              <a:spcBef>
                <a:spcPts val="0"/>
              </a:spcBef>
              <a:spcAft>
                <a:spcPts val="0"/>
              </a:spcAft>
            </a:pPr>
            <a:r>
              <a:rPr sz="3700" b="1" spc="-60" dirty="0">
                <a:solidFill>
                  <a:srgbClr val="FFFFFF"/>
                </a:solidFill>
                <a:latin typeface="Arial"/>
              </a:rPr>
              <a:t>graphics &amp; emblems</a:t>
            </a:r>
          </a:p>
        </p:txBody>
      </p:sp>
      <p:sp>
        <p:nvSpPr>
          <p:cNvPr id="10" name="Rectangle 9"/>
          <p:cNvSpPr/>
          <p:nvPr/>
        </p:nvSpPr>
        <p:spPr>
          <a:xfrm>
            <a:off x="612648" y="4608576"/>
            <a:ext cx="987552" cy="50292"/>
          </a:xfrm>
          <a:prstGeom prst="rect">
            <a:avLst/>
          </a:prstGeom>
          <a:solidFill>
            <a:srgbClr val="48D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11" name="TextBox 10"/>
          <p:cNvSpPr txBox="1"/>
          <p:nvPr/>
        </p:nvSpPr>
        <p:spPr>
          <a:xfrm>
            <a:off x="621792" y="4965192"/>
            <a:ext cx="4498848" cy="250903"/>
          </a:xfrm>
          <a:prstGeom prst="rect">
            <a:avLst/>
          </a:prstGeom>
          <a:noFill/>
          <a:effectLst/>
        </p:spPr>
        <p:txBody>
          <a:bodyPr wrap="square" lIns="0" tIns="0" rIns="0" bIns="0" anchor="t">
            <a:spAutoFit/>
          </a:bodyPr>
          <a:lstStyle/>
          <a:p>
            <a:pPr algn="l">
              <a:lnSpc>
                <a:spcPct val="130000"/>
              </a:lnSpc>
              <a:spcBef>
                <a:spcPts val="0"/>
              </a:spcBef>
              <a:spcAft>
                <a:spcPts val="0"/>
              </a:spcAft>
            </a:pPr>
            <a:r>
              <a:rPr sz="1400" b="0" dirty="0">
                <a:solidFill>
                  <a:srgbClr val="CCDAE8"/>
                </a:solidFill>
                <a:latin typeface="Arial"/>
              </a:rPr>
              <a:t>Graphic &amp; </a:t>
            </a:r>
            <a:r>
              <a:rPr lang="en-US" sz="1400" b="0" dirty="0">
                <a:solidFill>
                  <a:srgbClr val="CCDAE8"/>
                </a:solidFill>
                <a:latin typeface="Arial"/>
              </a:rPr>
              <a:t>L</a:t>
            </a:r>
            <a:r>
              <a:rPr sz="1400" b="0" dirty="0">
                <a:solidFill>
                  <a:srgbClr val="CCDAE8"/>
                </a:solidFill>
                <a:latin typeface="Arial"/>
              </a:rPr>
              <a:t>abel  /  Resin </a:t>
            </a:r>
            <a:r>
              <a:rPr lang="en-US" sz="1400" b="0" dirty="0">
                <a:solidFill>
                  <a:srgbClr val="CCDAE8"/>
                </a:solidFill>
                <a:latin typeface="Arial"/>
              </a:rPr>
              <a:t>D</a:t>
            </a:r>
            <a:r>
              <a:rPr sz="1400" b="0" dirty="0">
                <a:solidFill>
                  <a:srgbClr val="CCDAE8"/>
                </a:solidFill>
                <a:latin typeface="Arial"/>
              </a:rPr>
              <a:t>ome  /  Soft </a:t>
            </a:r>
            <a:r>
              <a:rPr lang="en-US" sz="1400" b="0" dirty="0">
                <a:solidFill>
                  <a:srgbClr val="CCDAE8"/>
                </a:solidFill>
                <a:latin typeface="Arial"/>
              </a:rPr>
              <a:t>E</a:t>
            </a:r>
            <a:r>
              <a:rPr sz="1400" b="0" dirty="0">
                <a:solidFill>
                  <a:srgbClr val="CCDAE8"/>
                </a:solidFill>
                <a:latin typeface="Arial"/>
              </a:rPr>
              <a:t>mblem</a:t>
            </a:r>
          </a:p>
        </p:txBody>
      </p:sp>
      <p:sp>
        <p:nvSpPr>
          <p:cNvPr id="12" name="TextBox 11"/>
          <p:cNvSpPr txBox="1"/>
          <p:nvPr/>
        </p:nvSpPr>
        <p:spPr>
          <a:xfrm>
            <a:off x="621792" y="6135624"/>
            <a:ext cx="2103120" cy="173736"/>
          </a:xfrm>
          <a:prstGeom prst="rect">
            <a:avLst/>
          </a:prstGeom>
          <a:noFill/>
          <a:effectLst/>
        </p:spPr>
        <p:txBody>
          <a:bodyPr wrap="square" lIns="0" tIns="0" rIns="0" bIns="0" anchor="t">
            <a:spAutoFit/>
          </a:bodyPr>
          <a:lstStyle/>
          <a:p>
            <a:pPr algn="l">
              <a:lnSpc>
                <a:spcPct val="114000"/>
              </a:lnSpc>
              <a:spcBef>
                <a:spcPts val="0"/>
              </a:spcBef>
              <a:spcAft>
                <a:spcPts val="0"/>
              </a:spcAft>
            </a:pPr>
            <a:r>
              <a:rPr sz="950" b="1" spc="105" dirty="0">
                <a:solidFill>
                  <a:srgbClr val="48D0DF"/>
                </a:solidFill>
                <a:latin typeface="Arial"/>
              </a:rPr>
              <a:t>ESTABLISHED 1994</a:t>
            </a:r>
          </a:p>
        </p:txBody>
      </p:sp>
      <p:sp>
        <p:nvSpPr>
          <p:cNvPr id="13" name="TextBox 12"/>
          <p:cNvSpPr txBox="1"/>
          <p:nvPr/>
        </p:nvSpPr>
        <p:spPr>
          <a:xfrm>
            <a:off x="2779776" y="6135624"/>
            <a:ext cx="2468880" cy="173736"/>
          </a:xfrm>
          <a:prstGeom prst="rect">
            <a:avLst/>
          </a:prstGeom>
          <a:noFill/>
          <a:effectLst/>
        </p:spPr>
        <p:txBody>
          <a:bodyPr wrap="square" lIns="0" tIns="0" rIns="0" bIns="0" anchor="t">
            <a:spAutoFit/>
          </a:bodyPr>
          <a:lstStyle/>
          <a:p>
            <a:pPr algn="r">
              <a:lnSpc>
                <a:spcPct val="114000"/>
              </a:lnSpc>
              <a:spcBef>
                <a:spcPts val="0"/>
              </a:spcBef>
              <a:spcAft>
                <a:spcPts val="0"/>
              </a:spcAft>
            </a:pPr>
            <a:r>
              <a:rPr sz="950" b="0" spc="50" dirty="0">
                <a:solidFill>
                  <a:srgbClr val="FFFFFF"/>
                </a:solidFill>
                <a:latin typeface="Arial"/>
              </a:rPr>
              <a:t>CIKARANG, INDONESIA</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COMPANY</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Grafindo at a glance</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OEM automotive graphics • Established in 1994</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COMPANY</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02</a:t>
            </a:r>
          </a:p>
        </p:txBody>
      </p:sp>
      <p:sp>
        <p:nvSpPr>
          <p:cNvPr id="10" name="Rectangle 9"/>
          <p:cNvSpPr/>
          <p:nvPr/>
        </p:nvSpPr>
        <p:spPr>
          <a:xfrm>
            <a:off x="612648" y="2039112"/>
            <a:ext cx="2112264" cy="138074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612648" y="2039112"/>
            <a:ext cx="2112264" cy="32004"/>
          </a:xfrm>
          <a:prstGeom prst="rect">
            <a:avLst/>
          </a:prstGeom>
          <a:solidFill>
            <a:srgbClr val="244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777240" y="2313432"/>
            <a:ext cx="18288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700" b="1">
                <a:solidFill>
                  <a:srgbClr val="244CE5"/>
                </a:solidFill>
                <a:latin typeface="Arial"/>
              </a:rPr>
              <a:t>1994</a:t>
            </a:r>
          </a:p>
        </p:txBody>
      </p:sp>
      <p:sp>
        <p:nvSpPr>
          <p:cNvPr id="13" name="TextBox 12"/>
          <p:cNvSpPr txBox="1"/>
          <p:nvPr/>
        </p:nvSpPr>
        <p:spPr>
          <a:xfrm>
            <a:off x="777240" y="2962656"/>
            <a:ext cx="1828800" cy="246888"/>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0">
                <a:solidFill>
                  <a:srgbClr val="5D7083"/>
                </a:solidFill>
                <a:latin typeface="Arial"/>
              </a:rPr>
              <a:t>Established</a:t>
            </a:r>
          </a:p>
        </p:txBody>
      </p:sp>
      <p:sp>
        <p:nvSpPr>
          <p:cNvPr id="14" name="Rectangle 13"/>
          <p:cNvSpPr/>
          <p:nvPr/>
        </p:nvSpPr>
        <p:spPr>
          <a:xfrm>
            <a:off x="2898648" y="2039112"/>
            <a:ext cx="2112264" cy="138074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Rectangle 14"/>
          <p:cNvSpPr/>
          <p:nvPr/>
        </p:nvSpPr>
        <p:spPr>
          <a:xfrm>
            <a:off x="2898648" y="2039112"/>
            <a:ext cx="2112264" cy="32004"/>
          </a:xfrm>
          <a:prstGeom prst="rect">
            <a:avLst/>
          </a:prstGeom>
          <a:solidFill>
            <a:srgbClr val="244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3063240" y="2313432"/>
            <a:ext cx="18288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700" b="1">
                <a:solidFill>
                  <a:srgbClr val="244CE5"/>
                </a:solidFill>
                <a:latin typeface="Arial"/>
              </a:rPr>
              <a:t>250</a:t>
            </a:r>
          </a:p>
        </p:txBody>
      </p:sp>
      <p:sp>
        <p:nvSpPr>
          <p:cNvPr id="17" name="TextBox 16"/>
          <p:cNvSpPr txBox="1"/>
          <p:nvPr/>
        </p:nvSpPr>
        <p:spPr>
          <a:xfrm>
            <a:off x="3063240" y="2962656"/>
            <a:ext cx="1828800" cy="246888"/>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0">
                <a:solidFill>
                  <a:srgbClr val="5D7083"/>
                </a:solidFill>
                <a:latin typeface="Arial"/>
              </a:rPr>
              <a:t>Employees</a:t>
            </a:r>
          </a:p>
        </p:txBody>
      </p:sp>
      <p:sp>
        <p:nvSpPr>
          <p:cNvPr id="18" name="Rectangle 17"/>
          <p:cNvSpPr/>
          <p:nvPr/>
        </p:nvSpPr>
        <p:spPr>
          <a:xfrm>
            <a:off x="5184648" y="2039112"/>
            <a:ext cx="2112264" cy="138074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Rectangle 18"/>
          <p:cNvSpPr/>
          <p:nvPr/>
        </p:nvSpPr>
        <p:spPr>
          <a:xfrm>
            <a:off x="5184648" y="2039112"/>
            <a:ext cx="2112264" cy="32004"/>
          </a:xfrm>
          <a:prstGeom prst="rect">
            <a:avLst/>
          </a:prstGeom>
          <a:solidFill>
            <a:srgbClr val="244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5349240" y="2313432"/>
            <a:ext cx="18288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700" b="1">
                <a:solidFill>
                  <a:srgbClr val="244CE5"/>
                </a:solidFill>
                <a:latin typeface="Arial"/>
              </a:rPr>
              <a:t>100%</a:t>
            </a:r>
          </a:p>
        </p:txBody>
      </p:sp>
      <p:sp>
        <p:nvSpPr>
          <p:cNvPr id="21" name="TextBox 20"/>
          <p:cNvSpPr txBox="1"/>
          <p:nvPr/>
        </p:nvSpPr>
        <p:spPr>
          <a:xfrm>
            <a:off x="5349240" y="2962656"/>
            <a:ext cx="1828800" cy="246888"/>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0">
                <a:solidFill>
                  <a:srgbClr val="5D7083"/>
                </a:solidFill>
                <a:latin typeface="Arial"/>
              </a:rPr>
              <a:t>Local ownership</a:t>
            </a:r>
          </a:p>
        </p:txBody>
      </p:sp>
      <p:sp>
        <p:nvSpPr>
          <p:cNvPr id="22" name="TextBox 21"/>
          <p:cNvSpPr txBox="1"/>
          <p:nvPr/>
        </p:nvSpPr>
        <p:spPr>
          <a:xfrm>
            <a:off x="612648" y="3813048"/>
            <a:ext cx="329184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50" b="1" spc="125">
                <a:solidFill>
                  <a:srgbClr val="244CE5"/>
                </a:solidFill>
                <a:latin typeface="Arial"/>
              </a:rPr>
              <a:t>FACILITIES</a:t>
            </a:r>
          </a:p>
        </p:txBody>
      </p:sp>
      <p:cxnSp>
        <p:nvCxnSpPr>
          <p:cNvPr id="23" name="Connector 22"/>
          <p:cNvCxnSpPr/>
          <p:nvPr/>
        </p:nvCxnSpPr>
        <p:spPr>
          <a:xfrm>
            <a:off x="612648" y="4864607"/>
            <a:ext cx="3154680" cy="0"/>
          </a:xfrm>
          <a:prstGeom prst="line">
            <a:avLst/>
          </a:prstGeom>
          <a:ln w="889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612648" y="4206240"/>
            <a:ext cx="3063240"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200" b="0">
                <a:solidFill>
                  <a:srgbClr val="5D7083"/>
                </a:solidFill>
                <a:latin typeface="Arial"/>
              </a:rPr>
              <a:t>Land</a:t>
            </a:r>
          </a:p>
        </p:txBody>
      </p:sp>
      <p:sp>
        <p:nvSpPr>
          <p:cNvPr id="25" name="TextBox 24"/>
          <p:cNvSpPr txBox="1"/>
          <p:nvPr/>
        </p:nvSpPr>
        <p:spPr>
          <a:xfrm>
            <a:off x="612648" y="4453127"/>
            <a:ext cx="3108960" cy="347472"/>
          </a:xfrm>
          <a:prstGeom prst="rect">
            <a:avLst/>
          </a:prstGeom>
          <a:noFill/>
          <a:effectLst/>
        </p:spPr>
        <p:txBody>
          <a:bodyPr wrap="square" lIns="0" tIns="0" rIns="0" bIns="0" anchor="t">
            <a:spAutoFit/>
          </a:bodyPr>
          <a:lstStyle/>
          <a:p>
            <a:pPr algn="l">
              <a:lnSpc>
                <a:spcPct val="114000"/>
              </a:lnSpc>
              <a:spcBef>
                <a:spcPts val="0"/>
              </a:spcBef>
              <a:spcAft>
                <a:spcPts val="0"/>
              </a:spcAft>
            </a:pPr>
            <a:r>
              <a:rPr sz="2300" b="1">
                <a:solidFill>
                  <a:srgbClr val="192E43"/>
                </a:solidFill>
                <a:latin typeface="Arial"/>
              </a:rPr>
              <a:t>4,130 m²</a:t>
            </a:r>
          </a:p>
        </p:txBody>
      </p:sp>
      <p:cxnSp>
        <p:nvCxnSpPr>
          <p:cNvPr id="26" name="Connector 25"/>
          <p:cNvCxnSpPr/>
          <p:nvPr/>
        </p:nvCxnSpPr>
        <p:spPr>
          <a:xfrm>
            <a:off x="4041648" y="4864607"/>
            <a:ext cx="3154680" cy="0"/>
          </a:xfrm>
          <a:prstGeom prst="line">
            <a:avLst/>
          </a:prstGeom>
          <a:ln w="889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4041648" y="4206240"/>
            <a:ext cx="3063240"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200" b="0">
                <a:solidFill>
                  <a:srgbClr val="5D7083"/>
                </a:solidFill>
                <a:latin typeface="Arial"/>
              </a:rPr>
              <a:t>Office</a:t>
            </a:r>
          </a:p>
        </p:txBody>
      </p:sp>
      <p:sp>
        <p:nvSpPr>
          <p:cNvPr id="28" name="TextBox 27"/>
          <p:cNvSpPr txBox="1"/>
          <p:nvPr/>
        </p:nvSpPr>
        <p:spPr>
          <a:xfrm>
            <a:off x="4041648" y="4453127"/>
            <a:ext cx="3108960" cy="347472"/>
          </a:xfrm>
          <a:prstGeom prst="rect">
            <a:avLst/>
          </a:prstGeom>
          <a:noFill/>
          <a:effectLst/>
        </p:spPr>
        <p:txBody>
          <a:bodyPr wrap="square" lIns="0" tIns="0" rIns="0" bIns="0" anchor="t">
            <a:spAutoFit/>
          </a:bodyPr>
          <a:lstStyle/>
          <a:p>
            <a:pPr algn="l">
              <a:lnSpc>
                <a:spcPct val="114000"/>
              </a:lnSpc>
              <a:spcBef>
                <a:spcPts val="0"/>
              </a:spcBef>
              <a:spcAft>
                <a:spcPts val="0"/>
              </a:spcAft>
            </a:pPr>
            <a:r>
              <a:rPr sz="2300" b="1">
                <a:solidFill>
                  <a:srgbClr val="192E43"/>
                </a:solidFill>
                <a:latin typeface="Arial"/>
              </a:rPr>
              <a:t>820 m²</a:t>
            </a:r>
          </a:p>
        </p:txBody>
      </p:sp>
      <p:cxnSp>
        <p:nvCxnSpPr>
          <p:cNvPr id="29" name="Connector 28"/>
          <p:cNvCxnSpPr/>
          <p:nvPr/>
        </p:nvCxnSpPr>
        <p:spPr>
          <a:xfrm>
            <a:off x="612648" y="5779007"/>
            <a:ext cx="3154680" cy="0"/>
          </a:xfrm>
          <a:prstGeom prst="line">
            <a:avLst/>
          </a:prstGeom>
          <a:ln w="889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612648" y="5120640"/>
            <a:ext cx="3063240"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200" b="0">
                <a:solidFill>
                  <a:srgbClr val="5D7083"/>
                </a:solidFill>
                <a:latin typeface="Arial"/>
              </a:rPr>
              <a:t>Factory 1</a:t>
            </a:r>
          </a:p>
        </p:txBody>
      </p:sp>
      <p:sp>
        <p:nvSpPr>
          <p:cNvPr id="31" name="TextBox 30"/>
          <p:cNvSpPr txBox="1"/>
          <p:nvPr/>
        </p:nvSpPr>
        <p:spPr>
          <a:xfrm>
            <a:off x="612648" y="5367527"/>
            <a:ext cx="3108960" cy="347472"/>
          </a:xfrm>
          <a:prstGeom prst="rect">
            <a:avLst/>
          </a:prstGeom>
          <a:noFill/>
          <a:effectLst/>
        </p:spPr>
        <p:txBody>
          <a:bodyPr wrap="square" lIns="0" tIns="0" rIns="0" bIns="0" anchor="t">
            <a:spAutoFit/>
          </a:bodyPr>
          <a:lstStyle/>
          <a:p>
            <a:pPr algn="l">
              <a:lnSpc>
                <a:spcPct val="114000"/>
              </a:lnSpc>
              <a:spcBef>
                <a:spcPts val="0"/>
              </a:spcBef>
              <a:spcAft>
                <a:spcPts val="0"/>
              </a:spcAft>
            </a:pPr>
            <a:r>
              <a:rPr sz="2300" b="1">
                <a:solidFill>
                  <a:srgbClr val="192E43"/>
                </a:solidFill>
                <a:latin typeface="Arial"/>
              </a:rPr>
              <a:t>2,828 m²</a:t>
            </a:r>
          </a:p>
        </p:txBody>
      </p:sp>
      <p:cxnSp>
        <p:nvCxnSpPr>
          <p:cNvPr id="32" name="Connector 31"/>
          <p:cNvCxnSpPr/>
          <p:nvPr/>
        </p:nvCxnSpPr>
        <p:spPr>
          <a:xfrm>
            <a:off x="4041648" y="5779007"/>
            <a:ext cx="3154680" cy="0"/>
          </a:xfrm>
          <a:prstGeom prst="line">
            <a:avLst/>
          </a:prstGeom>
          <a:ln w="889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4041648" y="5120640"/>
            <a:ext cx="3063240"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200" b="0">
                <a:solidFill>
                  <a:srgbClr val="5D7083"/>
                </a:solidFill>
                <a:latin typeface="Arial"/>
              </a:rPr>
              <a:t>Factory 2</a:t>
            </a:r>
          </a:p>
        </p:txBody>
      </p:sp>
      <p:sp>
        <p:nvSpPr>
          <p:cNvPr id="34" name="TextBox 33"/>
          <p:cNvSpPr txBox="1"/>
          <p:nvPr/>
        </p:nvSpPr>
        <p:spPr>
          <a:xfrm>
            <a:off x="4041648" y="5367527"/>
            <a:ext cx="3108960" cy="347472"/>
          </a:xfrm>
          <a:prstGeom prst="rect">
            <a:avLst/>
          </a:prstGeom>
          <a:noFill/>
          <a:effectLst/>
        </p:spPr>
        <p:txBody>
          <a:bodyPr wrap="square" lIns="0" tIns="0" rIns="0" bIns="0" anchor="t">
            <a:spAutoFit/>
          </a:bodyPr>
          <a:lstStyle/>
          <a:p>
            <a:pPr algn="l">
              <a:lnSpc>
                <a:spcPct val="114000"/>
              </a:lnSpc>
              <a:spcBef>
                <a:spcPts val="0"/>
              </a:spcBef>
              <a:spcAft>
                <a:spcPts val="0"/>
              </a:spcAft>
            </a:pPr>
            <a:r>
              <a:rPr sz="2300" b="1">
                <a:solidFill>
                  <a:srgbClr val="192E43"/>
                </a:solidFill>
                <a:latin typeface="Arial"/>
              </a:rPr>
              <a:t>1,000 m²</a:t>
            </a:r>
          </a:p>
        </p:txBody>
      </p:sp>
      <p:pic>
        <p:nvPicPr>
          <p:cNvPr id="35" name="Picture 34" descr="image2.jpg"/>
          <p:cNvPicPr>
            <a:picLocks noChangeAspect="1"/>
          </p:cNvPicPr>
          <p:nvPr/>
        </p:nvPicPr>
        <p:blipFill>
          <a:blip r:embed="rId4"/>
          <a:srcRect l="18646" r="18646"/>
          <a:stretch>
            <a:fillRect/>
          </a:stretch>
        </p:blipFill>
        <p:spPr>
          <a:xfrm>
            <a:off x="7644383" y="2039112"/>
            <a:ext cx="3941063" cy="2724912"/>
          </a:xfrm>
          <a:prstGeom prst="rect">
            <a:avLst/>
          </a:prstGeom>
          <a:effectLst/>
        </p:spPr>
      </p:pic>
      <p:sp>
        <p:nvSpPr>
          <p:cNvPr id="36" name="Rectangle 35"/>
          <p:cNvSpPr/>
          <p:nvPr/>
        </p:nvSpPr>
        <p:spPr>
          <a:xfrm>
            <a:off x="7644383" y="4764024"/>
            <a:ext cx="3941063" cy="1271016"/>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TextBox 36"/>
          <p:cNvSpPr txBox="1"/>
          <p:nvPr/>
        </p:nvSpPr>
        <p:spPr>
          <a:xfrm>
            <a:off x="7900416" y="4992624"/>
            <a:ext cx="3401568"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950" b="1" spc="130">
                <a:solidFill>
                  <a:srgbClr val="48D0DF"/>
                </a:solidFill>
                <a:latin typeface="Arial"/>
              </a:rPr>
              <a:t>BUSINESS LINE</a:t>
            </a:r>
          </a:p>
        </p:txBody>
      </p:sp>
      <p:sp>
        <p:nvSpPr>
          <p:cNvPr id="38" name="TextBox 37"/>
          <p:cNvSpPr txBox="1"/>
          <p:nvPr/>
        </p:nvSpPr>
        <p:spPr>
          <a:xfrm>
            <a:off x="7882127" y="5285232"/>
            <a:ext cx="3447288" cy="658368"/>
          </a:xfrm>
          <a:prstGeom prst="rect">
            <a:avLst/>
          </a:prstGeom>
          <a:noFill/>
          <a:effectLst/>
        </p:spPr>
        <p:txBody>
          <a:bodyPr wrap="square" lIns="0" tIns="0" rIns="0" bIns="0" anchor="t">
            <a:spAutoFit/>
          </a:bodyPr>
          <a:lstStyle/>
          <a:p>
            <a:pPr algn="l">
              <a:lnSpc>
                <a:spcPct val="110000"/>
              </a:lnSpc>
              <a:spcBef>
                <a:spcPts val="0"/>
              </a:spcBef>
              <a:spcAft>
                <a:spcPts val="0"/>
              </a:spcAft>
            </a:pPr>
            <a:r>
              <a:rPr sz="2000" b="1">
                <a:solidFill>
                  <a:srgbClr val="FFFFFF"/>
                </a:solidFill>
                <a:latin typeface="Arial"/>
              </a:rPr>
              <a:t>OEM automotive</a:t>
            </a:r>
          </a:p>
          <a:p>
            <a:pPr algn="l">
              <a:lnSpc>
                <a:spcPct val="110000"/>
              </a:lnSpc>
              <a:spcBef>
                <a:spcPts val="0"/>
              </a:spcBef>
              <a:spcAft>
                <a:spcPts val="0"/>
              </a:spcAft>
            </a:pPr>
            <a:r>
              <a:rPr sz="2000" b="1">
                <a:solidFill>
                  <a:srgbClr val="FFFFFF"/>
                </a:solidFill>
                <a:latin typeface="Arial"/>
              </a:rPr>
              <a:t>graphics</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FACILITIES</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U8C/D · Floor 1</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Production facility</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FACILITIES</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03</a:t>
            </a:r>
          </a:p>
        </p:txBody>
      </p:sp>
      <p:sp>
        <p:nvSpPr>
          <p:cNvPr id="10" name="Rectangle 9"/>
          <p:cNvSpPr/>
          <p:nvPr/>
        </p:nvSpPr>
        <p:spPr>
          <a:xfrm>
            <a:off x="603504" y="2029968"/>
            <a:ext cx="6656832" cy="4114800"/>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1" name="Picture 10" descr="image4.png"/>
          <p:cNvPicPr>
            <a:picLocks noChangeAspect="1"/>
          </p:cNvPicPr>
          <p:nvPr/>
        </p:nvPicPr>
        <p:blipFill>
          <a:blip r:embed="rId4"/>
          <a:stretch>
            <a:fillRect/>
          </a:stretch>
        </p:blipFill>
        <p:spPr>
          <a:xfrm>
            <a:off x="1411762" y="2075688"/>
            <a:ext cx="5040314" cy="4023360"/>
          </a:xfrm>
          <a:prstGeom prst="rect">
            <a:avLst/>
          </a:prstGeom>
          <a:effectLst/>
        </p:spPr>
      </p:pic>
      <p:sp>
        <p:nvSpPr>
          <p:cNvPr id="12" name="TextBox 11"/>
          <p:cNvSpPr txBox="1"/>
          <p:nvPr/>
        </p:nvSpPr>
        <p:spPr>
          <a:xfrm>
            <a:off x="7699248" y="2066543"/>
            <a:ext cx="3749039"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25">
                <a:solidFill>
                  <a:srgbClr val="244CE5"/>
                </a:solidFill>
                <a:latin typeface="Arial"/>
              </a:rPr>
              <a:t>FUNCTIONAL AREAS</a:t>
            </a:r>
          </a:p>
        </p:txBody>
      </p:sp>
      <p:sp>
        <p:nvSpPr>
          <p:cNvPr id="13" name="TextBox 12"/>
          <p:cNvSpPr txBox="1"/>
          <p:nvPr/>
        </p:nvSpPr>
        <p:spPr>
          <a:xfrm>
            <a:off x="7680960" y="2615184"/>
            <a:ext cx="402336" cy="237744"/>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1">
                <a:solidFill>
                  <a:srgbClr val="244CE5"/>
                </a:solidFill>
                <a:latin typeface="Arial"/>
              </a:rPr>
              <a:t>01</a:t>
            </a:r>
          </a:p>
        </p:txBody>
      </p:sp>
      <p:sp>
        <p:nvSpPr>
          <p:cNvPr id="14" name="TextBox 13"/>
          <p:cNvSpPr txBox="1"/>
          <p:nvPr/>
        </p:nvSpPr>
        <p:spPr>
          <a:xfrm>
            <a:off x="8275320" y="2596896"/>
            <a:ext cx="2971800" cy="274320"/>
          </a:xfrm>
          <a:prstGeom prst="rect">
            <a:avLst/>
          </a:prstGeom>
          <a:noFill/>
          <a:effectLst/>
        </p:spPr>
        <p:txBody>
          <a:bodyPr wrap="square" lIns="0" tIns="0" rIns="0" bIns="0" anchor="t">
            <a:spAutoFit/>
          </a:bodyPr>
          <a:lstStyle/>
          <a:p>
            <a:pPr algn="l">
              <a:lnSpc>
                <a:spcPct val="114000"/>
              </a:lnSpc>
              <a:spcBef>
                <a:spcPts val="0"/>
              </a:spcBef>
              <a:spcAft>
                <a:spcPts val="0"/>
              </a:spcAft>
            </a:pPr>
            <a:r>
              <a:rPr sz="1700" b="1">
                <a:solidFill>
                  <a:srgbClr val="192E43"/>
                </a:solidFill>
                <a:latin typeface="Arial"/>
              </a:rPr>
              <a:t>Printing</a:t>
            </a:r>
          </a:p>
        </p:txBody>
      </p:sp>
      <p:sp>
        <p:nvSpPr>
          <p:cNvPr id="15" name="TextBox 14"/>
          <p:cNvSpPr txBox="1"/>
          <p:nvPr/>
        </p:nvSpPr>
        <p:spPr>
          <a:xfrm>
            <a:off x="8275320" y="2944368"/>
            <a:ext cx="3108960" cy="365760"/>
          </a:xfrm>
          <a:prstGeom prst="rect">
            <a:avLst/>
          </a:prstGeom>
          <a:noFill/>
          <a:effectLst/>
        </p:spPr>
        <p:txBody>
          <a:bodyPr wrap="square" lIns="0" tIns="0" rIns="0" bIns="0" anchor="t">
            <a:spAutoFit/>
          </a:bodyPr>
          <a:lstStyle/>
          <a:p>
            <a:pPr algn="l">
              <a:lnSpc>
                <a:spcPct val="114000"/>
              </a:lnSpc>
              <a:spcBef>
                <a:spcPts val="0"/>
              </a:spcBef>
              <a:spcAft>
                <a:spcPts val="0"/>
              </a:spcAft>
            </a:pPr>
            <a:r>
              <a:rPr sz="1200" b="0">
                <a:solidFill>
                  <a:srgbClr val="5D7083"/>
                </a:solidFill>
                <a:latin typeface="Arial"/>
              </a:rPr>
              <a:t>Full automatic printing areas</a:t>
            </a:r>
          </a:p>
        </p:txBody>
      </p:sp>
      <p:cxnSp>
        <p:nvCxnSpPr>
          <p:cNvPr id="16" name="Connector 15"/>
          <p:cNvCxnSpPr/>
          <p:nvPr/>
        </p:nvCxnSpPr>
        <p:spPr>
          <a:xfrm>
            <a:off x="8275320" y="3273552"/>
            <a:ext cx="3282696"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680960" y="3429000"/>
            <a:ext cx="402336" cy="237744"/>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1">
                <a:solidFill>
                  <a:srgbClr val="244CE5"/>
                </a:solidFill>
                <a:latin typeface="Arial"/>
              </a:rPr>
              <a:t>02</a:t>
            </a:r>
          </a:p>
        </p:txBody>
      </p:sp>
      <p:sp>
        <p:nvSpPr>
          <p:cNvPr id="18" name="TextBox 17"/>
          <p:cNvSpPr txBox="1"/>
          <p:nvPr/>
        </p:nvSpPr>
        <p:spPr>
          <a:xfrm>
            <a:off x="8275320" y="3410712"/>
            <a:ext cx="2971800" cy="274320"/>
          </a:xfrm>
          <a:prstGeom prst="rect">
            <a:avLst/>
          </a:prstGeom>
          <a:noFill/>
          <a:effectLst/>
        </p:spPr>
        <p:txBody>
          <a:bodyPr wrap="square" lIns="0" tIns="0" rIns="0" bIns="0" anchor="t">
            <a:spAutoFit/>
          </a:bodyPr>
          <a:lstStyle/>
          <a:p>
            <a:pPr algn="l">
              <a:lnSpc>
                <a:spcPct val="114000"/>
              </a:lnSpc>
              <a:spcBef>
                <a:spcPts val="0"/>
              </a:spcBef>
              <a:spcAft>
                <a:spcPts val="0"/>
              </a:spcAft>
            </a:pPr>
            <a:r>
              <a:rPr sz="1700" b="1">
                <a:solidFill>
                  <a:srgbClr val="192E43"/>
                </a:solidFill>
                <a:latin typeface="Arial"/>
              </a:rPr>
              <a:t>Quality control</a:t>
            </a:r>
          </a:p>
        </p:txBody>
      </p:sp>
      <p:sp>
        <p:nvSpPr>
          <p:cNvPr id="19" name="TextBox 18"/>
          <p:cNvSpPr txBox="1"/>
          <p:nvPr/>
        </p:nvSpPr>
        <p:spPr>
          <a:xfrm>
            <a:off x="8275320" y="3758184"/>
            <a:ext cx="3108960" cy="365760"/>
          </a:xfrm>
          <a:prstGeom prst="rect">
            <a:avLst/>
          </a:prstGeom>
          <a:noFill/>
          <a:effectLst/>
        </p:spPr>
        <p:txBody>
          <a:bodyPr wrap="square" lIns="0" tIns="0" rIns="0" bIns="0" anchor="t">
            <a:spAutoFit/>
          </a:bodyPr>
          <a:lstStyle/>
          <a:p>
            <a:pPr algn="l">
              <a:lnSpc>
                <a:spcPct val="114000"/>
              </a:lnSpc>
              <a:spcBef>
                <a:spcPts val="0"/>
              </a:spcBef>
              <a:spcAft>
                <a:spcPts val="0"/>
              </a:spcAft>
            </a:pPr>
            <a:r>
              <a:rPr sz="1200" b="0">
                <a:solidFill>
                  <a:srgbClr val="5D7083"/>
                </a:solidFill>
                <a:latin typeface="Arial"/>
              </a:rPr>
              <a:t>QC line and inspection zones</a:t>
            </a:r>
          </a:p>
        </p:txBody>
      </p:sp>
      <p:cxnSp>
        <p:nvCxnSpPr>
          <p:cNvPr id="20" name="Connector 19"/>
          <p:cNvCxnSpPr/>
          <p:nvPr/>
        </p:nvCxnSpPr>
        <p:spPr>
          <a:xfrm>
            <a:off x="8275320" y="4087368"/>
            <a:ext cx="3282696"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7680960" y="4242816"/>
            <a:ext cx="402336" cy="237744"/>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1">
                <a:solidFill>
                  <a:srgbClr val="244CE5"/>
                </a:solidFill>
                <a:latin typeface="Arial"/>
              </a:rPr>
              <a:t>03</a:t>
            </a:r>
          </a:p>
        </p:txBody>
      </p:sp>
      <p:sp>
        <p:nvSpPr>
          <p:cNvPr id="22" name="TextBox 21"/>
          <p:cNvSpPr txBox="1"/>
          <p:nvPr/>
        </p:nvSpPr>
        <p:spPr>
          <a:xfrm>
            <a:off x="8275320" y="4224528"/>
            <a:ext cx="2971800" cy="274320"/>
          </a:xfrm>
          <a:prstGeom prst="rect">
            <a:avLst/>
          </a:prstGeom>
          <a:noFill/>
          <a:effectLst/>
        </p:spPr>
        <p:txBody>
          <a:bodyPr wrap="square" lIns="0" tIns="0" rIns="0" bIns="0" anchor="t">
            <a:spAutoFit/>
          </a:bodyPr>
          <a:lstStyle/>
          <a:p>
            <a:pPr algn="l">
              <a:lnSpc>
                <a:spcPct val="114000"/>
              </a:lnSpc>
              <a:spcBef>
                <a:spcPts val="0"/>
              </a:spcBef>
              <a:spcAft>
                <a:spcPts val="0"/>
              </a:spcAft>
            </a:pPr>
            <a:r>
              <a:rPr sz="1700" b="1">
                <a:solidFill>
                  <a:srgbClr val="192E43"/>
                </a:solidFill>
                <a:latin typeface="Arial"/>
              </a:rPr>
              <a:t>Dome &amp; GSE</a:t>
            </a:r>
          </a:p>
        </p:txBody>
      </p:sp>
      <p:sp>
        <p:nvSpPr>
          <p:cNvPr id="23" name="TextBox 22"/>
          <p:cNvSpPr txBox="1"/>
          <p:nvPr/>
        </p:nvSpPr>
        <p:spPr>
          <a:xfrm>
            <a:off x="8275320" y="4572000"/>
            <a:ext cx="3108960" cy="365760"/>
          </a:xfrm>
          <a:prstGeom prst="rect">
            <a:avLst/>
          </a:prstGeom>
          <a:noFill/>
          <a:effectLst/>
        </p:spPr>
        <p:txBody>
          <a:bodyPr wrap="square" lIns="0" tIns="0" rIns="0" bIns="0" anchor="t">
            <a:spAutoFit/>
          </a:bodyPr>
          <a:lstStyle/>
          <a:p>
            <a:pPr algn="l">
              <a:lnSpc>
                <a:spcPct val="114000"/>
              </a:lnSpc>
              <a:spcBef>
                <a:spcPts val="0"/>
              </a:spcBef>
              <a:spcAft>
                <a:spcPts val="0"/>
              </a:spcAft>
            </a:pPr>
            <a:r>
              <a:rPr sz="1200" b="0">
                <a:solidFill>
                  <a:srgbClr val="5D7083"/>
                </a:solidFill>
                <a:latin typeface="Arial"/>
              </a:rPr>
              <a:t>Dedicated production areas</a:t>
            </a:r>
          </a:p>
        </p:txBody>
      </p:sp>
      <p:cxnSp>
        <p:nvCxnSpPr>
          <p:cNvPr id="24" name="Connector 23"/>
          <p:cNvCxnSpPr/>
          <p:nvPr/>
        </p:nvCxnSpPr>
        <p:spPr>
          <a:xfrm>
            <a:off x="8275320" y="4901183"/>
            <a:ext cx="3282696"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7680960" y="5056631"/>
            <a:ext cx="402336" cy="237744"/>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1">
                <a:solidFill>
                  <a:srgbClr val="244CE5"/>
                </a:solidFill>
                <a:latin typeface="Arial"/>
              </a:rPr>
              <a:t>04</a:t>
            </a:r>
          </a:p>
        </p:txBody>
      </p:sp>
      <p:sp>
        <p:nvSpPr>
          <p:cNvPr id="26" name="TextBox 25"/>
          <p:cNvSpPr txBox="1"/>
          <p:nvPr/>
        </p:nvSpPr>
        <p:spPr>
          <a:xfrm>
            <a:off x="8275320" y="5038344"/>
            <a:ext cx="2971800" cy="274320"/>
          </a:xfrm>
          <a:prstGeom prst="rect">
            <a:avLst/>
          </a:prstGeom>
          <a:noFill/>
          <a:effectLst/>
        </p:spPr>
        <p:txBody>
          <a:bodyPr wrap="square" lIns="0" tIns="0" rIns="0" bIns="0" anchor="t">
            <a:spAutoFit/>
          </a:bodyPr>
          <a:lstStyle/>
          <a:p>
            <a:pPr algn="l">
              <a:lnSpc>
                <a:spcPct val="114000"/>
              </a:lnSpc>
              <a:spcBef>
                <a:spcPts val="0"/>
              </a:spcBef>
              <a:spcAft>
                <a:spcPts val="0"/>
              </a:spcAft>
            </a:pPr>
            <a:r>
              <a:rPr sz="1700" b="1">
                <a:solidFill>
                  <a:srgbClr val="192E43"/>
                </a:solidFill>
                <a:latin typeface="Arial"/>
              </a:rPr>
              <a:t>Ink mixing</a:t>
            </a:r>
          </a:p>
        </p:txBody>
      </p:sp>
      <p:sp>
        <p:nvSpPr>
          <p:cNvPr id="27" name="TextBox 26"/>
          <p:cNvSpPr txBox="1"/>
          <p:nvPr/>
        </p:nvSpPr>
        <p:spPr>
          <a:xfrm>
            <a:off x="8275320" y="5385816"/>
            <a:ext cx="3108960" cy="365760"/>
          </a:xfrm>
          <a:prstGeom prst="rect">
            <a:avLst/>
          </a:prstGeom>
          <a:noFill/>
          <a:effectLst/>
        </p:spPr>
        <p:txBody>
          <a:bodyPr wrap="square" lIns="0" tIns="0" rIns="0" bIns="0" anchor="t">
            <a:spAutoFit/>
          </a:bodyPr>
          <a:lstStyle/>
          <a:p>
            <a:pPr algn="l">
              <a:lnSpc>
                <a:spcPct val="114000"/>
              </a:lnSpc>
              <a:spcBef>
                <a:spcPts val="0"/>
              </a:spcBef>
              <a:spcAft>
                <a:spcPts val="0"/>
              </a:spcAft>
            </a:pPr>
            <a:r>
              <a:rPr sz="1200" b="0">
                <a:solidFill>
                  <a:srgbClr val="5D7083"/>
                </a:solidFill>
                <a:latin typeface="Arial"/>
              </a:rPr>
              <a:t>Material preparation area</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FACILITIES</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U8C/D · Floor 2</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Development, testing &amp; offices</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FACILITIES</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04</a:t>
            </a:r>
          </a:p>
        </p:txBody>
      </p:sp>
      <p:sp>
        <p:nvSpPr>
          <p:cNvPr id="10" name="Rectangle 9"/>
          <p:cNvSpPr/>
          <p:nvPr/>
        </p:nvSpPr>
        <p:spPr>
          <a:xfrm>
            <a:off x="603504" y="2029968"/>
            <a:ext cx="6656832" cy="4114800"/>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1" name="Picture 10" descr="image5.png"/>
          <p:cNvPicPr>
            <a:picLocks noChangeAspect="1"/>
          </p:cNvPicPr>
          <p:nvPr/>
        </p:nvPicPr>
        <p:blipFill>
          <a:blip r:embed="rId4"/>
          <a:stretch>
            <a:fillRect/>
          </a:stretch>
        </p:blipFill>
        <p:spPr>
          <a:xfrm>
            <a:off x="1971947" y="2075688"/>
            <a:ext cx="3919944" cy="4023360"/>
          </a:xfrm>
          <a:prstGeom prst="rect">
            <a:avLst/>
          </a:prstGeom>
          <a:effectLst/>
        </p:spPr>
      </p:pic>
      <p:sp>
        <p:nvSpPr>
          <p:cNvPr id="12" name="TextBox 11"/>
          <p:cNvSpPr txBox="1"/>
          <p:nvPr/>
        </p:nvSpPr>
        <p:spPr>
          <a:xfrm>
            <a:off x="7699248" y="2066543"/>
            <a:ext cx="3749039"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25">
                <a:solidFill>
                  <a:srgbClr val="244CE5"/>
                </a:solidFill>
                <a:latin typeface="Arial"/>
              </a:rPr>
              <a:t>FUNCTIONAL AREAS</a:t>
            </a:r>
          </a:p>
        </p:txBody>
      </p:sp>
      <p:sp>
        <p:nvSpPr>
          <p:cNvPr id="13" name="TextBox 12"/>
          <p:cNvSpPr txBox="1"/>
          <p:nvPr/>
        </p:nvSpPr>
        <p:spPr>
          <a:xfrm>
            <a:off x="7680960" y="2615184"/>
            <a:ext cx="402336" cy="237744"/>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1">
                <a:solidFill>
                  <a:srgbClr val="244CE5"/>
                </a:solidFill>
                <a:latin typeface="Arial"/>
              </a:rPr>
              <a:t>01</a:t>
            </a:r>
          </a:p>
        </p:txBody>
      </p:sp>
      <p:sp>
        <p:nvSpPr>
          <p:cNvPr id="14" name="TextBox 13"/>
          <p:cNvSpPr txBox="1"/>
          <p:nvPr/>
        </p:nvSpPr>
        <p:spPr>
          <a:xfrm>
            <a:off x="8275320" y="2596896"/>
            <a:ext cx="2971800" cy="274320"/>
          </a:xfrm>
          <a:prstGeom prst="rect">
            <a:avLst/>
          </a:prstGeom>
          <a:noFill/>
          <a:effectLst/>
        </p:spPr>
        <p:txBody>
          <a:bodyPr wrap="square" lIns="0" tIns="0" rIns="0" bIns="0" anchor="t">
            <a:spAutoFit/>
          </a:bodyPr>
          <a:lstStyle/>
          <a:p>
            <a:pPr algn="l">
              <a:lnSpc>
                <a:spcPct val="114000"/>
              </a:lnSpc>
              <a:spcBef>
                <a:spcPts val="0"/>
              </a:spcBef>
              <a:spcAft>
                <a:spcPts val="0"/>
              </a:spcAft>
            </a:pPr>
            <a:r>
              <a:rPr sz="1700" b="1">
                <a:solidFill>
                  <a:srgbClr val="192E43"/>
                </a:solidFill>
                <a:latin typeface="Arial"/>
              </a:rPr>
              <a:t>Design &amp; artwork</a:t>
            </a:r>
          </a:p>
        </p:txBody>
      </p:sp>
      <p:sp>
        <p:nvSpPr>
          <p:cNvPr id="15" name="TextBox 14"/>
          <p:cNvSpPr txBox="1"/>
          <p:nvPr/>
        </p:nvSpPr>
        <p:spPr>
          <a:xfrm>
            <a:off x="8275320" y="2944368"/>
            <a:ext cx="3108960" cy="365760"/>
          </a:xfrm>
          <a:prstGeom prst="rect">
            <a:avLst/>
          </a:prstGeom>
          <a:noFill/>
          <a:effectLst/>
        </p:spPr>
        <p:txBody>
          <a:bodyPr wrap="square" lIns="0" tIns="0" rIns="0" bIns="0" anchor="t">
            <a:spAutoFit/>
          </a:bodyPr>
          <a:lstStyle/>
          <a:p>
            <a:pPr algn="l">
              <a:lnSpc>
                <a:spcPct val="114000"/>
              </a:lnSpc>
              <a:spcBef>
                <a:spcPts val="0"/>
              </a:spcBef>
              <a:spcAft>
                <a:spcPts val="0"/>
              </a:spcAft>
            </a:pPr>
            <a:r>
              <a:rPr sz="1200" b="0">
                <a:solidFill>
                  <a:srgbClr val="5D7083"/>
                </a:solidFill>
                <a:latin typeface="Arial"/>
              </a:rPr>
              <a:t>Design, film and screen preparation</a:t>
            </a:r>
          </a:p>
        </p:txBody>
      </p:sp>
      <p:cxnSp>
        <p:nvCxnSpPr>
          <p:cNvPr id="16" name="Connector 15"/>
          <p:cNvCxnSpPr/>
          <p:nvPr/>
        </p:nvCxnSpPr>
        <p:spPr>
          <a:xfrm>
            <a:off x="8275320" y="3273552"/>
            <a:ext cx="3282696"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680960" y="3429000"/>
            <a:ext cx="402336" cy="237744"/>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1">
                <a:solidFill>
                  <a:srgbClr val="244CE5"/>
                </a:solidFill>
                <a:latin typeface="Arial"/>
              </a:rPr>
              <a:t>02</a:t>
            </a:r>
          </a:p>
        </p:txBody>
      </p:sp>
      <p:sp>
        <p:nvSpPr>
          <p:cNvPr id="18" name="TextBox 17"/>
          <p:cNvSpPr txBox="1"/>
          <p:nvPr/>
        </p:nvSpPr>
        <p:spPr>
          <a:xfrm>
            <a:off x="8275320" y="3410712"/>
            <a:ext cx="2971800" cy="274320"/>
          </a:xfrm>
          <a:prstGeom prst="rect">
            <a:avLst/>
          </a:prstGeom>
          <a:noFill/>
          <a:effectLst/>
        </p:spPr>
        <p:txBody>
          <a:bodyPr wrap="square" lIns="0" tIns="0" rIns="0" bIns="0" anchor="t">
            <a:spAutoFit/>
          </a:bodyPr>
          <a:lstStyle/>
          <a:p>
            <a:pPr algn="l">
              <a:lnSpc>
                <a:spcPct val="114000"/>
              </a:lnSpc>
              <a:spcBef>
                <a:spcPts val="0"/>
              </a:spcBef>
              <a:spcAft>
                <a:spcPts val="0"/>
              </a:spcAft>
            </a:pPr>
            <a:r>
              <a:rPr sz="1700" b="1">
                <a:solidFill>
                  <a:srgbClr val="192E43"/>
                </a:solidFill>
                <a:latin typeface="Arial"/>
              </a:rPr>
              <a:t>Sample development</a:t>
            </a:r>
          </a:p>
        </p:txBody>
      </p:sp>
      <p:sp>
        <p:nvSpPr>
          <p:cNvPr id="19" name="TextBox 18"/>
          <p:cNvSpPr txBox="1"/>
          <p:nvPr/>
        </p:nvSpPr>
        <p:spPr>
          <a:xfrm>
            <a:off x="8275320" y="3758184"/>
            <a:ext cx="3108960" cy="365760"/>
          </a:xfrm>
          <a:prstGeom prst="rect">
            <a:avLst/>
          </a:prstGeom>
          <a:noFill/>
          <a:effectLst/>
        </p:spPr>
        <p:txBody>
          <a:bodyPr wrap="square" lIns="0" tIns="0" rIns="0" bIns="0" anchor="t">
            <a:spAutoFit/>
          </a:bodyPr>
          <a:lstStyle/>
          <a:p>
            <a:pPr algn="l">
              <a:lnSpc>
                <a:spcPct val="114000"/>
              </a:lnSpc>
              <a:spcBef>
                <a:spcPts val="0"/>
              </a:spcBef>
              <a:spcAft>
                <a:spcPts val="0"/>
              </a:spcAft>
            </a:pPr>
            <a:r>
              <a:rPr sz="1200" b="0">
                <a:solidFill>
                  <a:srgbClr val="5D7083"/>
                </a:solidFill>
                <a:latin typeface="Arial"/>
              </a:rPr>
              <a:t>Customer sample areas</a:t>
            </a:r>
          </a:p>
        </p:txBody>
      </p:sp>
      <p:cxnSp>
        <p:nvCxnSpPr>
          <p:cNvPr id="20" name="Connector 19"/>
          <p:cNvCxnSpPr/>
          <p:nvPr/>
        </p:nvCxnSpPr>
        <p:spPr>
          <a:xfrm>
            <a:off x="8275320" y="4087368"/>
            <a:ext cx="3282696"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7680960" y="4242816"/>
            <a:ext cx="402336" cy="237744"/>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1">
                <a:solidFill>
                  <a:srgbClr val="244CE5"/>
                </a:solidFill>
                <a:latin typeface="Arial"/>
              </a:rPr>
              <a:t>03</a:t>
            </a:r>
          </a:p>
        </p:txBody>
      </p:sp>
      <p:sp>
        <p:nvSpPr>
          <p:cNvPr id="22" name="TextBox 21"/>
          <p:cNvSpPr txBox="1"/>
          <p:nvPr/>
        </p:nvSpPr>
        <p:spPr>
          <a:xfrm>
            <a:off x="8275320" y="4224528"/>
            <a:ext cx="2971800" cy="274320"/>
          </a:xfrm>
          <a:prstGeom prst="rect">
            <a:avLst/>
          </a:prstGeom>
          <a:noFill/>
          <a:effectLst/>
        </p:spPr>
        <p:txBody>
          <a:bodyPr wrap="square" lIns="0" tIns="0" rIns="0" bIns="0" anchor="t">
            <a:spAutoFit/>
          </a:bodyPr>
          <a:lstStyle/>
          <a:p>
            <a:pPr algn="l">
              <a:lnSpc>
                <a:spcPct val="114000"/>
              </a:lnSpc>
              <a:spcBef>
                <a:spcPts val="0"/>
              </a:spcBef>
              <a:spcAft>
                <a:spcPts val="0"/>
              </a:spcAft>
            </a:pPr>
            <a:r>
              <a:rPr sz="1700" b="1">
                <a:solidFill>
                  <a:srgbClr val="192E43"/>
                </a:solidFill>
                <a:latin typeface="Arial"/>
              </a:rPr>
              <a:t>Laboratory</a:t>
            </a:r>
          </a:p>
        </p:txBody>
      </p:sp>
      <p:sp>
        <p:nvSpPr>
          <p:cNvPr id="23" name="TextBox 22"/>
          <p:cNvSpPr txBox="1"/>
          <p:nvPr/>
        </p:nvSpPr>
        <p:spPr>
          <a:xfrm>
            <a:off x="8275320" y="4572000"/>
            <a:ext cx="3108960" cy="365760"/>
          </a:xfrm>
          <a:prstGeom prst="rect">
            <a:avLst/>
          </a:prstGeom>
          <a:noFill/>
          <a:effectLst/>
        </p:spPr>
        <p:txBody>
          <a:bodyPr wrap="square" lIns="0" tIns="0" rIns="0" bIns="0" anchor="t">
            <a:spAutoFit/>
          </a:bodyPr>
          <a:lstStyle/>
          <a:p>
            <a:pPr algn="l">
              <a:lnSpc>
                <a:spcPct val="114000"/>
              </a:lnSpc>
              <a:spcBef>
                <a:spcPts val="0"/>
              </a:spcBef>
              <a:spcAft>
                <a:spcPts val="0"/>
              </a:spcAft>
            </a:pPr>
            <a:r>
              <a:rPr sz="1200" b="0">
                <a:solidFill>
                  <a:srgbClr val="5D7083"/>
                </a:solidFill>
                <a:latin typeface="Arial"/>
              </a:rPr>
              <a:t>Testing and durability areas</a:t>
            </a:r>
          </a:p>
        </p:txBody>
      </p:sp>
      <p:cxnSp>
        <p:nvCxnSpPr>
          <p:cNvPr id="24" name="Connector 23"/>
          <p:cNvCxnSpPr/>
          <p:nvPr/>
        </p:nvCxnSpPr>
        <p:spPr>
          <a:xfrm>
            <a:off x="8275320" y="4901183"/>
            <a:ext cx="3282696"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7680960" y="5056631"/>
            <a:ext cx="402336" cy="237744"/>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1">
                <a:solidFill>
                  <a:srgbClr val="244CE5"/>
                </a:solidFill>
                <a:latin typeface="Arial"/>
              </a:rPr>
              <a:t>04</a:t>
            </a:r>
          </a:p>
        </p:txBody>
      </p:sp>
      <p:sp>
        <p:nvSpPr>
          <p:cNvPr id="26" name="TextBox 25"/>
          <p:cNvSpPr txBox="1"/>
          <p:nvPr/>
        </p:nvSpPr>
        <p:spPr>
          <a:xfrm>
            <a:off x="8275320" y="5038344"/>
            <a:ext cx="2971800" cy="274320"/>
          </a:xfrm>
          <a:prstGeom prst="rect">
            <a:avLst/>
          </a:prstGeom>
          <a:noFill/>
          <a:effectLst/>
        </p:spPr>
        <p:txBody>
          <a:bodyPr wrap="square" lIns="0" tIns="0" rIns="0" bIns="0" anchor="t">
            <a:spAutoFit/>
          </a:bodyPr>
          <a:lstStyle/>
          <a:p>
            <a:pPr algn="l">
              <a:lnSpc>
                <a:spcPct val="114000"/>
              </a:lnSpc>
              <a:spcBef>
                <a:spcPts val="0"/>
              </a:spcBef>
              <a:spcAft>
                <a:spcPts val="0"/>
              </a:spcAft>
            </a:pPr>
            <a:r>
              <a:rPr sz="1700" b="1">
                <a:solidFill>
                  <a:srgbClr val="192E43"/>
                </a:solidFill>
                <a:latin typeface="Arial"/>
              </a:rPr>
              <a:t>Office &amp; meetings</a:t>
            </a:r>
          </a:p>
        </p:txBody>
      </p:sp>
      <p:sp>
        <p:nvSpPr>
          <p:cNvPr id="27" name="TextBox 26"/>
          <p:cNvSpPr txBox="1"/>
          <p:nvPr/>
        </p:nvSpPr>
        <p:spPr>
          <a:xfrm>
            <a:off x="8275320" y="5385816"/>
            <a:ext cx="3108960" cy="365760"/>
          </a:xfrm>
          <a:prstGeom prst="rect">
            <a:avLst/>
          </a:prstGeom>
          <a:noFill/>
          <a:effectLst/>
        </p:spPr>
        <p:txBody>
          <a:bodyPr wrap="square" lIns="0" tIns="0" rIns="0" bIns="0" anchor="t">
            <a:spAutoFit/>
          </a:bodyPr>
          <a:lstStyle/>
          <a:p>
            <a:pPr algn="l">
              <a:lnSpc>
                <a:spcPct val="114000"/>
              </a:lnSpc>
              <a:spcBef>
                <a:spcPts val="0"/>
              </a:spcBef>
              <a:spcAft>
                <a:spcPts val="0"/>
              </a:spcAft>
            </a:pPr>
            <a:r>
              <a:rPr sz="1200" b="0">
                <a:solidFill>
                  <a:srgbClr val="5D7083"/>
                </a:solidFill>
                <a:latin typeface="Arial"/>
              </a:rPr>
              <a:t>Administrative and meeting rooms</a:t>
            </a:r>
          </a:p>
        </p:txBody>
      </p:sp>
      <p:sp>
        <p:nvSpPr>
          <p:cNvPr id="28" name="Rectangle 27">
            <a:extLst>
              <a:ext uri="{FF2B5EF4-FFF2-40B4-BE49-F238E27FC236}">
                <a16:creationId xmlns:a16="http://schemas.microsoft.com/office/drawing/2014/main" id="{04F49586-9784-345C-C096-9559592E6906}"/>
              </a:ext>
            </a:extLst>
          </p:cNvPr>
          <p:cNvSpPr/>
          <p:nvPr/>
        </p:nvSpPr>
        <p:spPr>
          <a:xfrm>
            <a:off x="2844800" y="2724150"/>
            <a:ext cx="482600" cy="79375"/>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 b="1" dirty="0">
                <a:solidFill>
                  <a:schemeClr val="bg1"/>
                </a:solidFill>
              </a:rPr>
              <a:t>MUSHOLLA</a:t>
            </a:r>
            <a:endParaRPr lang="en-ID" sz="400" b="1" dirty="0">
              <a:solidFill>
                <a:schemeClr val="bg1"/>
              </a:solidFil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FACILITIES</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U7A · Finishing &amp; logistics</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Die-cutting, inspection, finished goods and delivery preparation</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FACILITIES</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05</a:t>
            </a:r>
          </a:p>
        </p:txBody>
      </p:sp>
      <p:sp>
        <p:nvSpPr>
          <p:cNvPr id="10" name="Rectangle 9"/>
          <p:cNvSpPr/>
          <p:nvPr/>
        </p:nvSpPr>
        <p:spPr>
          <a:xfrm>
            <a:off x="603504" y="2029968"/>
            <a:ext cx="10991088" cy="3794760"/>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1" name="Picture 10" descr="image6.png"/>
          <p:cNvPicPr>
            <a:picLocks noChangeAspect="1"/>
          </p:cNvPicPr>
          <p:nvPr/>
        </p:nvPicPr>
        <p:blipFill>
          <a:blip r:embed="rId4"/>
          <a:stretch>
            <a:fillRect/>
          </a:stretch>
        </p:blipFill>
        <p:spPr>
          <a:xfrm>
            <a:off x="842616" y="2167128"/>
            <a:ext cx="10512862" cy="3511296"/>
          </a:xfrm>
          <a:prstGeom prst="rect">
            <a:avLst/>
          </a:prstGeom>
          <a:effectLst/>
        </p:spPr>
      </p:pic>
      <p:sp>
        <p:nvSpPr>
          <p:cNvPr id="12" name="TextBox 11"/>
          <p:cNvSpPr txBox="1"/>
          <p:nvPr/>
        </p:nvSpPr>
        <p:spPr>
          <a:xfrm>
            <a:off x="640080" y="5989320"/>
            <a:ext cx="393192"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100" b="1">
                <a:solidFill>
                  <a:srgbClr val="244CE5"/>
                </a:solidFill>
                <a:latin typeface="Arial"/>
              </a:rPr>
              <a:t>01</a:t>
            </a:r>
          </a:p>
        </p:txBody>
      </p:sp>
      <p:sp>
        <p:nvSpPr>
          <p:cNvPr id="13" name="TextBox 12"/>
          <p:cNvSpPr txBox="1"/>
          <p:nvPr/>
        </p:nvSpPr>
        <p:spPr>
          <a:xfrm>
            <a:off x="1124712" y="5943600"/>
            <a:ext cx="2286000" cy="274320"/>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0">
                <a:solidFill>
                  <a:srgbClr val="192E43"/>
                </a:solidFill>
                <a:latin typeface="Arial"/>
              </a:rPr>
              <a:t>Die-cutting</a:t>
            </a:r>
          </a:p>
        </p:txBody>
      </p:sp>
      <p:sp>
        <p:nvSpPr>
          <p:cNvPr id="14" name="TextBox 13"/>
          <p:cNvSpPr txBox="1"/>
          <p:nvPr/>
        </p:nvSpPr>
        <p:spPr>
          <a:xfrm>
            <a:off x="3410711" y="5989320"/>
            <a:ext cx="393192"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100" b="1">
                <a:solidFill>
                  <a:srgbClr val="244CE5"/>
                </a:solidFill>
                <a:latin typeface="Arial"/>
              </a:rPr>
              <a:t>02</a:t>
            </a:r>
          </a:p>
        </p:txBody>
      </p:sp>
      <p:sp>
        <p:nvSpPr>
          <p:cNvPr id="15" name="TextBox 14"/>
          <p:cNvSpPr txBox="1"/>
          <p:nvPr/>
        </p:nvSpPr>
        <p:spPr>
          <a:xfrm>
            <a:off x="3895344" y="5943600"/>
            <a:ext cx="2286000" cy="274320"/>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0">
                <a:solidFill>
                  <a:srgbClr val="192E43"/>
                </a:solidFill>
                <a:latin typeface="Arial"/>
              </a:rPr>
              <a:t>Packing &amp; checks</a:t>
            </a:r>
          </a:p>
        </p:txBody>
      </p:sp>
      <p:sp>
        <p:nvSpPr>
          <p:cNvPr id="16" name="TextBox 15"/>
          <p:cNvSpPr txBox="1"/>
          <p:nvPr/>
        </p:nvSpPr>
        <p:spPr>
          <a:xfrm>
            <a:off x="6181344" y="5989320"/>
            <a:ext cx="393192"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100" b="1">
                <a:solidFill>
                  <a:srgbClr val="244CE5"/>
                </a:solidFill>
                <a:latin typeface="Arial"/>
              </a:rPr>
              <a:t>03</a:t>
            </a:r>
          </a:p>
        </p:txBody>
      </p:sp>
      <p:sp>
        <p:nvSpPr>
          <p:cNvPr id="17" name="TextBox 16"/>
          <p:cNvSpPr txBox="1"/>
          <p:nvPr/>
        </p:nvSpPr>
        <p:spPr>
          <a:xfrm>
            <a:off x="6665976" y="5943600"/>
            <a:ext cx="2286000" cy="274320"/>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0">
                <a:solidFill>
                  <a:srgbClr val="192E43"/>
                </a:solidFill>
                <a:latin typeface="Arial"/>
              </a:rPr>
              <a:t>Finished goods</a:t>
            </a:r>
          </a:p>
        </p:txBody>
      </p:sp>
      <p:sp>
        <p:nvSpPr>
          <p:cNvPr id="18" name="TextBox 17"/>
          <p:cNvSpPr txBox="1"/>
          <p:nvPr/>
        </p:nvSpPr>
        <p:spPr>
          <a:xfrm>
            <a:off x="8951976" y="5989320"/>
            <a:ext cx="393192"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100" b="1">
                <a:solidFill>
                  <a:srgbClr val="244CE5"/>
                </a:solidFill>
                <a:latin typeface="Arial"/>
              </a:rPr>
              <a:t>04</a:t>
            </a:r>
          </a:p>
        </p:txBody>
      </p:sp>
      <p:sp>
        <p:nvSpPr>
          <p:cNvPr id="19" name="TextBox 18"/>
          <p:cNvSpPr txBox="1"/>
          <p:nvPr/>
        </p:nvSpPr>
        <p:spPr>
          <a:xfrm>
            <a:off x="9436607" y="5943600"/>
            <a:ext cx="2286000" cy="274320"/>
          </a:xfrm>
          <a:prstGeom prst="rect">
            <a:avLst/>
          </a:prstGeom>
          <a:noFill/>
          <a:effectLst/>
        </p:spPr>
        <p:txBody>
          <a:bodyPr wrap="square" lIns="0" tIns="0" rIns="0" bIns="0" anchor="t">
            <a:spAutoFit/>
          </a:bodyPr>
          <a:lstStyle/>
          <a:p>
            <a:pPr algn="l">
              <a:lnSpc>
                <a:spcPct val="114000"/>
              </a:lnSpc>
              <a:spcBef>
                <a:spcPts val="0"/>
              </a:spcBef>
              <a:spcAft>
                <a:spcPts val="0"/>
              </a:spcAft>
            </a:pPr>
            <a:r>
              <a:rPr sz="1400" b="0">
                <a:solidFill>
                  <a:srgbClr val="192E43"/>
                </a:solidFill>
                <a:latin typeface="Arial"/>
              </a:rPr>
              <a:t>Delivery preparation</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LOCATION</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2900" b="1" spc="-40">
                <a:solidFill>
                  <a:srgbClr val="112B45"/>
                </a:solidFill>
                <a:latin typeface="Arial"/>
              </a:rPr>
              <a:t>Connected to West Java’s industrial corridor</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Head office &amp; workshop • Cikarang, Bekasi, Indonesia</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LOCATION</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06</a:t>
            </a:r>
          </a:p>
        </p:txBody>
      </p:sp>
      <p:sp>
        <p:nvSpPr>
          <p:cNvPr id="10" name="Rectangle 9"/>
          <p:cNvSpPr/>
          <p:nvPr/>
        </p:nvSpPr>
        <p:spPr>
          <a:xfrm>
            <a:off x="594360" y="2039112"/>
            <a:ext cx="7424927" cy="4133087"/>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pSp>
        <p:nvGrpSpPr>
          <p:cNvPr id="22" name="Group 21"/>
          <p:cNvGrpSpPr/>
          <p:nvPr/>
        </p:nvGrpSpPr>
        <p:grpSpPr>
          <a:xfrm>
            <a:off x="1138507" y="2084831"/>
            <a:ext cx="6336632" cy="4050791"/>
            <a:chOff x="1138507" y="2084831"/>
            <a:chExt cx="6336632" cy="4050791"/>
          </a:xfrm>
        </p:grpSpPr>
        <p:pic>
          <p:nvPicPr>
            <p:cNvPr id="11" name="Picture 10" descr="image14.png"/>
            <p:cNvPicPr>
              <a:picLocks noChangeAspect="1"/>
            </p:cNvPicPr>
            <p:nvPr/>
          </p:nvPicPr>
          <p:blipFill>
            <a:blip r:embed="rId4"/>
            <a:stretch>
              <a:fillRect/>
            </a:stretch>
          </p:blipFill>
          <p:spPr>
            <a:xfrm>
              <a:off x="1138507" y="2084831"/>
              <a:ext cx="6336632" cy="4050791"/>
            </a:xfrm>
            <a:prstGeom prst="rect">
              <a:avLst/>
            </a:prstGeom>
            <a:effectLst/>
          </p:spPr>
        </p:pic>
        <p:sp>
          <p:nvSpPr>
            <p:cNvPr id="12" name="Rectangle 11"/>
            <p:cNvSpPr/>
            <p:nvPr/>
          </p:nvSpPr>
          <p:spPr>
            <a:xfrm>
              <a:off x="2470888" y="4007613"/>
              <a:ext cx="950976" cy="26517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2507464" y="4048761"/>
              <a:ext cx="877824" cy="182880"/>
            </a:xfrm>
            <a:prstGeom prst="rect">
              <a:avLst/>
            </a:prstGeom>
            <a:noFill/>
            <a:effectLst/>
          </p:spPr>
          <p:txBody>
            <a:bodyPr wrap="square" lIns="0" tIns="0" rIns="0" bIns="0" anchor="t">
              <a:spAutoFit/>
            </a:bodyPr>
            <a:lstStyle/>
            <a:p>
              <a:pPr algn="ctr">
                <a:lnSpc>
                  <a:spcPct val="114000"/>
                </a:lnSpc>
                <a:spcBef>
                  <a:spcPts val="0"/>
                </a:spcBef>
                <a:spcAft>
                  <a:spcPts val="0"/>
                </a:spcAft>
              </a:pPr>
              <a:r>
                <a:rPr sz="1030" b="0">
                  <a:solidFill>
                    <a:srgbClr val="192E43"/>
                  </a:solidFill>
                  <a:latin typeface="Arial"/>
                </a:rPr>
                <a:t>JAKARTA</a:t>
              </a:r>
            </a:p>
          </p:txBody>
        </p:sp>
        <p:sp>
          <p:nvSpPr>
            <p:cNvPr id="14" name="Rectangle 13"/>
            <p:cNvSpPr/>
            <p:nvPr/>
          </p:nvSpPr>
          <p:spPr>
            <a:xfrm>
              <a:off x="5101584" y="3904621"/>
              <a:ext cx="950976" cy="265176"/>
            </a:xfrm>
            <a:prstGeom prst="rect">
              <a:avLst/>
            </a:prstGeom>
            <a:solidFill>
              <a:srgbClr val="244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5138160" y="3945769"/>
              <a:ext cx="877824" cy="182880"/>
            </a:xfrm>
            <a:prstGeom prst="rect">
              <a:avLst/>
            </a:prstGeom>
            <a:noFill/>
            <a:effectLst/>
          </p:spPr>
          <p:txBody>
            <a:bodyPr wrap="square" lIns="0" tIns="0" rIns="0" bIns="0" anchor="t">
              <a:spAutoFit/>
            </a:bodyPr>
            <a:lstStyle/>
            <a:p>
              <a:pPr algn="ctr">
                <a:lnSpc>
                  <a:spcPct val="114000"/>
                </a:lnSpc>
                <a:spcBef>
                  <a:spcPts val="0"/>
                </a:spcBef>
                <a:spcAft>
                  <a:spcPts val="0"/>
                </a:spcAft>
              </a:pPr>
              <a:r>
                <a:rPr sz="1030" b="1">
                  <a:solidFill>
                    <a:srgbClr val="FFFFFF"/>
                  </a:solidFill>
                  <a:latin typeface="Arial"/>
                </a:rPr>
                <a:t>GRAFINDO</a:t>
              </a:r>
            </a:p>
          </p:txBody>
        </p:sp>
        <p:sp>
          <p:nvSpPr>
            <p:cNvPr id="16" name="Rectangle 15"/>
            <p:cNvSpPr/>
            <p:nvPr/>
          </p:nvSpPr>
          <p:spPr>
            <a:xfrm>
              <a:off x="6049213" y="4994374"/>
              <a:ext cx="950976" cy="26517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6085789" y="5035522"/>
              <a:ext cx="877824" cy="182880"/>
            </a:xfrm>
            <a:prstGeom prst="rect">
              <a:avLst/>
            </a:prstGeom>
            <a:noFill/>
            <a:effectLst/>
          </p:spPr>
          <p:txBody>
            <a:bodyPr wrap="square" lIns="0" tIns="0" rIns="0" bIns="0" anchor="t">
              <a:spAutoFit/>
            </a:bodyPr>
            <a:lstStyle/>
            <a:p>
              <a:pPr algn="ctr">
                <a:lnSpc>
                  <a:spcPct val="114000"/>
                </a:lnSpc>
                <a:spcBef>
                  <a:spcPts val="0"/>
                </a:spcBef>
                <a:spcAft>
                  <a:spcPts val="0"/>
                </a:spcAft>
              </a:pPr>
              <a:r>
                <a:rPr sz="1030" b="0">
                  <a:solidFill>
                    <a:srgbClr val="192E43"/>
                  </a:solidFill>
                  <a:latin typeface="Arial"/>
                </a:rPr>
                <a:t>Karawang</a:t>
              </a:r>
            </a:p>
          </p:txBody>
        </p:sp>
        <p:sp>
          <p:nvSpPr>
            <p:cNvPr id="18" name="Rectangle 17"/>
            <p:cNvSpPr/>
            <p:nvPr/>
          </p:nvSpPr>
          <p:spPr>
            <a:xfrm>
              <a:off x="3757716" y="3282878"/>
              <a:ext cx="1088136" cy="26517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3794292" y="3324026"/>
              <a:ext cx="1014983" cy="182880"/>
            </a:xfrm>
            <a:prstGeom prst="rect">
              <a:avLst/>
            </a:prstGeom>
            <a:noFill/>
            <a:effectLst/>
          </p:spPr>
          <p:txBody>
            <a:bodyPr wrap="square" lIns="0" tIns="0" rIns="0" bIns="0" anchor="t">
              <a:spAutoFit/>
            </a:bodyPr>
            <a:lstStyle/>
            <a:p>
              <a:pPr algn="ctr">
                <a:lnSpc>
                  <a:spcPct val="114000"/>
                </a:lnSpc>
                <a:spcBef>
                  <a:spcPts val="0"/>
                </a:spcBef>
                <a:spcAft>
                  <a:spcPts val="0"/>
                </a:spcAft>
              </a:pPr>
              <a:r>
                <a:rPr sz="1030" b="0">
                  <a:solidFill>
                    <a:srgbClr val="192E43"/>
                  </a:solidFill>
                  <a:latin typeface="Arial"/>
                </a:rPr>
                <a:t>Pulogadung</a:t>
              </a:r>
            </a:p>
          </p:txBody>
        </p:sp>
        <p:sp>
          <p:nvSpPr>
            <p:cNvPr id="20" name="Rectangle 19"/>
            <p:cNvSpPr/>
            <p:nvPr/>
          </p:nvSpPr>
          <p:spPr>
            <a:xfrm>
              <a:off x="4803454" y="4469566"/>
              <a:ext cx="950976" cy="26517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4840030" y="4510714"/>
              <a:ext cx="877824" cy="182880"/>
            </a:xfrm>
            <a:prstGeom prst="rect">
              <a:avLst/>
            </a:prstGeom>
            <a:noFill/>
            <a:effectLst/>
          </p:spPr>
          <p:txBody>
            <a:bodyPr wrap="square" lIns="0" tIns="0" rIns="0" bIns="0" anchor="t">
              <a:spAutoFit/>
            </a:bodyPr>
            <a:lstStyle/>
            <a:p>
              <a:pPr algn="ctr">
                <a:lnSpc>
                  <a:spcPct val="114000"/>
                </a:lnSpc>
                <a:spcBef>
                  <a:spcPts val="0"/>
                </a:spcBef>
                <a:spcAft>
                  <a:spcPts val="0"/>
                </a:spcAft>
              </a:pPr>
              <a:r>
                <a:rPr sz="1030" b="0">
                  <a:solidFill>
                    <a:srgbClr val="192E43"/>
                  </a:solidFill>
                  <a:latin typeface="Arial"/>
                </a:rPr>
                <a:t>Cikarang</a:t>
              </a:r>
            </a:p>
          </p:txBody>
        </p:sp>
      </p:grpSp>
      <p:sp>
        <p:nvSpPr>
          <p:cNvPr id="23" name="TextBox 22"/>
          <p:cNvSpPr txBox="1"/>
          <p:nvPr/>
        </p:nvSpPr>
        <p:spPr>
          <a:xfrm>
            <a:off x="8394192" y="2066543"/>
            <a:ext cx="2990088"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30">
                <a:solidFill>
                  <a:srgbClr val="244CE5"/>
                </a:solidFill>
                <a:latin typeface="Arial"/>
              </a:rPr>
              <a:t>INDONESIA</a:t>
            </a:r>
          </a:p>
        </p:txBody>
      </p:sp>
      <p:pic>
        <p:nvPicPr>
          <p:cNvPr id="24" name="Picture 23" descr="image8.jpg"/>
          <p:cNvPicPr>
            <a:picLocks noChangeAspect="1"/>
          </p:cNvPicPr>
          <p:nvPr/>
        </p:nvPicPr>
        <p:blipFill>
          <a:blip r:embed="rId5"/>
          <a:stretch>
            <a:fillRect/>
          </a:stretch>
        </p:blipFill>
        <p:spPr>
          <a:xfrm>
            <a:off x="8377018" y="2432304"/>
            <a:ext cx="3024435" cy="1124712"/>
          </a:xfrm>
          <a:prstGeom prst="rect">
            <a:avLst/>
          </a:prstGeom>
          <a:effectLst/>
        </p:spPr>
      </p:pic>
      <p:pic>
        <p:nvPicPr>
          <p:cNvPr id="25" name="Picture 24" descr="image13.jpg"/>
          <p:cNvPicPr>
            <a:picLocks noChangeAspect="1"/>
          </p:cNvPicPr>
          <p:nvPr/>
        </p:nvPicPr>
        <p:blipFill>
          <a:blip r:embed="rId6"/>
          <a:srcRect t="11594" b="11594"/>
          <a:stretch>
            <a:fillRect/>
          </a:stretch>
        </p:blipFill>
        <p:spPr>
          <a:xfrm>
            <a:off x="8366760" y="3776472"/>
            <a:ext cx="3218688" cy="1499616"/>
          </a:xfrm>
          <a:prstGeom prst="rect">
            <a:avLst/>
          </a:prstGeom>
          <a:effectLst/>
        </p:spPr>
      </p:pic>
      <p:sp>
        <p:nvSpPr>
          <p:cNvPr id="26" name="TextBox 25"/>
          <p:cNvSpPr txBox="1"/>
          <p:nvPr/>
        </p:nvSpPr>
        <p:spPr>
          <a:xfrm>
            <a:off x="8375904" y="5477256"/>
            <a:ext cx="3182112" cy="594360"/>
          </a:xfrm>
          <a:prstGeom prst="rect">
            <a:avLst/>
          </a:prstGeom>
          <a:noFill/>
          <a:effectLst/>
        </p:spPr>
        <p:txBody>
          <a:bodyPr wrap="square" lIns="0" tIns="0" rIns="0" bIns="0" anchor="t">
            <a:spAutoFit/>
          </a:bodyPr>
          <a:lstStyle/>
          <a:p>
            <a:pPr algn="l">
              <a:lnSpc>
                <a:spcPct val="117000"/>
              </a:lnSpc>
              <a:spcBef>
                <a:spcPts val="0"/>
              </a:spcBef>
              <a:spcAft>
                <a:spcPts val="0"/>
              </a:spcAft>
            </a:pPr>
            <a:r>
              <a:rPr sz="1350" b="0">
                <a:solidFill>
                  <a:srgbClr val="192E43"/>
                </a:solidFill>
                <a:latin typeface="Arial"/>
              </a:rPr>
              <a:t>Jababeka I</a:t>
            </a:r>
          </a:p>
          <a:p>
            <a:pPr algn="l">
              <a:lnSpc>
                <a:spcPct val="117000"/>
              </a:lnSpc>
              <a:spcBef>
                <a:spcPts val="0"/>
              </a:spcBef>
              <a:spcAft>
                <a:spcPts val="0"/>
              </a:spcAft>
            </a:pPr>
            <a:r>
              <a:rPr sz="1350" b="0">
                <a:solidFill>
                  <a:srgbClr val="192E43"/>
                </a:solidFill>
                <a:latin typeface="Arial"/>
              </a:rPr>
              <a:t>Blocks U8D, U8C &amp; U7A</a:t>
            </a:r>
          </a:p>
          <a:p>
            <a:pPr algn="l">
              <a:lnSpc>
                <a:spcPct val="117000"/>
              </a:lnSpc>
              <a:spcBef>
                <a:spcPts val="0"/>
              </a:spcBef>
              <a:spcAft>
                <a:spcPts val="0"/>
              </a:spcAft>
            </a:pPr>
            <a:r>
              <a:rPr sz="1350" b="0">
                <a:solidFill>
                  <a:srgbClr val="192E43"/>
                </a:solidFill>
                <a:latin typeface="Arial"/>
              </a:rPr>
              <a:t>Cikarang • Bekasi</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par>
                                <p:cTn id="13" presetID="10"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ORGANIZATION</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Leadership &amp; organization</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Organizational structure • 2026</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ORGANIZATION</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07</a:t>
            </a:r>
          </a:p>
        </p:txBody>
      </p:sp>
      <p:sp>
        <p:nvSpPr>
          <p:cNvPr id="10" name="Rectangle 9"/>
          <p:cNvSpPr/>
          <p:nvPr/>
        </p:nvSpPr>
        <p:spPr>
          <a:xfrm>
            <a:off x="4416552" y="2029968"/>
            <a:ext cx="3355848" cy="713232"/>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4553712" y="2148840"/>
            <a:ext cx="3081528" cy="182880"/>
          </a:xfrm>
          <a:prstGeom prst="rect">
            <a:avLst/>
          </a:prstGeom>
          <a:noFill/>
          <a:effectLst/>
        </p:spPr>
        <p:txBody>
          <a:bodyPr wrap="square" lIns="0" tIns="0" rIns="0" bIns="0" anchor="t">
            <a:spAutoFit/>
          </a:bodyPr>
          <a:lstStyle/>
          <a:p>
            <a:pPr algn="ctr">
              <a:lnSpc>
                <a:spcPct val="114000"/>
              </a:lnSpc>
              <a:spcBef>
                <a:spcPts val="0"/>
              </a:spcBef>
              <a:spcAft>
                <a:spcPts val="0"/>
              </a:spcAft>
            </a:pPr>
            <a:r>
              <a:rPr sz="1000" b="1" spc="110">
                <a:solidFill>
                  <a:srgbClr val="48D0DF"/>
                </a:solidFill>
                <a:latin typeface="Arial"/>
              </a:rPr>
              <a:t>DIRECTOR</a:t>
            </a:r>
          </a:p>
        </p:txBody>
      </p:sp>
      <p:sp>
        <p:nvSpPr>
          <p:cNvPr id="12" name="TextBox 11"/>
          <p:cNvSpPr txBox="1"/>
          <p:nvPr/>
        </p:nvSpPr>
        <p:spPr>
          <a:xfrm>
            <a:off x="4553712" y="2423160"/>
            <a:ext cx="3081528" cy="289438"/>
          </a:xfrm>
          <a:prstGeom prst="rect">
            <a:avLst/>
          </a:prstGeom>
          <a:noFill/>
          <a:effectLst/>
        </p:spPr>
        <p:txBody>
          <a:bodyPr wrap="square" lIns="0" tIns="0" rIns="0" bIns="0" anchor="t">
            <a:spAutoFit/>
          </a:bodyPr>
          <a:lstStyle/>
          <a:p>
            <a:pPr algn="ctr">
              <a:lnSpc>
                <a:spcPct val="114000"/>
              </a:lnSpc>
              <a:spcBef>
                <a:spcPts val="0"/>
              </a:spcBef>
              <a:spcAft>
                <a:spcPts val="0"/>
              </a:spcAft>
            </a:pPr>
            <a:r>
              <a:rPr lang="en-US" sz="1800" b="1" dirty="0">
                <a:solidFill>
                  <a:srgbClr val="FFFFFF"/>
                </a:solidFill>
                <a:latin typeface="Arial"/>
              </a:rPr>
              <a:t>H. </a:t>
            </a:r>
            <a:r>
              <a:rPr sz="1800" b="1" dirty="0">
                <a:solidFill>
                  <a:srgbClr val="FFFFFF"/>
                </a:solidFill>
                <a:latin typeface="Arial"/>
              </a:rPr>
              <a:t>Garry </a:t>
            </a:r>
            <a:r>
              <a:rPr sz="1800" b="1" dirty="0" err="1">
                <a:solidFill>
                  <a:srgbClr val="FFFFFF"/>
                </a:solidFill>
                <a:latin typeface="Arial"/>
              </a:rPr>
              <a:t>Tisnantono</a:t>
            </a:r>
            <a:endParaRPr sz="1800" b="1" dirty="0">
              <a:solidFill>
                <a:srgbClr val="FFFFFF"/>
              </a:solidFill>
              <a:latin typeface="Arial"/>
            </a:endParaRPr>
          </a:p>
        </p:txBody>
      </p:sp>
      <p:cxnSp>
        <p:nvCxnSpPr>
          <p:cNvPr id="13" name="Connector 12"/>
          <p:cNvCxnSpPr/>
          <p:nvPr/>
        </p:nvCxnSpPr>
        <p:spPr>
          <a:xfrm>
            <a:off x="6094476" y="2743200"/>
            <a:ext cx="0" cy="246888"/>
          </a:xfrm>
          <a:prstGeom prst="line">
            <a:avLst/>
          </a:prstGeom>
          <a:ln w="17780">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901952" y="2990088"/>
            <a:ext cx="8421624" cy="0"/>
          </a:xfrm>
          <a:prstGeom prst="line">
            <a:avLst/>
          </a:prstGeom>
          <a:ln w="17780">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901952" y="2990088"/>
            <a:ext cx="0" cy="356616"/>
          </a:xfrm>
          <a:prstGeom prst="line">
            <a:avLst/>
          </a:prstGeom>
          <a:ln w="17780">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16" name="Rectangle 15"/>
          <p:cNvSpPr/>
          <p:nvPr/>
        </p:nvSpPr>
        <p:spPr>
          <a:xfrm>
            <a:off x="612648" y="3346704"/>
            <a:ext cx="2587752" cy="1124712"/>
          </a:xfrm>
          <a:prstGeom prst="rect">
            <a:avLst/>
          </a:prstGeom>
          <a:solidFill>
            <a:srgbClr val="EAF0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612648" y="3346704"/>
            <a:ext cx="2587752" cy="36576"/>
          </a:xfrm>
          <a:prstGeom prst="rect">
            <a:avLst/>
          </a:prstGeom>
          <a:solidFill>
            <a:srgbClr val="244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722376" y="3511296"/>
            <a:ext cx="2368296" cy="438912"/>
          </a:xfrm>
          <a:prstGeom prst="rect">
            <a:avLst/>
          </a:prstGeom>
          <a:noFill/>
          <a:effectLst/>
        </p:spPr>
        <p:txBody>
          <a:bodyPr wrap="square" lIns="0" tIns="0" rIns="0" bIns="0" anchor="t">
            <a:spAutoFit/>
          </a:bodyPr>
          <a:lstStyle/>
          <a:p>
            <a:pPr algn="ctr">
              <a:lnSpc>
                <a:spcPct val="115000"/>
              </a:lnSpc>
              <a:spcBef>
                <a:spcPts val="0"/>
              </a:spcBef>
              <a:spcAft>
                <a:spcPts val="0"/>
              </a:spcAft>
            </a:pPr>
            <a:r>
              <a:rPr sz="1200" b="0">
                <a:solidFill>
                  <a:srgbClr val="5D7083"/>
                </a:solidFill>
                <a:latin typeface="Arial"/>
              </a:rPr>
              <a:t>GM Finance &amp; Accounting</a:t>
            </a:r>
          </a:p>
        </p:txBody>
      </p:sp>
      <p:sp>
        <p:nvSpPr>
          <p:cNvPr id="19" name="TextBox 18"/>
          <p:cNvSpPr txBox="1"/>
          <p:nvPr/>
        </p:nvSpPr>
        <p:spPr>
          <a:xfrm>
            <a:off x="722376" y="4114800"/>
            <a:ext cx="2368296" cy="228600"/>
          </a:xfrm>
          <a:prstGeom prst="rect">
            <a:avLst/>
          </a:prstGeom>
          <a:noFill/>
          <a:effectLst/>
        </p:spPr>
        <p:txBody>
          <a:bodyPr wrap="square" lIns="0" tIns="0" rIns="0" bIns="0" anchor="t">
            <a:spAutoFit/>
          </a:bodyPr>
          <a:lstStyle/>
          <a:p>
            <a:pPr algn="ctr">
              <a:lnSpc>
                <a:spcPct val="114000"/>
              </a:lnSpc>
              <a:spcBef>
                <a:spcPts val="0"/>
              </a:spcBef>
              <a:spcAft>
                <a:spcPts val="0"/>
              </a:spcAft>
            </a:pPr>
            <a:r>
              <a:rPr sz="1650" b="1">
                <a:solidFill>
                  <a:srgbClr val="192E43"/>
                </a:solidFill>
                <a:latin typeface="Arial"/>
              </a:rPr>
              <a:t>Koko Udoyo</a:t>
            </a:r>
          </a:p>
        </p:txBody>
      </p:sp>
      <p:cxnSp>
        <p:nvCxnSpPr>
          <p:cNvPr id="20" name="Connector 19"/>
          <p:cNvCxnSpPr/>
          <p:nvPr/>
        </p:nvCxnSpPr>
        <p:spPr>
          <a:xfrm>
            <a:off x="1901952" y="4471416"/>
            <a:ext cx="0" cy="256032"/>
          </a:xfrm>
          <a:prstGeom prst="line">
            <a:avLst/>
          </a:prstGeom>
          <a:ln w="15240">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658368" y="4855464"/>
            <a:ext cx="2496312" cy="466344"/>
          </a:xfrm>
          <a:prstGeom prst="rect">
            <a:avLst/>
          </a:prstGeom>
          <a:noFill/>
          <a:effectLst/>
        </p:spPr>
        <p:txBody>
          <a:bodyPr wrap="square" lIns="0" tIns="0" rIns="0" bIns="0" anchor="t">
            <a:spAutoFit/>
          </a:bodyPr>
          <a:lstStyle/>
          <a:p>
            <a:pPr algn="ctr">
              <a:lnSpc>
                <a:spcPct val="115000"/>
              </a:lnSpc>
              <a:spcBef>
                <a:spcPts val="0"/>
              </a:spcBef>
              <a:spcAft>
                <a:spcPts val="0"/>
              </a:spcAft>
            </a:pPr>
            <a:r>
              <a:rPr sz="1400" b="1">
                <a:solidFill>
                  <a:srgbClr val="244CE5"/>
                </a:solidFill>
                <a:latin typeface="Arial"/>
              </a:rPr>
              <a:t>Finance</a:t>
            </a:r>
          </a:p>
        </p:txBody>
      </p:sp>
      <p:sp>
        <p:nvSpPr>
          <p:cNvPr id="22" name="TextBox 21"/>
          <p:cNvSpPr txBox="1"/>
          <p:nvPr/>
        </p:nvSpPr>
        <p:spPr>
          <a:xfrm>
            <a:off x="685800" y="5468112"/>
            <a:ext cx="2432304" cy="676656"/>
          </a:xfrm>
          <a:prstGeom prst="rect">
            <a:avLst/>
          </a:prstGeom>
          <a:noFill/>
          <a:effectLst/>
        </p:spPr>
        <p:txBody>
          <a:bodyPr wrap="square" lIns="0" tIns="0" rIns="0" bIns="0" anchor="t">
            <a:spAutoFit/>
          </a:bodyPr>
          <a:lstStyle/>
          <a:p>
            <a:pPr algn="ctr">
              <a:lnSpc>
                <a:spcPct val="122000"/>
              </a:lnSpc>
              <a:spcBef>
                <a:spcPts val="0"/>
              </a:spcBef>
              <a:spcAft>
                <a:spcPts val="0"/>
              </a:spcAft>
            </a:pPr>
            <a:r>
              <a:rPr sz="1180" b="0">
                <a:solidFill>
                  <a:srgbClr val="5D7083"/>
                </a:solidFill>
                <a:latin typeface="Arial"/>
              </a:rPr>
              <a:t>Asmen Finance · Ferdi</a:t>
            </a:r>
          </a:p>
          <a:p>
            <a:pPr algn="ctr">
              <a:lnSpc>
                <a:spcPct val="122000"/>
              </a:lnSpc>
              <a:spcBef>
                <a:spcPts val="0"/>
              </a:spcBef>
              <a:spcAft>
                <a:spcPts val="0"/>
              </a:spcAft>
            </a:pPr>
            <a:r>
              <a:rPr sz="1180" b="0">
                <a:solidFill>
                  <a:srgbClr val="5D7083"/>
                </a:solidFill>
                <a:latin typeface="Arial"/>
              </a:rPr>
              <a:t>Spv. Accounting · Heni</a:t>
            </a:r>
          </a:p>
        </p:txBody>
      </p:sp>
      <p:cxnSp>
        <p:nvCxnSpPr>
          <p:cNvPr id="23" name="Connector 22"/>
          <p:cNvCxnSpPr/>
          <p:nvPr/>
        </p:nvCxnSpPr>
        <p:spPr>
          <a:xfrm>
            <a:off x="4709159" y="2990088"/>
            <a:ext cx="0" cy="356616"/>
          </a:xfrm>
          <a:prstGeom prst="line">
            <a:avLst/>
          </a:prstGeom>
          <a:ln w="17780">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24" name="Rectangle 23"/>
          <p:cNvSpPr/>
          <p:nvPr/>
        </p:nvSpPr>
        <p:spPr>
          <a:xfrm>
            <a:off x="3419856" y="3346704"/>
            <a:ext cx="2587752" cy="1124712"/>
          </a:xfrm>
          <a:prstGeom prst="rect">
            <a:avLst/>
          </a:prstGeom>
          <a:solidFill>
            <a:srgbClr val="EAF0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Rectangle 24"/>
          <p:cNvSpPr/>
          <p:nvPr/>
        </p:nvSpPr>
        <p:spPr>
          <a:xfrm>
            <a:off x="3419856" y="3346704"/>
            <a:ext cx="2587752" cy="36576"/>
          </a:xfrm>
          <a:prstGeom prst="rect">
            <a:avLst/>
          </a:prstGeom>
          <a:solidFill>
            <a:srgbClr val="244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3529584" y="3511296"/>
            <a:ext cx="2368296" cy="438912"/>
          </a:xfrm>
          <a:prstGeom prst="rect">
            <a:avLst/>
          </a:prstGeom>
          <a:noFill/>
          <a:effectLst/>
        </p:spPr>
        <p:txBody>
          <a:bodyPr wrap="square" lIns="0" tIns="0" rIns="0" bIns="0" anchor="t">
            <a:spAutoFit/>
          </a:bodyPr>
          <a:lstStyle/>
          <a:p>
            <a:pPr algn="ctr">
              <a:lnSpc>
                <a:spcPct val="115000"/>
              </a:lnSpc>
              <a:spcBef>
                <a:spcPts val="0"/>
              </a:spcBef>
              <a:spcAft>
                <a:spcPts val="0"/>
              </a:spcAft>
            </a:pPr>
            <a:r>
              <a:rPr sz="1200" b="0">
                <a:solidFill>
                  <a:srgbClr val="5D7083"/>
                </a:solidFill>
                <a:latin typeface="Arial"/>
              </a:rPr>
              <a:t>GM Operational</a:t>
            </a:r>
          </a:p>
        </p:txBody>
      </p:sp>
      <p:sp>
        <p:nvSpPr>
          <p:cNvPr id="27" name="TextBox 26"/>
          <p:cNvSpPr txBox="1"/>
          <p:nvPr/>
        </p:nvSpPr>
        <p:spPr>
          <a:xfrm>
            <a:off x="3529584" y="4114800"/>
            <a:ext cx="2368296" cy="265265"/>
          </a:xfrm>
          <a:prstGeom prst="rect">
            <a:avLst/>
          </a:prstGeom>
          <a:noFill/>
          <a:effectLst/>
        </p:spPr>
        <p:txBody>
          <a:bodyPr wrap="square" lIns="0" tIns="0" rIns="0" bIns="0" anchor="t">
            <a:spAutoFit/>
          </a:bodyPr>
          <a:lstStyle/>
          <a:p>
            <a:pPr algn="ctr">
              <a:lnSpc>
                <a:spcPct val="114000"/>
              </a:lnSpc>
              <a:spcBef>
                <a:spcPts val="0"/>
              </a:spcBef>
              <a:spcAft>
                <a:spcPts val="0"/>
              </a:spcAft>
            </a:pPr>
            <a:r>
              <a:rPr lang="en-US" sz="1650" b="1" dirty="0">
                <a:solidFill>
                  <a:srgbClr val="192E43"/>
                </a:solidFill>
                <a:latin typeface="Arial"/>
              </a:rPr>
              <a:t>H. </a:t>
            </a:r>
            <a:r>
              <a:rPr sz="1650" b="1" dirty="0" err="1">
                <a:solidFill>
                  <a:srgbClr val="192E43"/>
                </a:solidFill>
                <a:latin typeface="Arial"/>
              </a:rPr>
              <a:t>Subagiyo</a:t>
            </a:r>
            <a:endParaRPr sz="1650" b="1" dirty="0">
              <a:solidFill>
                <a:srgbClr val="192E43"/>
              </a:solidFill>
              <a:latin typeface="Arial"/>
            </a:endParaRPr>
          </a:p>
        </p:txBody>
      </p:sp>
      <p:cxnSp>
        <p:nvCxnSpPr>
          <p:cNvPr id="28" name="Connector 27"/>
          <p:cNvCxnSpPr/>
          <p:nvPr/>
        </p:nvCxnSpPr>
        <p:spPr>
          <a:xfrm>
            <a:off x="4709159" y="4471416"/>
            <a:ext cx="0" cy="256032"/>
          </a:xfrm>
          <a:prstGeom prst="line">
            <a:avLst/>
          </a:prstGeom>
          <a:ln w="15240">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3465575" y="4855464"/>
            <a:ext cx="2496312" cy="466344"/>
          </a:xfrm>
          <a:prstGeom prst="rect">
            <a:avLst/>
          </a:prstGeom>
          <a:noFill/>
          <a:effectLst/>
        </p:spPr>
        <p:txBody>
          <a:bodyPr wrap="square" lIns="0" tIns="0" rIns="0" bIns="0" anchor="t">
            <a:spAutoFit/>
          </a:bodyPr>
          <a:lstStyle/>
          <a:p>
            <a:pPr algn="ctr">
              <a:lnSpc>
                <a:spcPct val="115000"/>
              </a:lnSpc>
              <a:spcBef>
                <a:spcPts val="0"/>
              </a:spcBef>
              <a:spcAft>
                <a:spcPts val="0"/>
              </a:spcAft>
            </a:pPr>
            <a:r>
              <a:rPr sz="1400" b="1">
                <a:solidFill>
                  <a:srgbClr val="244CE5"/>
                </a:solidFill>
                <a:latin typeface="Arial"/>
              </a:rPr>
              <a:t>Sales</a:t>
            </a:r>
          </a:p>
        </p:txBody>
      </p:sp>
      <p:sp>
        <p:nvSpPr>
          <p:cNvPr id="30" name="TextBox 29"/>
          <p:cNvSpPr txBox="1"/>
          <p:nvPr/>
        </p:nvSpPr>
        <p:spPr>
          <a:xfrm>
            <a:off x="3493008" y="5468112"/>
            <a:ext cx="2432304" cy="676656"/>
          </a:xfrm>
          <a:prstGeom prst="rect">
            <a:avLst/>
          </a:prstGeom>
          <a:noFill/>
          <a:effectLst/>
        </p:spPr>
        <p:txBody>
          <a:bodyPr wrap="square" lIns="0" tIns="0" rIns="0" bIns="0" anchor="t">
            <a:spAutoFit/>
          </a:bodyPr>
          <a:lstStyle/>
          <a:p>
            <a:pPr algn="ctr">
              <a:lnSpc>
                <a:spcPct val="122000"/>
              </a:lnSpc>
              <a:spcBef>
                <a:spcPts val="0"/>
              </a:spcBef>
              <a:spcAft>
                <a:spcPts val="0"/>
              </a:spcAft>
            </a:pPr>
            <a:r>
              <a:rPr sz="1180" b="0">
                <a:solidFill>
                  <a:srgbClr val="5D7083"/>
                </a:solidFill>
                <a:latin typeface="Arial"/>
              </a:rPr>
              <a:t>Sales · Riyono</a:t>
            </a:r>
          </a:p>
        </p:txBody>
      </p:sp>
      <p:cxnSp>
        <p:nvCxnSpPr>
          <p:cNvPr id="31" name="Connector 30"/>
          <p:cNvCxnSpPr/>
          <p:nvPr/>
        </p:nvCxnSpPr>
        <p:spPr>
          <a:xfrm>
            <a:off x="7516367" y="2990088"/>
            <a:ext cx="0" cy="356616"/>
          </a:xfrm>
          <a:prstGeom prst="line">
            <a:avLst/>
          </a:prstGeom>
          <a:ln w="17780">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32" name="Rectangle 31"/>
          <p:cNvSpPr/>
          <p:nvPr/>
        </p:nvSpPr>
        <p:spPr>
          <a:xfrm>
            <a:off x="6227064" y="3346704"/>
            <a:ext cx="2587752" cy="1124712"/>
          </a:xfrm>
          <a:prstGeom prst="rect">
            <a:avLst/>
          </a:prstGeom>
          <a:solidFill>
            <a:srgbClr val="EAF0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Rectangle 32"/>
          <p:cNvSpPr/>
          <p:nvPr/>
        </p:nvSpPr>
        <p:spPr>
          <a:xfrm>
            <a:off x="6227064" y="3346704"/>
            <a:ext cx="2587752" cy="36576"/>
          </a:xfrm>
          <a:prstGeom prst="rect">
            <a:avLst/>
          </a:prstGeom>
          <a:solidFill>
            <a:srgbClr val="244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336792" y="3511296"/>
            <a:ext cx="2368296" cy="438912"/>
          </a:xfrm>
          <a:prstGeom prst="rect">
            <a:avLst/>
          </a:prstGeom>
          <a:noFill/>
          <a:effectLst/>
        </p:spPr>
        <p:txBody>
          <a:bodyPr wrap="square" lIns="0" tIns="0" rIns="0" bIns="0" anchor="t">
            <a:spAutoFit/>
          </a:bodyPr>
          <a:lstStyle/>
          <a:p>
            <a:pPr algn="ctr">
              <a:lnSpc>
                <a:spcPct val="115000"/>
              </a:lnSpc>
              <a:spcBef>
                <a:spcPts val="0"/>
              </a:spcBef>
              <a:spcAft>
                <a:spcPts val="0"/>
              </a:spcAft>
            </a:pPr>
            <a:r>
              <a:rPr sz="1200" b="0">
                <a:solidFill>
                  <a:srgbClr val="5D7083"/>
                </a:solidFill>
                <a:latin typeface="Arial"/>
              </a:rPr>
              <a:t>Jr. GM Business Development</a:t>
            </a:r>
          </a:p>
          <a:p>
            <a:pPr algn="ctr">
              <a:lnSpc>
                <a:spcPct val="115000"/>
              </a:lnSpc>
              <a:spcBef>
                <a:spcPts val="0"/>
              </a:spcBef>
              <a:spcAft>
                <a:spcPts val="0"/>
              </a:spcAft>
            </a:pPr>
            <a:r>
              <a:rPr sz="1200" b="0">
                <a:solidFill>
                  <a:srgbClr val="5D7083"/>
                </a:solidFill>
                <a:latin typeface="Arial"/>
              </a:rPr>
              <a:t>&amp; Quality Technology</a:t>
            </a:r>
          </a:p>
        </p:txBody>
      </p:sp>
      <p:sp>
        <p:nvSpPr>
          <p:cNvPr id="35" name="TextBox 34"/>
          <p:cNvSpPr txBox="1"/>
          <p:nvPr/>
        </p:nvSpPr>
        <p:spPr>
          <a:xfrm>
            <a:off x="6336792" y="4114800"/>
            <a:ext cx="2368296" cy="228600"/>
          </a:xfrm>
          <a:prstGeom prst="rect">
            <a:avLst/>
          </a:prstGeom>
          <a:noFill/>
          <a:effectLst/>
        </p:spPr>
        <p:txBody>
          <a:bodyPr wrap="square" lIns="0" tIns="0" rIns="0" bIns="0" anchor="t">
            <a:spAutoFit/>
          </a:bodyPr>
          <a:lstStyle/>
          <a:p>
            <a:pPr algn="ctr">
              <a:lnSpc>
                <a:spcPct val="114000"/>
              </a:lnSpc>
              <a:spcBef>
                <a:spcPts val="0"/>
              </a:spcBef>
              <a:spcAft>
                <a:spcPts val="0"/>
              </a:spcAft>
            </a:pPr>
            <a:r>
              <a:rPr sz="1650" b="1">
                <a:solidFill>
                  <a:srgbClr val="192E43"/>
                </a:solidFill>
                <a:latin typeface="Arial"/>
              </a:rPr>
              <a:t>M. Benz Kautsar</a:t>
            </a:r>
          </a:p>
        </p:txBody>
      </p:sp>
      <p:cxnSp>
        <p:nvCxnSpPr>
          <p:cNvPr id="36" name="Connector 35"/>
          <p:cNvCxnSpPr/>
          <p:nvPr/>
        </p:nvCxnSpPr>
        <p:spPr>
          <a:xfrm>
            <a:off x="7516367" y="4471416"/>
            <a:ext cx="0" cy="256032"/>
          </a:xfrm>
          <a:prstGeom prst="line">
            <a:avLst/>
          </a:prstGeom>
          <a:ln w="15240">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6272783" y="4855464"/>
            <a:ext cx="2496312" cy="466344"/>
          </a:xfrm>
          <a:prstGeom prst="rect">
            <a:avLst/>
          </a:prstGeom>
          <a:noFill/>
          <a:effectLst/>
        </p:spPr>
        <p:txBody>
          <a:bodyPr wrap="square" lIns="0" tIns="0" rIns="0" bIns="0" anchor="t">
            <a:spAutoFit/>
          </a:bodyPr>
          <a:lstStyle/>
          <a:p>
            <a:pPr algn="ctr">
              <a:lnSpc>
                <a:spcPct val="115000"/>
              </a:lnSpc>
              <a:spcBef>
                <a:spcPts val="0"/>
              </a:spcBef>
              <a:spcAft>
                <a:spcPts val="0"/>
              </a:spcAft>
            </a:pPr>
            <a:r>
              <a:rPr sz="1400" b="1">
                <a:solidFill>
                  <a:srgbClr val="244CE5"/>
                </a:solidFill>
                <a:latin typeface="Arial"/>
              </a:rPr>
              <a:t>Six departmental teams</a:t>
            </a:r>
          </a:p>
        </p:txBody>
      </p:sp>
      <p:sp>
        <p:nvSpPr>
          <p:cNvPr id="38" name="TextBox 37"/>
          <p:cNvSpPr txBox="1"/>
          <p:nvPr/>
        </p:nvSpPr>
        <p:spPr>
          <a:xfrm>
            <a:off x="6300216" y="5468112"/>
            <a:ext cx="2432304" cy="676656"/>
          </a:xfrm>
          <a:prstGeom prst="rect">
            <a:avLst/>
          </a:prstGeom>
          <a:noFill/>
          <a:effectLst/>
        </p:spPr>
        <p:txBody>
          <a:bodyPr wrap="square" lIns="0" tIns="0" rIns="0" bIns="0" anchor="t">
            <a:spAutoFit/>
          </a:bodyPr>
          <a:lstStyle/>
          <a:p>
            <a:pPr algn="ctr">
              <a:lnSpc>
                <a:spcPct val="122000"/>
              </a:lnSpc>
              <a:spcBef>
                <a:spcPts val="0"/>
              </a:spcBef>
              <a:spcAft>
                <a:spcPts val="0"/>
              </a:spcAft>
            </a:pPr>
            <a:r>
              <a:rPr sz="1180" b="0">
                <a:solidFill>
                  <a:srgbClr val="5D7083"/>
                </a:solidFill>
                <a:latin typeface="Arial"/>
              </a:rPr>
              <a:t>Development · Production · Quality</a:t>
            </a:r>
          </a:p>
          <a:p>
            <a:pPr algn="ctr">
              <a:lnSpc>
                <a:spcPct val="122000"/>
              </a:lnSpc>
              <a:spcBef>
                <a:spcPts val="0"/>
              </a:spcBef>
              <a:spcAft>
                <a:spcPts val="0"/>
              </a:spcAft>
            </a:pPr>
            <a:r>
              <a:rPr sz="1180" b="0">
                <a:solidFill>
                  <a:srgbClr val="5D7083"/>
                </a:solidFill>
                <a:latin typeface="Arial"/>
              </a:rPr>
              <a:t>HRD &amp; GA · Logistics · GSE</a:t>
            </a:r>
          </a:p>
        </p:txBody>
      </p:sp>
      <p:cxnSp>
        <p:nvCxnSpPr>
          <p:cNvPr id="39" name="Connector 38"/>
          <p:cNvCxnSpPr/>
          <p:nvPr/>
        </p:nvCxnSpPr>
        <p:spPr>
          <a:xfrm>
            <a:off x="10323576" y="2990088"/>
            <a:ext cx="0" cy="356616"/>
          </a:xfrm>
          <a:prstGeom prst="line">
            <a:avLst/>
          </a:prstGeom>
          <a:ln w="17780">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40" name="Rectangle 39"/>
          <p:cNvSpPr/>
          <p:nvPr/>
        </p:nvSpPr>
        <p:spPr>
          <a:xfrm>
            <a:off x="9034272" y="3346704"/>
            <a:ext cx="2587752" cy="1124712"/>
          </a:xfrm>
          <a:prstGeom prst="rect">
            <a:avLst/>
          </a:prstGeom>
          <a:solidFill>
            <a:srgbClr val="EAF0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Rectangle 40"/>
          <p:cNvSpPr/>
          <p:nvPr/>
        </p:nvSpPr>
        <p:spPr>
          <a:xfrm>
            <a:off x="9034272" y="3346704"/>
            <a:ext cx="2587752" cy="36576"/>
          </a:xfrm>
          <a:prstGeom prst="rect">
            <a:avLst/>
          </a:prstGeom>
          <a:solidFill>
            <a:srgbClr val="244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9143999" y="3511296"/>
            <a:ext cx="2368296" cy="438912"/>
          </a:xfrm>
          <a:prstGeom prst="rect">
            <a:avLst/>
          </a:prstGeom>
          <a:noFill/>
          <a:effectLst/>
        </p:spPr>
        <p:txBody>
          <a:bodyPr wrap="square" lIns="0" tIns="0" rIns="0" bIns="0" anchor="t">
            <a:spAutoFit/>
          </a:bodyPr>
          <a:lstStyle/>
          <a:p>
            <a:pPr algn="ctr">
              <a:lnSpc>
                <a:spcPct val="115000"/>
              </a:lnSpc>
              <a:spcBef>
                <a:spcPts val="0"/>
              </a:spcBef>
              <a:spcAft>
                <a:spcPts val="0"/>
              </a:spcAft>
            </a:pPr>
            <a:r>
              <a:rPr sz="1200" b="0">
                <a:solidFill>
                  <a:srgbClr val="5D7083"/>
                </a:solidFill>
                <a:latin typeface="Arial"/>
              </a:rPr>
              <a:t>GM Admin &amp; General Affairs</a:t>
            </a:r>
          </a:p>
        </p:txBody>
      </p:sp>
      <p:sp>
        <p:nvSpPr>
          <p:cNvPr id="43" name="TextBox 42"/>
          <p:cNvSpPr txBox="1"/>
          <p:nvPr/>
        </p:nvSpPr>
        <p:spPr>
          <a:xfrm>
            <a:off x="9143999" y="4114800"/>
            <a:ext cx="2368296" cy="265265"/>
          </a:xfrm>
          <a:prstGeom prst="rect">
            <a:avLst/>
          </a:prstGeom>
          <a:noFill/>
          <a:effectLst/>
        </p:spPr>
        <p:txBody>
          <a:bodyPr wrap="square" lIns="0" tIns="0" rIns="0" bIns="0" anchor="t">
            <a:spAutoFit/>
          </a:bodyPr>
          <a:lstStyle/>
          <a:p>
            <a:pPr algn="ctr">
              <a:lnSpc>
                <a:spcPct val="114000"/>
              </a:lnSpc>
              <a:spcBef>
                <a:spcPts val="0"/>
              </a:spcBef>
              <a:spcAft>
                <a:spcPts val="0"/>
              </a:spcAft>
            </a:pPr>
            <a:r>
              <a:rPr lang="en-US" sz="1650" b="1" dirty="0">
                <a:solidFill>
                  <a:srgbClr val="192E43"/>
                </a:solidFill>
                <a:latin typeface="Arial"/>
              </a:rPr>
              <a:t>H. </a:t>
            </a:r>
            <a:r>
              <a:rPr sz="1650" b="1" dirty="0" err="1">
                <a:solidFill>
                  <a:srgbClr val="192E43"/>
                </a:solidFill>
                <a:latin typeface="Arial"/>
              </a:rPr>
              <a:t>Moersid</a:t>
            </a:r>
            <a:r>
              <a:rPr sz="1650" b="1" dirty="0">
                <a:solidFill>
                  <a:srgbClr val="192E43"/>
                </a:solidFill>
                <a:latin typeface="Arial"/>
              </a:rPr>
              <a:t> </a:t>
            </a:r>
            <a:r>
              <a:rPr sz="1650" b="1" dirty="0" err="1">
                <a:solidFill>
                  <a:srgbClr val="192E43"/>
                </a:solidFill>
                <a:latin typeface="Arial"/>
              </a:rPr>
              <a:t>Zaenal</a:t>
            </a:r>
            <a:endParaRPr sz="1650" b="1" dirty="0">
              <a:solidFill>
                <a:srgbClr val="192E43"/>
              </a:solidFill>
              <a:latin typeface="Arial"/>
            </a:endParaRPr>
          </a:p>
        </p:txBody>
      </p:sp>
      <p:sp>
        <p:nvSpPr>
          <p:cNvPr id="44" name="TextBox 43"/>
          <p:cNvSpPr txBox="1"/>
          <p:nvPr/>
        </p:nvSpPr>
        <p:spPr>
          <a:xfrm>
            <a:off x="9079992" y="4855464"/>
            <a:ext cx="2496312" cy="466344"/>
          </a:xfrm>
          <a:prstGeom prst="rect">
            <a:avLst/>
          </a:prstGeom>
          <a:noFill/>
          <a:effectLst/>
        </p:spPr>
        <p:txBody>
          <a:bodyPr wrap="square" lIns="0" tIns="0" rIns="0" bIns="0" anchor="t">
            <a:spAutoFit/>
          </a:bodyPr>
          <a:lstStyle/>
          <a:p>
            <a:pPr algn="ctr">
              <a:lnSpc>
                <a:spcPct val="115000"/>
              </a:lnSpc>
              <a:spcBef>
                <a:spcPts val="0"/>
              </a:spcBef>
              <a:spcAft>
                <a:spcPts val="0"/>
              </a:spcAft>
            </a:pPr>
            <a:r>
              <a:rPr sz="1400" b="1">
                <a:solidFill>
                  <a:srgbClr val="244CE5"/>
                </a:solidFill>
                <a:latin typeface="Arial"/>
              </a:rPr>
              <a:t>Administration &amp; general affairs</a:t>
            </a:r>
          </a:p>
        </p:txBody>
      </p:sp>
      <p:cxnSp>
        <p:nvCxnSpPr>
          <p:cNvPr id="45" name="Connector 44"/>
          <p:cNvCxnSpPr/>
          <p:nvPr/>
        </p:nvCxnSpPr>
        <p:spPr>
          <a:xfrm>
            <a:off x="6007608" y="3877056"/>
            <a:ext cx="219456" cy="0"/>
          </a:xfrm>
          <a:prstGeom prst="line">
            <a:avLst/>
          </a:prstGeom>
          <a:ln w="12700">
            <a:solidFill>
              <a:srgbClr val="8997A5"/>
            </a:solidFill>
            <a:prstDash val="dash"/>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a:off x="8814816" y="3877056"/>
            <a:ext cx="219456" cy="0"/>
          </a:xfrm>
          <a:prstGeom prst="line">
            <a:avLst/>
          </a:prstGeom>
          <a:ln w="12700">
            <a:solidFill>
              <a:srgbClr val="8997A5"/>
            </a:solidFill>
            <a:prstDash val="dash"/>
          </a:ln>
          <a:effectLst/>
        </p:spPr>
        <p:style>
          <a:lnRef idx="2">
            <a:schemeClr val="accent1"/>
          </a:lnRef>
          <a:fillRef idx="0">
            <a:schemeClr val="accent1"/>
          </a:fillRef>
          <a:effectRef idx="0">
            <a:schemeClr val="accent1"/>
          </a:effectRef>
          <a:fontRef idx="minor">
            <a:schemeClr val="tx1"/>
          </a:fontRef>
        </p:style>
      </p:cxn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ORGANIZATION</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Department organization</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Business Development &amp; Quality Technology • M. Benz Kautsar</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ORGANIZATION</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08</a:t>
            </a:r>
          </a:p>
        </p:txBody>
      </p:sp>
      <p:sp>
        <p:nvSpPr>
          <p:cNvPr id="10" name="Rectangle 9"/>
          <p:cNvSpPr/>
          <p:nvPr/>
        </p:nvSpPr>
        <p:spPr>
          <a:xfrm>
            <a:off x="594360" y="2039112"/>
            <a:ext cx="1668780" cy="777240"/>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667512" y="2167128"/>
            <a:ext cx="1522476" cy="246888"/>
          </a:xfrm>
          <a:prstGeom prst="rect">
            <a:avLst/>
          </a:prstGeom>
          <a:noFill/>
          <a:effectLst/>
        </p:spPr>
        <p:txBody>
          <a:bodyPr wrap="square" lIns="0" tIns="0" rIns="0" bIns="0" anchor="t">
            <a:spAutoFit/>
          </a:bodyPr>
          <a:lstStyle/>
          <a:p>
            <a:pPr algn="ctr">
              <a:lnSpc>
                <a:spcPct val="103000"/>
              </a:lnSpc>
              <a:spcBef>
                <a:spcPts val="0"/>
              </a:spcBef>
              <a:spcAft>
                <a:spcPts val="0"/>
              </a:spcAft>
            </a:pPr>
            <a:r>
              <a:rPr sz="1000" b="1">
                <a:solidFill>
                  <a:srgbClr val="48D0DF"/>
                </a:solidFill>
                <a:latin typeface="Arial"/>
              </a:rPr>
              <a:t>ASMEN DEVELOPMENT</a:t>
            </a:r>
          </a:p>
        </p:txBody>
      </p:sp>
      <p:sp>
        <p:nvSpPr>
          <p:cNvPr id="12" name="TextBox 11"/>
          <p:cNvSpPr txBox="1"/>
          <p:nvPr/>
        </p:nvSpPr>
        <p:spPr>
          <a:xfrm>
            <a:off x="667512" y="2523744"/>
            <a:ext cx="1522476" cy="228600"/>
          </a:xfrm>
          <a:prstGeom prst="rect">
            <a:avLst/>
          </a:prstGeom>
          <a:noFill/>
          <a:effectLst/>
        </p:spPr>
        <p:txBody>
          <a:bodyPr wrap="square" lIns="0" tIns="0" rIns="0" bIns="0" anchor="t">
            <a:spAutoFit/>
          </a:bodyPr>
          <a:lstStyle/>
          <a:p>
            <a:pPr algn="ctr">
              <a:lnSpc>
                <a:spcPct val="114000"/>
              </a:lnSpc>
              <a:spcBef>
                <a:spcPts val="0"/>
              </a:spcBef>
              <a:spcAft>
                <a:spcPts val="0"/>
              </a:spcAft>
            </a:pPr>
            <a:r>
              <a:rPr sz="1500" b="1">
                <a:solidFill>
                  <a:srgbClr val="FFFFFF"/>
                </a:solidFill>
                <a:latin typeface="Arial"/>
              </a:rPr>
              <a:t>Rasyidin</a:t>
            </a:r>
          </a:p>
        </p:txBody>
      </p:sp>
      <p:cxnSp>
        <p:nvCxnSpPr>
          <p:cNvPr id="13" name="Connector 12"/>
          <p:cNvCxnSpPr/>
          <p:nvPr/>
        </p:nvCxnSpPr>
        <p:spPr>
          <a:xfrm>
            <a:off x="1428750" y="2816352"/>
            <a:ext cx="0" cy="109728"/>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635508" y="2926080"/>
            <a:ext cx="793242"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635508" y="2926080"/>
            <a:ext cx="0" cy="230886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635508" y="3328416"/>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17" name="Rectangle 16"/>
          <p:cNvSpPr/>
          <p:nvPr/>
        </p:nvSpPr>
        <p:spPr>
          <a:xfrm>
            <a:off x="749808" y="3063240"/>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822960" y="3131820"/>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Spv. PE &amp; Expose</a:t>
            </a:r>
          </a:p>
        </p:txBody>
      </p:sp>
      <p:sp>
        <p:nvSpPr>
          <p:cNvPr id="19" name="TextBox 18"/>
          <p:cNvSpPr txBox="1"/>
          <p:nvPr/>
        </p:nvSpPr>
        <p:spPr>
          <a:xfrm>
            <a:off x="795528" y="3346704"/>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Anton S</a:t>
            </a:r>
          </a:p>
        </p:txBody>
      </p:sp>
      <p:cxnSp>
        <p:nvCxnSpPr>
          <p:cNvPr id="20" name="Connector 19"/>
          <p:cNvCxnSpPr/>
          <p:nvPr/>
        </p:nvCxnSpPr>
        <p:spPr>
          <a:xfrm>
            <a:off x="635508" y="3963924"/>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21" name="Rectangle 20"/>
          <p:cNvSpPr/>
          <p:nvPr/>
        </p:nvSpPr>
        <p:spPr>
          <a:xfrm>
            <a:off x="749808" y="3698748"/>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822960" y="3767328"/>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Spv. Tech. Support</a:t>
            </a:r>
          </a:p>
        </p:txBody>
      </p:sp>
      <p:sp>
        <p:nvSpPr>
          <p:cNvPr id="23" name="TextBox 22"/>
          <p:cNvSpPr txBox="1"/>
          <p:nvPr/>
        </p:nvSpPr>
        <p:spPr>
          <a:xfrm>
            <a:off x="795528" y="3982211"/>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Agus</a:t>
            </a:r>
          </a:p>
        </p:txBody>
      </p:sp>
      <p:cxnSp>
        <p:nvCxnSpPr>
          <p:cNvPr id="24" name="Connector 23"/>
          <p:cNvCxnSpPr/>
          <p:nvPr/>
        </p:nvCxnSpPr>
        <p:spPr>
          <a:xfrm>
            <a:off x="635508" y="4599432"/>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25" name="Rectangle 24"/>
          <p:cNvSpPr/>
          <p:nvPr/>
        </p:nvSpPr>
        <p:spPr>
          <a:xfrm>
            <a:off x="749808" y="4334256"/>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822960" y="4402836"/>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Color Mixing</a:t>
            </a:r>
          </a:p>
        </p:txBody>
      </p:sp>
      <p:sp>
        <p:nvSpPr>
          <p:cNvPr id="27" name="TextBox 26"/>
          <p:cNvSpPr txBox="1"/>
          <p:nvPr/>
        </p:nvSpPr>
        <p:spPr>
          <a:xfrm>
            <a:off x="795528" y="4617720"/>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Sofian / Suhendar</a:t>
            </a:r>
          </a:p>
        </p:txBody>
      </p:sp>
      <p:cxnSp>
        <p:nvCxnSpPr>
          <p:cNvPr id="28" name="Connector 27"/>
          <p:cNvCxnSpPr/>
          <p:nvPr/>
        </p:nvCxnSpPr>
        <p:spPr>
          <a:xfrm>
            <a:off x="635508" y="5234940"/>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29" name="Rectangle 28"/>
          <p:cNvSpPr/>
          <p:nvPr/>
        </p:nvSpPr>
        <p:spPr>
          <a:xfrm>
            <a:off x="749808" y="4969764"/>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822960" y="5038344"/>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Design</a:t>
            </a:r>
          </a:p>
        </p:txBody>
      </p:sp>
      <p:sp>
        <p:nvSpPr>
          <p:cNvPr id="31" name="TextBox 30"/>
          <p:cNvSpPr txBox="1"/>
          <p:nvPr/>
        </p:nvSpPr>
        <p:spPr>
          <a:xfrm>
            <a:off x="795528" y="5253228"/>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Amar</a:t>
            </a:r>
          </a:p>
        </p:txBody>
      </p:sp>
      <p:sp>
        <p:nvSpPr>
          <p:cNvPr id="32" name="Rectangle 31"/>
          <p:cNvSpPr/>
          <p:nvPr/>
        </p:nvSpPr>
        <p:spPr>
          <a:xfrm>
            <a:off x="2462479" y="2039112"/>
            <a:ext cx="1668780" cy="777240"/>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2535631" y="2167128"/>
            <a:ext cx="1522476" cy="246888"/>
          </a:xfrm>
          <a:prstGeom prst="rect">
            <a:avLst/>
          </a:prstGeom>
          <a:noFill/>
          <a:effectLst/>
        </p:spPr>
        <p:txBody>
          <a:bodyPr wrap="square" lIns="0" tIns="0" rIns="0" bIns="0" anchor="t">
            <a:spAutoFit/>
          </a:bodyPr>
          <a:lstStyle/>
          <a:p>
            <a:pPr algn="ctr">
              <a:lnSpc>
                <a:spcPct val="103000"/>
              </a:lnSpc>
              <a:spcBef>
                <a:spcPts val="0"/>
              </a:spcBef>
              <a:spcAft>
                <a:spcPts val="0"/>
              </a:spcAft>
            </a:pPr>
            <a:r>
              <a:rPr sz="1000" b="1">
                <a:solidFill>
                  <a:srgbClr val="48D0DF"/>
                </a:solidFill>
                <a:latin typeface="Arial"/>
              </a:rPr>
              <a:t>ASMEN PRODUCTION</a:t>
            </a:r>
          </a:p>
        </p:txBody>
      </p:sp>
      <p:sp>
        <p:nvSpPr>
          <p:cNvPr id="34" name="TextBox 33"/>
          <p:cNvSpPr txBox="1"/>
          <p:nvPr/>
        </p:nvSpPr>
        <p:spPr>
          <a:xfrm>
            <a:off x="2535631" y="2523744"/>
            <a:ext cx="1522476" cy="228600"/>
          </a:xfrm>
          <a:prstGeom prst="rect">
            <a:avLst/>
          </a:prstGeom>
          <a:noFill/>
          <a:effectLst/>
        </p:spPr>
        <p:txBody>
          <a:bodyPr wrap="square" lIns="0" tIns="0" rIns="0" bIns="0" anchor="t">
            <a:spAutoFit/>
          </a:bodyPr>
          <a:lstStyle/>
          <a:p>
            <a:pPr algn="ctr">
              <a:lnSpc>
                <a:spcPct val="114000"/>
              </a:lnSpc>
              <a:spcBef>
                <a:spcPts val="0"/>
              </a:spcBef>
              <a:spcAft>
                <a:spcPts val="0"/>
              </a:spcAft>
            </a:pPr>
            <a:r>
              <a:rPr sz="1500" b="1">
                <a:solidFill>
                  <a:srgbClr val="FFFFFF"/>
                </a:solidFill>
                <a:latin typeface="Arial"/>
              </a:rPr>
              <a:t>Eko. S</a:t>
            </a:r>
          </a:p>
        </p:txBody>
      </p:sp>
      <p:cxnSp>
        <p:nvCxnSpPr>
          <p:cNvPr id="35" name="Connector 34"/>
          <p:cNvCxnSpPr/>
          <p:nvPr/>
        </p:nvCxnSpPr>
        <p:spPr>
          <a:xfrm>
            <a:off x="3296869" y="2816352"/>
            <a:ext cx="0" cy="109728"/>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a:off x="2503627" y="2926080"/>
            <a:ext cx="793242"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a:off x="2503627" y="2926080"/>
            <a:ext cx="0" cy="1673352"/>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38" name="Connector 37"/>
          <p:cNvCxnSpPr/>
          <p:nvPr/>
        </p:nvCxnSpPr>
        <p:spPr>
          <a:xfrm>
            <a:off x="2503627" y="3328416"/>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39" name="Rectangle 38"/>
          <p:cNvSpPr/>
          <p:nvPr/>
        </p:nvSpPr>
        <p:spPr>
          <a:xfrm>
            <a:off x="2617927" y="3063240"/>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691079" y="3131820"/>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Spv. Printing</a:t>
            </a:r>
          </a:p>
        </p:txBody>
      </p:sp>
      <p:sp>
        <p:nvSpPr>
          <p:cNvPr id="41" name="TextBox 40"/>
          <p:cNvSpPr txBox="1"/>
          <p:nvPr/>
        </p:nvSpPr>
        <p:spPr>
          <a:xfrm>
            <a:off x="2663647" y="3346704"/>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Muslikin</a:t>
            </a:r>
          </a:p>
        </p:txBody>
      </p:sp>
      <p:cxnSp>
        <p:nvCxnSpPr>
          <p:cNvPr id="42" name="Connector 41"/>
          <p:cNvCxnSpPr/>
          <p:nvPr/>
        </p:nvCxnSpPr>
        <p:spPr>
          <a:xfrm>
            <a:off x="2503627" y="3963924"/>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43" name="Rectangle 42"/>
          <p:cNvSpPr/>
          <p:nvPr/>
        </p:nvSpPr>
        <p:spPr>
          <a:xfrm>
            <a:off x="2617927" y="3698748"/>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2691079" y="3767328"/>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Spv. Finishing</a:t>
            </a:r>
          </a:p>
        </p:txBody>
      </p:sp>
      <p:sp>
        <p:nvSpPr>
          <p:cNvPr id="45" name="TextBox 44"/>
          <p:cNvSpPr txBox="1"/>
          <p:nvPr/>
        </p:nvSpPr>
        <p:spPr>
          <a:xfrm>
            <a:off x="2663647" y="3982211"/>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Koko B</a:t>
            </a:r>
          </a:p>
        </p:txBody>
      </p:sp>
      <p:cxnSp>
        <p:nvCxnSpPr>
          <p:cNvPr id="46" name="Connector 45"/>
          <p:cNvCxnSpPr/>
          <p:nvPr/>
        </p:nvCxnSpPr>
        <p:spPr>
          <a:xfrm>
            <a:off x="2503627" y="4599432"/>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47" name="Rectangle 46"/>
          <p:cNvSpPr/>
          <p:nvPr/>
        </p:nvSpPr>
        <p:spPr>
          <a:xfrm>
            <a:off x="2617927" y="4334256"/>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691079" y="4402836"/>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Spv. Dome</a:t>
            </a:r>
          </a:p>
        </p:txBody>
      </p:sp>
      <p:sp>
        <p:nvSpPr>
          <p:cNvPr id="49" name="TextBox 48"/>
          <p:cNvSpPr txBox="1"/>
          <p:nvPr/>
        </p:nvSpPr>
        <p:spPr>
          <a:xfrm>
            <a:off x="2663647" y="4617720"/>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Yulianto</a:t>
            </a:r>
          </a:p>
        </p:txBody>
      </p:sp>
      <p:sp>
        <p:nvSpPr>
          <p:cNvPr id="50" name="Rectangle 49"/>
          <p:cNvSpPr/>
          <p:nvPr/>
        </p:nvSpPr>
        <p:spPr>
          <a:xfrm>
            <a:off x="4330598" y="2039112"/>
            <a:ext cx="1668780" cy="777240"/>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1" name="TextBox 50"/>
          <p:cNvSpPr txBox="1"/>
          <p:nvPr/>
        </p:nvSpPr>
        <p:spPr>
          <a:xfrm>
            <a:off x="4403750" y="2167128"/>
            <a:ext cx="1522476" cy="246888"/>
          </a:xfrm>
          <a:prstGeom prst="rect">
            <a:avLst/>
          </a:prstGeom>
          <a:noFill/>
          <a:effectLst/>
        </p:spPr>
        <p:txBody>
          <a:bodyPr wrap="square" lIns="0" tIns="0" rIns="0" bIns="0" anchor="t">
            <a:spAutoFit/>
          </a:bodyPr>
          <a:lstStyle/>
          <a:p>
            <a:pPr algn="ctr">
              <a:lnSpc>
                <a:spcPct val="103000"/>
              </a:lnSpc>
              <a:spcBef>
                <a:spcPts val="0"/>
              </a:spcBef>
              <a:spcAft>
                <a:spcPts val="0"/>
              </a:spcAft>
            </a:pPr>
            <a:r>
              <a:rPr sz="1000" b="1">
                <a:solidFill>
                  <a:srgbClr val="48D0DF"/>
                </a:solidFill>
                <a:latin typeface="Arial"/>
              </a:rPr>
              <a:t>ASMEN QUALITY</a:t>
            </a:r>
          </a:p>
        </p:txBody>
      </p:sp>
      <p:sp>
        <p:nvSpPr>
          <p:cNvPr id="52" name="TextBox 51"/>
          <p:cNvSpPr txBox="1"/>
          <p:nvPr/>
        </p:nvSpPr>
        <p:spPr>
          <a:xfrm>
            <a:off x="4403750" y="2523744"/>
            <a:ext cx="1522476" cy="228600"/>
          </a:xfrm>
          <a:prstGeom prst="rect">
            <a:avLst/>
          </a:prstGeom>
          <a:noFill/>
          <a:effectLst/>
        </p:spPr>
        <p:txBody>
          <a:bodyPr wrap="square" lIns="0" tIns="0" rIns="0" bIns="0" anchor="t">
            <a:spAutoFit/>
          </a:bodyPr>
          <a:lstStyle/>
          <a:p>
            <a:pPr algn="ctr">
              <a:lnSpc>
                <a:spcPct val="114000"/>
              </a:lnSpc>
              <a:spcBef>
                <a:spcPts val="0"/>
              </a:spcBef>
              <a:spcAft>
                <a:spcPts val="0"/>
              </a:spcAft>
            </a:pPr>
            <a:r>
              <a:rPr sz="1500" b="1">
                <a:solidFill>
                  <a:srgbClr val="FFFFFF"/>
                </a:solidFill>
                <a:latin typeface="Arial"/>
              </a:rPr>
              <a:t>Surono</a:t>
            </a:r>
          </a:p>
        </p:txBody>
      </p:sp>
      <p:cxnSp>
        <p:nvCxnSpPr>
          <p:cNvPr id="53" name="Connector 52"/>
          <p:cNvCxnSpPr/>
          <p:nvPr/>
        </p:nvCxnSpPr>
        <p:spPr>
          <a:xfrm>
            <a:off x="5164988" y="2816352"/>
            <a:ext cx="0" cy="109728"/>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a:off x="4371746" y="2926080"/>
            <a:ext cx="793242"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55" name="Connector 54"/>
          <p:cNvCxnSpPr/>
          <p:nvPr/>
        </p:nvCxnSpPr>
        <p:spPr>
          <a:xfrm>
            <a:off x="4371746" y="2926080"/>
            <a:ext cx="0" cy="1037844"/>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56" name="Connector 55"/>
          <p:cNvCxnSpPr/>
          <p:nvPr/>
        </p:nvCxnSpPr>
        <p:spPr>
          <a:xfrm>
            <a:off x="4371746" y="3328416"/>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57" name="Rectangle 56"/>
          <p:cNvSpPr/>
          <p:nvPr/>
        </p:nvSpPr>
        <p:spPr>
          <a:xfrm>
            <a:off x="4486046" y="3063240"/>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8" name="TextBox 57"/>
          <p:cNvSpPr txBox="1"/>
          <p:nvPr/>
        </p:nvSpPr>
        <p:spPr>
          <a:xfrm>
            <a:off x="4559198" y="3131820"/>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Spv. QC</a:t>
            </a:r>
          </a:p>
        </p:txBody>
      </p:sp>
      <p:sp>
        <p:nvSpPr>
          <p:cNvPr id="59" name="TextBox 58"/>
          <p:cNvSpPr txBox="1"/>
          <p:nvPr/>
        </p:nvSpPr>
        <p:spPr>
          <a:xfrm>
            <a:off x="4531766" y="3346704"/>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M. Diaelani</a:t>
            </a:r>
          </a:p>
        </p:txBody>
      </p:sp>
      <p:cxnSp>
        <p:nvCxnSpPr>
          <p:cNvPr id="60" name="Connector 59"/>
          <p:cNvCxnSpPr/>
          <p:nvPr/>
        </p:nvCxnSpPr>
        <p:spPr>
          <a:xfrm>
            <a:off x="4371746" y="3963924"/>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61" name="Rectangle 60"/>
          <p:cNvSpPr/>
          <p:nvPr/>
        </p:nvSpPr>
        <p:spPr>
          <a:xfrm>
            <a:off x="4486046" y="3698748"/>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4559198" y="3767328"/>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Spv. QA</a:t>
            </a:r>
          </a:p>
        </p:txBody>
      </p:sp>
      <p:sp>
        <p:nvSpPr>
          <p:cNvPr id="63" name="TextBox 62"/>
          <p:cNvSpPr txBox="1"/>
          <p:nvPr/>
        </p:nvSpPr>
        <p:spPr>
          <a:xfrm>
            <a:off x="4531766" y="3982211"/>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Dicky</a:t>
            </a:r>
          </a:p>
        </p:txBody>
      </p:sp>
      <p:sp>
        <p:nvSpPr>
          <p:cNvPr id="64" name="Rectangle 63"/>
          <p:cNvSpPr/>
          <p:nvPr/>
        </p:nvSpPr>
        <p:spPr>
          <a:xfrm>
            <a:off x="6198717" y="2039112"/>
            <a:ext cx="1668780" cy="777240"/>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6271869" y="2167128"/>
            <a:ext cx="1522476" cy="246888"/>
          </a:xfrm>
          <a:prstGeom prst="rect">
            <a:avLst/>
          </a:prstGeom>
          <a:noFill/>
          <a:effectLst/>
        </p:spPr>
        <p:txBody>
          <a:bodyPr wrap="square" lIns="0" tIns="0" rIns="0" bIns="0" anchor="t">
            <a:spAutoFit/>
          </a:bodyPr>
          <a:lstStyle/>
          <a:p>
            <a:pPr algn="ctr">
              <a:lnSpc>
                <a:spcPct val="103000"/>
              </a:lnSpc>
              <a:spcBef>
                <a:spcPts val="0"/>
              </a:spcBef>
              <a:spcAft>
                <a:spcPts val="0"/>
              </a:spcAft>
            </a:pPr>
            <a:r>
              <a:rPr sz="1000" b="1">
                <a:solidFill>
                  <a:srgbClr val="48D0DF"/>
                </a:solidFill>
                <a:latin typeface="Arial"/>
              </a:rPr>
              <a:t>ASMEN HRD &amp; GA</a:t>
            </a:r>
          </a:p>
        </p:txBody>
      </p:sp>
      <p:sp>
        <p:nvSpPr>
          <p:cNvPr id="66" name="TextBox 65"/>
          <p:cNvSpPr txBox="1"/>
          <p:nvPr/>
        </p:nvSpPr>
        <p:spPr>
          <a:xfrm>
            <a:off x="6271869" y="2523744"/>
            <a:ext cx="1522476" cy="228600"/>
          </a:xfrm>
          <a:prstGeom prst="rect">
            <a:avLst/>
          </a:prstGeom>
          <a:noFill/>
          <a:effectLst/>
        </p:spPr>
        <p:txBody>
          <a:bodyPr wrap="square" lIns="0" tIns="0" rIns="0" bIns="0" anchor="t">
            <a:spAutoFit/>
          </a:bodyPr>
          <a:lstStyle/>
          <a:p>
            <a:pPr algn="ctr">
              <a:lnSpc>
                <a:spcPct val="114000"/>
              </a:lnSpc>
              <a:spcBef>
                <a:spcPts val="0"/>
              </a:spcBef>
              <a:spcAft>
                <a:spcPts val="0"/>
              </a:spcAft>
            </a:pPr>
            <a:r>
              <a:rPr sz="1500" b="1">
                <a:solidFill>
                  <a:srgbClr val="FFFFFF"/>
                </a:solidFill>
                <a:latin typeface="Arial"/>
              </a:rPr>
              <a:t>Ismanto</a:t>
            </a:r>
          </a:p>
        </p:txBody>
      </p:sp>
      <p:cxnSp>
        <p:nvCxnSpPr>
          <p:cNvPr id="67" name="Connector 66"/>
          <p:cNvCxnSpPr/>
          <p:nvPr/>
        </p:nvCxnSpPr>
        <p:spPr>
          <a:xfrm>
            <a:off x="7033107" y="2816352"/>
            <a:ext cx="0" cy="109728"/>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68" name="Connector 67"/>
          <p:cNvCxnSpPr/>
          <p:nvPr/>
        </p:nvCxnSpPr>
        <p:spPr>
          <a:xfrm>
            <a:off x="6239865" y="2926080"/>
            <a:ext cx="793242"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69" name="Connector 68"/>
          <p:cNvCxnSpPr/>
          <p:nvPr/>
        </p:nvCxnSpPr>
        <p:spPr>
          <a:xfrm>
            <a:off x="6239865" y="2926080"/>
            <a:ext cx="0" cy="1037844"/>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a:off x="6239865" y="3328416"/>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71" name="Rectangle 70"/>
          <p:cNvSpPr/>
          <p:nvPr/>
        </p:nvSpPr>
        <p:spPr>
          <a:xfrm>
            <a:off x="6354165" y="3063240"/>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2" name="TextBox 71"/>
          <p:cNvSpPr txBox="1"/>
          <p:nvPr/>
        </p:nvSpPr>
        <p:spPr>
          <a:xfrm>
            <a:off x="6427317" y="3131820"/>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Spv. GA &amp; ISO</a:t>
            </a:r>
          </a:p>
        </p:txBody>
      </p:sp>
      <p:sp>
        <p:nvSpPr>
          <p:cNvPr id="73" name="TextBox 72"/>
          <p:cNvSpPr txBox="1"/>
          <p:nvPr/>
        </p:nvSpPr>
        <p:spPr>
          <a:xfrm>
            <a:off x="6399885" y="3346704"/>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Nur Misbah</a:t>
            </a:r>
          </a:p>
        </p:txBody>
      </p:sp>
      <p:cxnSp>
        <p:nvCxnSpPr>
          <p:cNvPr id="74" name="Connector 73"/>
          <p:cNvCxnSpPr/>
          <p:nvPr/>
        </p:nvCxnSpPr>
        <p:spPr>
          <a:xfrm>
            <a:off x="6239865" y="3963924"/>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75" name="Rectangle 74"/>
          <p:cNvSpPr/>
          <p:nvPr/>
        </p:nvSpPr>
        <p:spPr>
          <a:xfrm>
            <a:off x="6354165" y="3698748"/>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6427317" y="3767328"/>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Spv. HRD</a:t>
            </a:r>
          </a:p>
        </p:txBody>
      </p:sp>
      <p:sp>
        <p:nvSpPr>
          <p:cNvPr id="77" name="TextBox 76"/>
          <p:cNvSpPr txBox="1"/>
          <p:nvPr/>
        </p:nvSpPr>
        <p:spPr>
          <a:xfrm>
            <a:off x="6399885" y="3982211"/>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Esti Waluyanti</a:t>
            </a:r>
          </a:p>
        </p:txBody>
      </p:sp>
      <p:sp>
        <p:nvSpPr>
          <p:cNvPr id="78" name="Rectangle 77"/>
          <p:cNvSpPr/>
          <p:nvPr/>
        </p:nvSpPr>
        <p:spPr>
          <a:xfrm>
            <a:off x="8066836" y="2039112"/>
            <a:ext cx="1668780" cy="777240"/>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9" name="TextBox 78"/>
          <p:cNvSpPr txBox="1"/>
          <p:nvPr/>
        </p:nvSpPr>
        <p:spPr>
          <a:xfrm>
            <a:off x="8139988" y="2167128"/>
            <a:ext cx="1522476" cy="246888"/>
          </a:xfrm>
          <a:prstGeom prst="rect">
            <a:avLst/>
          </a:prstGeom>
          <a:noFill/>
          <a:effectLst/>
        </p:spPr>
        <p:txBody>
          <a:bodyPr wrap="square" lIns="0" tIns="0" rIns="0" bIns="0" anchor="t">
            <a:spAutoFit/>
          </a:bodyPr>
          <a:lstStyle/>
          <a:p>
            <a:pPr algn="ctr">
              <a:lnSpc>
                <a:spcPct val="103000"/>
              </a:lnSpc>
              <a:spcBef>
                <a:spcPts val="0"/>
              </a:spcBef>
              <a:spcAft>
                <a:spcPts val="0"/>
              </a:spcAft>
            </a:pPr>
            <a:r>
              <a:rPr sz="1000" b="1">
                <a:solidFill>
                  <a:srgbClr val="48D0DF"/>
                </a:solidFill>
                <a:latin typeface="Arial"/>
              </a:rPr>
              <a:t>ASMEN LOGISTICS</a:t>
            </a:r>
          </a:p>
        </p:txBody>
      </p:sp>
      <p:sp>
        <p:nvSpPr>
          <p:cNvPr id="80" name="TextBox 79"/>
          <p:cNvSpPr txBox="1"/>
          <p:nvPr/>
        </p:nvSpPr>
        <p:spPr>
          <a:xfrm>
            <a:off x="8139988" y="2523744"/>
            <a:ext cx="1522476" cy="228600"/>
          </a:xfrm>
          <a:prstGeom prst="rect">
            <a:avLst/>
          </a:prstGeom>
          <a:noFill/>
          <a:effectLst/>
        </p:spPr>
        <p:txBody>
          <a:bodyPr wrap="square" lIns="0" tIns="0" rIns="0" bIns="0" anchor="t">
            <a:spAutoFit/>
          </a:bodyPr>
          <a:lstStyle/>
          <a:p>
            <a:pPr algn="ctr">
              <a:lnSpc>
                <a:spcPct val="114000"/>
              </a:lnSpc>
              <a:spcBef>
                <a:spcPts val="0"/>
              </a:spcBef>
              <a:spcAft>
                <a:spcPts val="0"/>
              </a:spcAft>
            </a:pPr>
            <a:r>
              <a:rPr sz="1500" b="1">
                <a:solidFill>
                  <a:srgbClr val="FFFFFF"/>
                </a:solidFill>
                <a:latin typeface="Arial"/>
              </a:rPr>
              <a:t>Sopian H</a:t>
            </a:r>
          </a:p>
        </p:txBody>
      </p:sp>
      <p:cxnSp>
        <p:nvCxnSpPr>
          <p:cNvPr id="81" name="Connector 80"/>
          <p:cNvCxnSpPr/>
          <p:nvPr/>
        </p:nvCxnSpPr>
        <p:spPr>
          <a:xfrm>
            <a:off x="8901226" y="2816352"/>
            <a:ext cx="0" cy="109728"/>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8107984" y="2926080"/>
            <a:ext cx="793242"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8107984" y="2926080"/>
            <a:ext cx="0" cy="2944368"/>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8107984" y="3328416"/>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8222284" y="3063240"/>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8295436" y="3131820"/>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Spv. Inv. Control</a:t>
            </a:r>
          </a:p>
        </p:txBody>
      </p:sp>
      <p:sp>
        <p:nvSpPr>
          <p:cNvPr id="87" name="TextBox 86"/>
          <p:cNvSpPr txBox="1"/>
          <p:nvPr/>
        </p:nvSpPr>
        <p:spPr>
          <a:xfrm>
            <a:off x="8268004" y="3346704"/>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Sukamto</a:t>
            </a:r>
          </a:p>
        </p:txBody>
      </p:sp>
      <p:cxnSp>
        <p:nvCxnSpPr>
          <p:cNvPr id="88" name="Connector 87"/>
          <p:cNvCxnSpPr/>
          <p:nvPr/>
        </p:nvCxnSpPr>
        <p:spPr>
          <a:xfrm>
            <a:off x="8107984" y="3963924"/>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8222284" y="3698748"/>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8295436" y="3767328"/>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CS</a:t>
            </a:r>
          </a:p>
        </p:txBody>
      </p:sp>
      <p:sp>
        <p:nvSpPr>
          <p:cNvPr id="91" name="TextBox 90"/>
          <p:cNvSpPr txBox="1"/>
          <p:nvPr/>
        </p:nvSpPr>
        <p:spPr>
          <a:xfrm>
            <a:off x="8268004" y="3982211"/>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Sanas</a:t>
            </a:r>
          </a:p>
        </p:txBody>
      </p:sp>
      <p:cxnSp>
        <p:nvCxnSpPr>
          <p:cNvPr id="92" name="Connector 91"/>
          <p:cNvCxnSpPr/>
          <p:nvPr/>
        </p:nvCxnSpPr>
        <p:spPr>
          <a:xfrm>
            <a:off x="8107984" y="4599432"/>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93" name="Rectangle 92"/>
          <p:cNvSpPr/>
          <p:nvPr/>
        </p:nvSpPr>
        <p:spPr>
          <a:xfrm>
            <a:off x="8222284" y="4334256"/>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8295436" y="4402836"/>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Spv. Purchasing</a:t>
            </a:r>
          </a:p>
        </p:txBody>
      </p:sp>
      <p:sp>
        <p:nvSpPr>
          <p:cNvPr id="95" name="TextBox 94"/>
          <p:cNvSpPr txBox="1"/>
          <p:nvPr/>
        </p:nvSpPr>
        <p:spPr>
          <a:xfrm>
            <a:off x="8268004" y="4617720"/>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Andry</a:t>
            </a:r>
          </a:p>
        </p:txBody>
      </p:sp>
      <p:cxnSp>
        <p:nvCxnSpPr>
          <p:cNvPr id="96" name="Connector 95"/>
          <p:cNvCxnSpPr/>
          <p:nvPr/>
        </p:nvCxnSpPr>
        <p:spPr>
          <a:xfrm>
            <a:off x="8107984" y="5234940"/>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97" name="Rectangle 96"/>
          <p:cNvSpPr/>
          <p:nvPr/>
        </p:nvSpPr>
        <p:spPr>
          <a:xfrm>
            <a:off x="8222284" y="4969764"/>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8295436" y="5038344"/>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Sparepart</a:t>
            </a:r>
          </a:p>
        </p:txBody>
      </p:sp>
      <p:sp>
        <p:nvSpPr>
          <p:cNvPr id="99" name="TextBox 98"/>
          <p:cNvSpPr txBox="1"/>
          <p:nvPr/>
        </p:nvSpPr>
        <p:spPr>
          <a:xfrm>
            <a:off x="8268004" y="5253228"/>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Rakijan</a:t>
            </a:r>
          </a:p>
        </p:txBody>
      </p:sp>
      <p:cxnSp>
        <p:nvCxnSpPr>
          <p:cNvPr id="100" name="Connector 99"/>
          <p:cNvCxnSpPr/>
          <p:nvPr/>
        </p:nvCxnSpPr>
        <p:spPr>
          <a:xfrm>
            <a:off x="8107984" y="5870448"/>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101" name="Rectangle 100"/>
          <p:cNvSpPr/>
          <p:nvPr/>
        </p:nvSpPr>
        <p:spPr>
          <a:xfrm>
            <a:off x="8222284" y="5605272"/>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2" name="TextBox 101"/>
          <p:cNvSpPr txBox="1"/>
          <p:nvPr/>
        </p:nvSpPr>
        <p:spPr>
          <a:xfrm>
            <a:off x="8295436" y="5673852"/>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Spv. PPC</a:t>
            </a:r>
          </a:p>
        </p:txBody>
      </p:sp>
      <p:sp>
        <p:nvSpPr>
          <p:cNvPr id="103" name="TextBox 102"/>
          <p:cNvSpPr txBox="1"/>
          <p:nvPr/>
        </p:nvSpPr>
        <p:spPr>
          <a:xfrm>
            <a:off x="8268004" y="5888736"/>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Aristur W</a:t>
            </a:r>
          </a:p>
        </p:txBody>
      </p:sp>
      <p:sp>
        <p:nvSpPr>
          <p:cNvPr id="104" name="Rectangle 103"/>
          <p:cNvSpPr/>
          <p:nvPr/>
        </p:nvSpPr>
        <p:spPr>
          <a:xfrm>
            <a:off x="9934956" y="2039112"/>
            <a:ext cx="1668780" cy="777240"/>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10008108" y="2167128"/>
            <a:ext cx="1522476" cy="246888"/>
          </a:xfrm>
          <a:prstGeom prst="rect">
            <a:avLst/>
          </a:prstGeom>
          <a:noFill/>
          <a:effectLst/>
        </p:spPr>
        <p:txBody>
          <a:bodyPr wrap="square" lIns="0" tIns="0" rIns="0" bIns="0" anchor="t">
            <a:spAutoFit/>
          </a:bodyPr>
          <a:lstStyle/>
          <a:p>
            <a:pPr algn="ctr">
              <a:lnSpc>
                <a:spcPct val="103000"/>
              </a:lnSpc>
              <a:spcBef>
                <a:spcPts val="0"/>
              </a:spcBef>
              <a:spcAft>
                <a:spcPts val="0"/>
              </a:spcAft>
            </a:pPr>
            <a:r>
              <a:rPr sz="1000" b="1">
                <a:solidFill>
                  <a:srgbClr val="48D0DF"/>
                </a:solidFill>
                <a:latin typeface="Arial"/>
              </a:rPr>
              <a:t>ASMEN GSE</a:t>
            </a:r>
          </a:p>
        </p:txBody>
      </p:sp>
      <p:sp>
        <p:nvSpPr>
          <p:cNvPr id="106" name="TextBox 105"/>
          <p:cNvSpPr txBox="1"/>
          <p:nvPr/>
        </p:nvSpPr>
        <p:spPr>
          <a:xfrm>
            <a:off x="10008108" y="2523744"/>
            <a:ext cx="1522476" cy="228600"/>
          </a:xfrm>
          <a:prstGeom prst="rect">
            <a:avLst/>
          </a:prstGeom>
          <a:noFill/>
          <a:effectLst/>
        </p:spPr>
        <p:txBody>
          <a:bodyPr wrap="square" lIns="0" tIns="0" rIns="0" bIns="0" anchor="t">
            <a:spAutoFit/>
          </a:bodyPr>
          <a:lstStyle/>
          <a:p>
            <a:pPr algn="ctr">
              <a:lnSpc>
                <a:spcPct val="114000"/>
              </a:lnSpc>
              <a:spcBef>
                <a:spcPts val="0"/>
              </a:spcBef>
              <a:spcAft>
                <a:spcPts val="0"/>
              </a:spcAft>
            </a:pPr>
            <a:r>
              <a:rPr sz="1500" b="1">
                <a:solidFill>
                  <a:srgbClr val="FFFFFF"/>
                </a:solidFill>
                <a:latin typeface="Arial"/>
              </a:rPr>
              <a:t>Yasim</a:t>
            </a:r>
          </a:p>
        </p:txBody>
      </p:sp>
      <p:cxnSp>
        <p:nvCxnSpPr>
          <p:cNvPr id="107" name="Connector 106"/>
          <p:cNvCxnSpPr/>
          <p:nvPr/>
        </p:nvCxnSpPr>
        <p:spPr>
          <a:xfrm>
            <a:off x="10769346" y="2816352"/>
            <a:ext cx="0" cy="109728"/>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108" name="Connector 107"/>
          <p:cNvCxnSpPr/>
          <p:nvPr/>
        </p:nvCxnSpPr>
        <p:spPr>
          <a:xfrm>
            <a:off x="9976104" y="2926080"/>
            <a:ext cx="793242"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109" name="Connector 108"/>
          <p:cNvCxnSpPr/>
          <p:nvPr/>
        </p:nvCxnSpPr>
        <p:spPr>
          <a:xfrm>
            <a:off x="9976104" y="2926080"/>
            <a:ext cx="0" cy="402336"/>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110" name="Connector 109"/>
          <p:cNvCxnSpPr/>
          <p:nvPr/>
        </p:nvCxnSpPr>
        <p:spPr>
          <a:xfrm>
            <a:off x="9976104" y="3328416"/>
            <a:ext cx="114300" cy="0"/>
          </a:xfrm>
          <a:prstGeom prst="line">
            <a:avLst/>
          </a:prstGeom>
          <a:ln w="1333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111" name="Rectangle 110"/>
          <p:cNvSpPr/>
          <p:nvPr/>
        </p:nvSpPr>
        <p:spPr>
          <a:xfrm>
            <a:off x="10090404" y="3063240"/>
            <a:ext cx="1513332" cy="5349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2" name="TextBox 111"/>
          <p:cNvSpPr txBox="1"/>
          <p:nvPr/>
        </p:nvSpPr>
        <p:spPr>
          <a:xfrm>
            <a:off x="10163556" y="3131820"/>
            <a:ext cx="1367028" cy="169164"/>
          </a:xfrm>
          <a:prstGeom prst="rect">
            <a:avLst/>
          </a:prstGeom>
          <a:noFill/>
          <a:effectLst/>
        </p:spPr>
        <p:txBody>
          <a:bodyPr wrap="square" lIns="0" tIns="0" rIns="0" bIns="0" anchor="t">
            <a:spAutoFit/>
          </a:bodyPr>
          <a:lstStyle/>
          <a:p>
            <a:pPr algn="ctr">
              <a:lnSpc>
                <a:spcPct val="114000"/>
              </a:lnSpc>
              <a:spcBef>
                <a:spcPts val="0"/>
              </a:spcBef>
              <a:spcAft>
                <a:spcPts val="0"/>
              </a:spcAft>
            </a:pPr>
            <a:r>
              <a:rPr sz="919" b="0">
                <a:solidFill>
                  <a:srgbClr val="5D7083"/>
                </a:solidFill>
                <a:latin typeface="Arial"/>
              </a:rPr>
              <a:t>Soft Emblem</a:t>
            </a:r>
          </a:p>
        </p:txBody>
      </p:sp>
      <p:sp>
        <p:nvSpPr>
          <p:cNvPr id="113" name="TextBox 112"/>
          <p:cNvSpPr txBox="1"/>
          <p:nvPr/>
        </p:nvSpPr>
        <p:spPr>
          <a:xfrm>
            <a:off x="10136124" y="3346704"/>
            <a:ext cx="1421892" cy="210312"/>
          </a:xfrm>
          <a:prstGeom prst="rect">
            <a:avLst/>
          </a:prstGeom>
          <a:noFill/>
          <a:effectLst/>
        </p:spPr>
        <p:txBody>
          <a:bodyPr wrap="square" lIns="0" tIns="0" rIns="0" bIns="0" anchor="t">
            <a:spAutoFit/>
          </a:bodyPr>
          <a:lstStyle/>
          <a:p>
            <a:pPr algn="ctr">
              <a:lnSpc>
                <a:spcPct val="104000"/>
              </a:lnSpc>
              <a:spcBef>
                <a:spcPts val="0"/>
              </a:spcBef>
              <a:spcAft>
                <a:spcPts val="0"/>
              </a:spcAft>
            </a:pPr>
            <a:r>
              <a:rPr sz="1210" b="1">
                <a:solidFill>
                  <a:srgbClr val="192E43"/>
                </a:solidFill>
                <a:latin typeface="Arial"/>
              </a:rPr>
              <a:t>Budi U</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PRODUCTS</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Graphics that define the vehicle</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OEM automotive graphic applications</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PRODUCTS</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09</a:t>
            </a:r>
          </a:p>
        </p:txBody>
      </p:sp>
      <p:sp>
        <p:nvSpPr>
          <p:cNvPr id="10" name="Rectangle 9"/>
          <p:cNvSpPr/>
          <p:nvPr/>
        </p:nvSpPr>
        <p:spPr>
          <a:xfrm>
            <a:off x="603504" y="2057400"/>
            <a:ext cx="3557016" cy="3941063"/>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704088" y="2157984"/>
            <a:ext cx="3355848" cy="31455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2" name="Picture 11" descr="image18.jpg"/>
          <p:cNvPicPr>
            <a:picLocks noChangeAspect="1"/>
          </p:cNvPicPr>
          <p:nvPr/>
        </p:nvPicPr>
        <p:blipFill>
          <a:blip r:embed="rId4"/>
          <a:stretch>
            <a:fillRect/>
          </a:stretch>
        </p:blipFill>
        <p:spPr>
          <a:xfrm>
            <a:off x="749808" y="2212848"/>
            <a:ext cx="3264408" cy="3017520"/>
          </a:xfrm>
          <a:prstGeom prst="rect">
            <a:avLst/>
          </a:prstGeom>
          <a:effectLst/>
        </p:spPr>
      </p:pic>
      <p:pic>
        <p:nvPicPr>
          <p:cNvPr id="13" name="Picture 12" descr="image20.jpg"/>
          <p:cNvPicPr>
            <a:picLocks noChangeAspect="1"/>
          </p:cNvPicPr>
          <p:nvPr/>
        </p:nvPicPr>
        <p:blipFill>
          <a:blip r:embed="rId5"/>
          <a:stretch>
            <a:fillRect/>
          </a:stretch>
        </p:blipFill>
        <p:spPr>
          <a:xfrm>
            <a:off x="749808" y="2212848"/>
            <a:ext cx="3264408" cy="3017520"/>
          </a:xfrm>
          <a:prstGeom prst="rect">
            <a:avLst/>
          </a:prstGeom>
          <a:effectLst/>
        </p:spPr>
      </p:pic>
      <p:sp>
        <p:nvSpPr>
          <p:cNvPr id="14" name="TextBox 13"/>
          <p:cNvSpPr txBox="1"/>
          <p:nvPr/>
        </p:nvSpPr>
        <p:spPr>
          <a:xfrm>
            <a:off x="786384" y="5522976"/>
            <a:ext cx="3191256" cy="237744"/>
          </a:xfrm>
          <a:prstGeom prst="rect">
            <a:avLst/>
          </a:prstGeom>
          <a:noFill/>
          <a:effectLst/>
        </p:spPr>
        <p:txBody>
          <a:bodyPr wrap="square" lIns="0" tIns="0" rIns="0" bIns="0" anchor="t">
            <a:spAutoFit/>
          </a:bodyPr>
          <a:lstStyle/>
          <a:p>
            <a:pPr algn="l">
              <a:lnSpc>
                <a:spcPct val="114000"/>
              </a:lnSpc>
              <a:spcBef>
                <a:spcPts val="0"/>
              </a:spcBef>
              <a:spcAft>
                <a:spcPts val="0"/>
              </a:spcAft>
            </a:pPr>
            <a:r>
              <a:rPr sz="1700" b="1">
                <a:solidFill>
                  <a:srgbClr val="192E43"/>
                </a:solidFill>
                <a:latin typeface="Arial"/>
              </a:rPr>
              <a:t>Body graphics</a:t>
            </a:r>
          </a:p>
        </p:txBody>
      </p:sp>
      <p:sp>
        <p:nvSpPr>
          <p:cNvPr id="15" name="Rectangle 14"/>
          <p:cNvSpPr/>
          <p:nvPr/>
        </p:nvSpPr>
        <p:spPr>
          <a:xfrm>
            <a:off x="4325112" y="2057400"/>
            <a:ext cx="3557016" cy="3941063"/>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Rectangle 15"/>
          <p:cNvSpPr/>
          <p:nvPr/>
        </p:nvSpPr>
        <p:spPr>
          <a:xfrm>
            <a:off x="4425696" y="2157984"/>
            <a:ext cx="3355848" cy="31455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7" name="Picture 16" descr="image17.jpg"/>
          <p:cNvPicPr>
            <a:picLocks noChangeAspect="1"/>
          </p:cNvPicPr>
          <p:nvPr/>
        </p:nvPicPr>
        <p:blipFill>
          <a:blip r:embed="rId6"/>
          <a:stretch>
            <a:fillRect/>
          </a:stretch>
        </p:blipFill>
        <p:spPr>
          <a:xfrm>
            <a:off x="4471416" y="2212848"/>
            <a:ext cx="3264408" cy="3017520"/>
          </a:xfrm>
          <a:prstGeom prst="rect">
            <a:avLst/>
          </a:prstGeom>
          <a:effectLst/>
        </p:spPr>
      </p:pic>
      <p:pic>
        <p:nvPicPr>
          <p:cNvPr id="18" name="Picture 17" descr="image21.jpg"/>
          <p:cNvPicPr>
            <a:picLocks noChangeAspect="1"/>
          </p:cNvPicPr>
          <p:nvPr/>
        </p:nvPicPr>
        <p:blipFill>
          <a:blip r:embed="rId7"/>
          <a:stretch>
            <a:fillRect/>
          </a:stretch>
        </p:blipFill>
        <p:spPr>
          <a:xfrm>
            <a:off x="4471416" y="2212848"/>
            <a:ext cx="3264408" cy="3017520"/>
          </a:xfrm>
          <a:prstGeom prst="rect">
            <a:avLst/>
          </a:prstGeom>
          <a:effectLst/>
        </p:spPr>
      </p:pic>
      <p:sp>
        <p:nvSpPr>
          <p:cNvPr id="19" name="TextBox 18"/>
          <p:cNvSpPr txBox="1"/>
          <p:nvPr/>
        </p:nvSpPr>
        <p:spPr>
          <a:xfrm>
            <a:off x="4507992" y="5522976"/>
            <a:ext cx="3191256" cy="237744"/>
          </a:xfrm>
          <a:prstGeom prst="rect">
            <a:avLst/>
          </a:prstGeom>
          <a:noFill/>
          <a:effectLst/>
        </p:spPr>
        <p:txBody>
          <a:bodyPr wrap="square" lIns="0" tIns="0" rIns="0" bIns="0" anchor="t">
            <a:spAutoFit/>
          </a:bodyPr>
          <a:lstStyle/>
          <a:p>
            <a:pPr algn="l">
              <a:lnSpc>
                <a:spcPct val="114000"/>
              </a:lnSpc>
              <a:spcBef>
                <a:spcPts val="0"/>
              </a:spcBef>
              <a:spcAft>
                <a:spcPts val="0"/>
              </a:spcAft>
            </a:pPr>
            <a:r>
              <a:rPr sz="1700" b="1">
                <a:solidFill>
                  <a:srgbClr val="192E43"/>
                </a:solidFill>
                <a:latin typeface="Arial"/>
              </a:rPr>
              <a:t>Visual identity</a:t>
            </a:r>
          </a:p>
        </p:txBody>
      </p:sp>
      <p:sp>
        <p:nvSpPr>
          <p:cNvPr id="20" name="Rectangle 19"/>
          <p:cNvSpPr/>
          <p:nvPr/>
        </p:nvSpPr>
        <p:spPr>
          <a:xfrm>
            <a:off x="8046720" y="2057400"/>
            <a:ext cx="3557016" cy="3941063"/>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Rectangle 20"/>
          <p:cNvSpPr/>
          <p:nvPr/>
        </p:nvSpPr>
        <p:spPr>
          <a:xfrm>
            <a:off x="8147304" y="2157984"/>
            <a:ext cx="3355848" cy="31455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22" name="Picture 21" descr="image16.png"/>
          <p:cNvPicPr>
            <a:picLocks noChangeAspect="1"/>
          </p:cNvPicPr>
          <p:nvPr/>
        </p:nvPicPr>
        <p:blipFill>
          <a:blip r:embed="rId8"/>
          <a:stretch>
            <a:fillRect/>
          </a:stretch>
        </p:blipFill>
        <p:spPr>
          <a:xfrm>
            <a:off x="8193024" y="2212848"/>
            <a:ext cx="3264408" cy="3017520"/>
          </a:xfrm>
          <a:prstGeom prst="rect">
            <a:avLst/>
          </a:prstGeom>
          <a:effectLst/>
        </p:spPr>
      </p:pic>
      <p:pic>
        <p:nvPicPr>
          <p:cNvPr id="23" name="Picture 22" descr="image19.png"/>
          <p:cNvPicPr>
            <a:picLocks noChangeAspect="1"/>
          </p:cNvPicPr>
          <p:nvPr/>
        </p:nvPicPr>
        <p:blipFill>
          <a:blip r:embed="rId9"/>
          <a:stretch>
            <a:fillRect/>
          </a:stretch>
        </p:blipFill>
        <p:spPr>
          <a:xfrm>
            <a:off x="8193024" y="2212848"/>
            <a:ext cx="3264408" cy="3017520"/>
          </a:xfrm>
          <a:prstGeom prst="rect">
            <a:avLst/>
          </a:prstGeom>
          <a:effectLst/>
        </p:spPr>
      </p:pic>
      <p:sp>
        <p:nvSpPr>
          <p:cNvPr id="24" name="TextBox 23"/>
          <p:cNvSpPr txBox="1"/>
          <p:nvPr/>
        </p:nvSpPr>
        <p:spPr>
          <a:xfrm>
            <a:off x="8229600" y="5522976"/>
            <a:ext cx="3191256" cy="237744"/>
          </a:xfrm>
          <a:prstGeom prst="rect">
            <a:avLst/>
          </a:prstGeom>
          <a:noFill/>
          <a:effectLst/>
        </p:spPr>
        <p:txBody>
          <a:bodyPr wrap="square" lIns="0" tIns="0" rIns="0" bIns="0" anchor="t">
            <a:spAutoFit/>
          </a:bodyPr>
          <a:lstStyle/>
          <a:p>
            <a:pPr algn="l">
              <a:lnSpc>
                <a:spcPct val="114000"/>
              </a:lnSpc>
              <a:spcBef>
                <a:spcPts val="0"/>
              </a:spcBef>
              <a:spcAft>
                <a:spcPts val="0"/>
              </a:spcAft>
            </a:pPr>
            <a:r>
              <a:rPr sz="1700" b="1">
                <a:solidFill>
                  <a:srgbClr val="192E43"/>
                </a:solidFill>
                <a:latin typeface="Arial"/>
              </a:rPr>
              <a:t>Integrated details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PRODUCTS</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Three product platforms</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Graphics, dimensional finishes and soft emblems for automotive applications</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PRODUCTS</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10</a:t>
            </a:r>
          </a:p>
        </p:txBody>
      </p:sp>
      <p:sp>
        <p:nvSpPr>
          <p:cNvPr id="10" name="Rectangle 9"/>
          <p:cNvSpPr/>
          <p:nvPr/>
        </p:nvSpPr>
        <p:spPr>
          <a:xfrm>
            <a:off x="594360" y="2039112"/>
            <a:ext cx="3575304" cy="40782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58952" y="2221992"/>
            <a:ext cx="3246120"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112B45"/>
                </a:solidFill>
                <a:latin typeface="Arial"/>
              </a:rPr>
              <a:t>Graphic &amp; label</a:t>
            </a:r>
          </a:p>
        </p:txBody>
      </p:sp>
      <p:cxnSp>
        <p:nvCxnSpPr>
          <p:cNvPr id="12" name="Connector 11"/>
          <p:cNvCxnSpPr/>
          <p:nvPr/>
        </p:nvCxnSpPr>
        <p:spPr>
          <a:xfrm>
            <a:off x="758952" y="4343400"/>
            <a:ext cx="3246120" cy="0"/>
          </a:xfrm>
          <a:prstGeom prst="line">
            <a:avLst/>
          </a:prstGeom>
          <a:ln w="1016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758952" y="4608576"/>
            <a:ext cx="3246120" cy="1097280"/>
          </a:xfrm>
          <a:prstGeom prst="rect">
            <a:avLst/>
          </a:prstGeom>
          <a:noFill/>
          <a:effectLst/>
        </p:spPr>
        <p:txBody>
          <a:bodyPr wrap="square" lIns="0" tIns="0" rIns="0" bIns="0" anchor="t">
            <a:spAutoFit/>
          </a:bodyPr>
          <a:lstStyle/>
          <a:p>
            <a:pPr algn="l">
              <a:lnSpc>
                <a:spcPct val="150000"/>
              </a:lnSpc>
              <a:spcBef>
                <a:spcPts val="0"/>
              </a:spcBef>
              <a:spcAft>
                <a:spcPts val="0"/>
              </a:spcAft>
            </a:pPr>
            <a:r>
              <a:rPr sz="1440" b="0">
                <a:solidFill>
                  <a:srgbClr val="5D7083"/>
                </a:solidFill>
                <a:latin typeface="Arial"/>
              </a:rPr>
              <a:t>Pressure-sensitive adhesive stickers</a:t>
            </a:r>
          </a:p>
          <a:p>
            <a:pPr algn="l">
              <a:lnSpc>
                <a:spcPct val="150000"/>
              </a:lnSpc>
              <a:spcBef>
                <a:spcPts val="0"/>
              </a:spcBef>
              <a:spcAft>
                <a:spcPts val="0"/>
              </a:spcAft>
            </a:pPr>
            <a:r>
              <a:rPr sz="1440" b="0">
                <a:solidFill>
                  <a:srgbClr val="5D7083"/>
                </a:solidFill>
                <a:latin typeface="Arial"/>
              </a:rPr>
              <a:t>Coated for durability</a:t>
            </a:r>
          </a:p>
          <a:p>
            <a:pPr algn="l">
              <a:lnSpc>
                <a:spcPct val="150000"/>
              </a:lnSpc>
              <a:spcBef>
                <a:spcPts val="0"/>
              </a:spcBef>
              <a:spcAft>
                <a:spcPts val="0"/>
              </a:spcAft>
            </a:pPr>
            <a:r>
              <a:rPr sz="1440" b="0">
                <a:solidFill>
                  <a:srgbClr val="5D7083"/>
                </a:solidFill>
                <a:latin typeface="Arial"/>
              </a:rPr>
              <a:t>Automotive applications</a:t>
            </a:r>
          </a:p>
        </p:txBody>
      </p:sp>
      <p:sp>
        <p:nvSpPr>
          <p:cNvPr id="14" name="TextBox 13"/>
          <p:cNvSpPr txBox="1"/>
          <p:nvPr/>
        </p:nvSpPr>
        <p:spPr>
          <a:xfrm>
            <a:off x="758952" y="5852160"/>
            <a:ext cx="3246120" cy="164592"/>
          </a:xfrm>
          <a:prstGeom prst="rect">
            <a:avLst/>
          </a:prstGeom>
          <a:noFill/>
          <a:effectLst/>
        </p:spPr>
        <p:txBody>
          <a:bodyPr wrap="square" lIns="0" tIns="0" rIns="0" bIns="0" anchor="t">
            <a:spAutoFit/>
          </a:bodyPr>
          <a:lstStyle/>
          <a:p>
            <a:pPr algn="l">
              <a:lnSpc>
                <a:spcPct val="114000"/>
              </a:lnSpc>
              <a:spcBef>
                <a:spcPts val="0"/>
              </a:spcBef>
              <a:spcAft>
                <a:spcPts val="0"/>
              </a:spcAft>
            </a:pPr>
            <a:r>
              <a:rPr sz="900" b="1">
                <a:solidFill>
                  <a:srgbClr val="244CE5"/>
                </a:solidFill>
                <a:latin typeface="Arial"/>
              </a:rPr>
              <a:t>RoHS  ·  GADSL  ·  REACH SVHC</a:t>
            </a:r>
          </a:p>
        </p:txBody>
      </p:sp>
      <p:sp>
        <p:nvSpPr>
          <p:cNvPr id="15" name="Rectangle 14"/>
          <p:cNvSpPr/>
          <p:nvPr/>
        </p:nvSpPr>
        <p:spPr>
          <a:xfrm>
            <a:off x="4306824" y="2039112"/>
            <a:ext cx="3575304" cy="40782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4471416" y="2221992"/>
            <a:ext cx="3246120"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112B45"/>
                </a:solidFill>
                <a:latin typeface="Arial"/>
              </a:rPr>
              <a:t>Resin dome graphic</a:t>
            </a:r>
          </a:p>
        </p:txBody>
      </p:sp>
      <p:cxnSp>
        <p:nvCxnSpPr>
          <p:cNvPr id="17" name="Connector 16"/>
          <p:cNvCxnSpPr/>
          <p:nvPr/>
        </p:nvCxnSpPr>
        <p:spPr>
          <a:xfrm>
            <a:off x="4471416" y="4343400"/>
            <a:ext cx="3246120" cy="0"/>
          </a:xfrm>
          <a:prstGeom prst="line">
            <a:avLst/>
          </a:prstGeom>
          <a:ln w="1016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4471416" y="4608576"/>
            <a:ext cx="3246120" cy="1097280"/>
          </a:xfrm>
          <a:prstGeom prst="rect">
            <a:avLst/>
          </a:prstGeom>
          <a:noFill/>
          <a:effectLst/>
        </p:spPr>
        <p:txBody>
          <a:bodyPr wrap="square" lIns="0" tIns="0" rIns="0" bIns="0" anchor="t">
            <a:spAutoFit/>
          </a:bodyPr>
          <a:lstStyle/>
          <a:p>
            <a:pPr algn="l">
              <a:lnSpc>
                <a:spcPct val="150000"/>
              </a:lnSpc>
              <a:spcBef>
                <a:spcPts val="0"/>
              </a:spcBef>
              <a:spcAft>
                <a:spcPts val="0"/>
              </a:spcAft>
            </a:pPr>
            <a:r>
              <a:rPr sz="1440" b="0">
                <a:solidFill>
                  <a:srgbClr val="5D7083"/>
                </a:solidFill>
                <a:latin typeface="Arial"/>
              </a:rPr>
              <a:t>Pressure-sensitive adhesive stickers</a:t>
            </a:r>
          </a:p>
          <a:p>
            <a:pPr algn="l">
              <a:lnSpc>
                <a:spcPct val="150000"/>
              </a:lnSpc>
              <a:spcBef>
                <a:spcPts val="0"/>
              </a:spcBef>
              <a:spcAft>
                <a:spcPts val="0"/>
              </a:spcAft>
            </a:pPr>
            <a:r>
              <a:rPr sz="1440" b="0">
                <a:solidFill>
                  <a:srgbClr val="5D7083"/>
                </a:solidFill>
                <a:latin typeface="Arial"/>
              </a:rPr>
              <a:t>Mercury-free, high-durability resin</a:t>
            </a:r>
          </a:p>
          <a:p>
            <a:pPr algn="l">
              <a:lnSpc>
                <a:spcPct val="150000"/>
              </a:lnSpc>
              <a:spcBef>
                <a:spcPts val="0"/>
              </a:spcBef>
              <a:spcAft>
                <a:spcPts val="0"/>
              </a:spcAft>
            </a:pPr>
            <a:r>
              <a:rPr sz="1440" b="0">
                <a:solidFill>
                  <a:srgbClr val="5D7083"/>
                </a:solidFill>
                <a:latin typeface="Arial"/>
              </a:rPr>
              <a:t>Dimensional 3D effect</a:t>
            </a:r>
          </a:p>
        </p:txBody>
      </p:sp>
      <p:sp>
        <p:nvSpPr>
          <p:cNvPr id="19" name="TextBox 18"/>
          <p:cNvSpPr txBox="1"/>
          <p:nvPr/>
        </p:nvSpPr>
        <p:spPr>
          <a:xfrm>
            <a:off x="4471416" y="5852160"/>
            <a:ext cx="3246120" cy="164592"/>
          </a:xfrm>
          <a:prstGeom prst="rect">
            <a:avLst/>
          </a:prstGeom>
          <a:noFill/>
          <a:effectLst/>
        </p:spPr>
        <p:txBody>
          <a:bodyPr wrap="square" lIns="0" tIns="0" rIns="0" bIns="0" anchor="t">
            <a:spAutoFit/>
          </a:bodyPr>
          <a:lstStyle/>
          <a:p>
            <a:pPr algn="l">
              <a:lnSpc>
                <a:spcPct val="114000"/>
              </a:lnSpc>
              <a:spcBef>
                <a:spcPts val="0"/>
              </a:spcBef>
              <a:spcAft>
                <a:spcPts val="0"/>
              </a:spcAft>
            </a:pPr>
            <a:r>
              <a:rPr sz="900" b="1">
                <a:solidFill>
                  <a:srgbClr val="244CE5"/>
                </a:solidFill>
                <a:latin typeface="Arial"/>
              </a:rPr>
              <a:t>RoHS  ·  GADSL  ·  REACH SVHC</a:t>
            </a:r>
          </a:p>
        </p:txBody>
      </p:sp>
      <p:sp>
        <p:nvSpPr>
          <p:cNvPr id="20" name="Rectangle 19"/>
          <p:cNvSpPr/>
          <p:nvPr/>
        </p:nvSpPr>
        <p:spPr>
          <a:xfrm>
            <a:off x="8019288" y="2039112"/>
            <a:ext cx="3575304" cy="40782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8183879" y="2221992"/>
            <a:ext cx="3246120"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112B45"/>
                </a:solidFill>
                <a:latin typeface="Arial"/>
              </a:rPr>
              <a:t>Grafindo Soft Emblem</a:t>
            </a:r>
          </a:p>
        </p:txBody>
      </p:sp>
      <p:cxnSp>
        <p:nvCxnSpPr>
          <p:cNvPr id="22" name="Connector 21"/>
          <p:cNvCxnSpPr/>
          <p:nvPr/>
        </p:nvCxnSpPr>
        <p:spPr>
          <a:xfrm>
            <a:off x="8183879" y="4343400"/>
            <a:ext cx="3246121" cy="0"/>
          </a:xfrm>
          <a:prstGeom prst="line">
            <a:avLst/>
          </a:prstGeom>
          <a:ln w="1016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8183879" y="4608576"/>
            <a:ext cx="3246120" cy="1097280"/>
          </a:xfrm>
          <a:prstGeom prst="rect">
            <a:avLst/>
          </a:prstGeom>
          <a:noFill/>
          <a:effectLst/>
        </p:spPr>
        <p:txBody>
          <a:bodyPr wrap="square" lIns="0" tIns="0" rIns="0" bIns="0" anchor="t">
            <a:spAutoFit/>
          </a:bodyPr>
          <a:lstStyle/>
          <a:p>
            <a:pPr algn="l">
              <a:lnSpc>
                <a:spcPct val="150000"/>
              </a:lnSpc>
              <a:spcBef>
                <a:spcPts val="0"/>
              </a:spcBef>
              <a:spcAft>
                <a:spcPts val="0"/>
              </a:spcAft>
            </a:pPr>
            <a:r>
              <a:rPr sz="1440" b="0">
                <a:solidFill>
                  <a:srgbClr val="5D7083"/>
                </a:solidFill>
                <a:latin typeface="Arial"/>
              </a:rPr>
              <a:t>Flexible 3D emblems</a:t>
            </a:r>
          </a:p>
          <a:p>
            <a:pPr algn="l">
              <a:lnSpc>
                <a:spcPct val="150000"/>
              </a:lnSpc>
              <a:spcBef>
                <a:spcPts val="0"/>
              </a:spcBef>
              <a:spcAft>
                <a:spcPts val="0"/>
              </a:spcAft>
            </a:pPr>
            <a:r>
              <a:rPr sz="1440" b="0">
                <a:solidFill>
                  <a:srgbClr val="5D7083"/>
                </a:solidFill>
                <a:latin typeface="Arial"/>
              </a:rPr>
              <a:t>Color and gloss options</a:t>
            </a:r>
          </a:p>
          <a:p>
            <a:pPr algn="l">
              <a:lnSpc>
                <a:spcPct val="150000"/>
              </a:lnSpc>
              <a:spcBef>
                <a:spcPts val="0"/>
              </a:spcBef>
              <a:spcAft>
                <a:spcPts val="0"/>
              </a:spcAft>
            </a:pPr>
            <a:r>
              <a:rPr sz="1440" b="0">
                <a:solidFill>
                  <a:srgbClr val="5D7083"/>
                </a:solidFill>
                <a:latin typeface="Arial"/>
              </a:rPr>
              <a:t>Brushed chrome appearance</a:t>
            </a:r>
          </a:p>
        </p:txBody>
      </p:sp>
      <p:sp>
        <p:nvSpPr>
          <p:cNvPr id="24" name="TextBox 23"/>
          <p:cNvSpPr txBox="1"/>
          <p:nvPr/>
        </p:nvSpPr>
        <p:spPr>
          <a:xfrm>
            <a:off x="8183879" y="5852160"/>
            <a:ext cx="3246120" cy="164592"/>
          </a:xfrm>
          <a:prstGeom prst="rect">
            <a:avLst/>
          </a:prstGeom>
          <a:noFill/>
          <a:effectLst/>
        </p:spPr>
        <p:txBody>
          <a:bodyPr wrap="square" lIns="0" tIns="0" rIns="0" bIns="0" anchor="t">
            <a:spAutoFit/>
          </a:bodyPr>
          <a:lstStyle/>
          <a:p>
            <a:pPr algn="l">
              <a:lnSpc>
                <a:spcPct val="114000"/>
              </a:lnSpc>
              <a:spcBef>
                <a:spcPts val="0"/>
              </a:spcBef>
              <a:spcAft>
                <a:spcPts val="0"/>
              </a:spcAft>
            </a:pPr>
            <a:r>
              <a:rPr sz="900" b="1">
                <a:solidFill>
                  <a:srgbClr val="244CE5"/>
                </a:solidFill>
                <a:latin typeface="Arial"/>
              </a:rPr>
              <a:t>RoHS  ·  GADSL  ·  REACH SVHC</a:t>
            </a:r>
          </a:p>
        </p:txBody>
      </p:sp>
      <p:pic>
        <p:nvPicPr>
          <p:cNvPr id="25" name="Picture 24" descr="image23.png"/>
          <p:cNvPicPr>
            <a:picLocks noChangeAspect="1"/>
          </p:cNvPicPr>
          <p:nvPr/>
        </p:nvPicPr>
        <p:blipFill>
          <a:blip r:embed="rId4"/>
          <a:stretch>
            <a:fillRect/>
          </a:stretch>
        </p:blipFill>
        <p:spPr>
          <a:xfrm>
            <a:off x="859536" y="2819711"/>
            <a:ext cx="1435608" cy="468769"/>
          </a:xfrm>
          <a:prstGeom prst="rect">
            <a:avLst/>
          </a:prstGeom>
          <a:effectLst/>
        </p:spPr>
      </p:pic>
      <p:pic>
        <p:nvPicPr>
          <p:cNvPr id="26" name="Picture 25" descr="image25.png"/>
          <p:cNvPicPr>
            <a:picLocks noChangeAspect="1"/>
          </p:cNvPicPr>
          <p:nvPr/>
        </p:nvPicPr>
        <p:blipFill>
          <a:blip r:embed="rId5"/>
          <a:stretch>
            <a:fillRect/>
          </a:stretch>
        </p:blipFill>
        <p:spPr>
          <a:xfrm>
            <a:off x="2423160" y="2904509"/>
            <a:ext cx="1344168" cy="299172"/>
          </a:xfrm>
          <a:prstGeom prst="rect">
            <a:avLst/>
          </a:prstGeom>
          <a:effectLst/>
        </p:spPr>
      </p:pic>
      <p:pic>
        <p:nvPicPr>
          <p:cNvPr id="27" name="Picture 26" descr="image22.png"/>
          <p:cNvPicPr>
            <a:picLocks noChangeAspect="1"/>
          </p:cNvPicPr>
          <p:nvPr/>
        </p:nvPicPr>
        <p:blipFill>
          <a:blip r:embed="rId6"/>
          <a:stretch>
            <a:fillRect/>
          </a:stretch>
        </p:blipFill>
        <p:spPr>
          <a:xfrm>
            <a:off x="850392" y="3432331"/>
            <a:ext cx="1435608" cy="276800"/>
          </a:xfrm>
          <a:prstGeom prst="rect">
            <a:avLst/>
          </a:prstGeom>
          <a:effectLst/>
        </p:spPr>
      </p:pic>
      <p:pic>
        <p:nvPicPr>
          <p:cNvPr id="28" name="Picture 27" descr="image24.png"/>
          <p:cNvPicPr>
            <a:picLocks noChangeAspect="1"/>
          </p:cNvPicPr>
          <p:nvPr/>
        </p:nvPicPr>
        <p:blipFill>
          <a:blip r:embed="rId7"/>
          <a:stretch>
            <a:fillRect/>
          </a:stretch>
        </p:blipFill>
        <p:spPr>
          <a:xfrm>
            <a:off x="2423160" y="3432087"/>
            <a:ext cx="1325880" cy="222424"/>
          </a:xfrm>
          <a:prstGeom prst="rect">
            <a:avLst/>
          </a:prstGeom>
          <a:effectLst/>
        </p:spPr>
      </p:pic>
      <p:pic>
        <p:nvPicPr>
          <p:cNvPr id="29" name="Picture 28" descr="image26.png"/>
          <p:cNvPicPr>
            <a:picLocks noChangeAspect="1"/>
          </p:cNvPicPr>
          <p:nvPr/>
        </p:nvPicPr>
        <p:blipFill>
          <a:blip r:embed="rId8"/>
          <a:stretch>
            <a:fillRect/>
          </a:stretch>
        </p:blipFill>
        <p:spPr>
          <a:xfrm>
            <a:off x="2423160" y="3768471"/>
            <a:ext cx="1325880" cy="262890"/>
          </a:xfrm>
          <a:prstGeom prst="rect">
            <a:avLst/>
          </a:prstGeom>
          <a:effectLst/>
        </p:spPr>
      </p:pic>
      <p:pic>
        <p:nvPicPr>
          <p:cNvPr id="30" name="Picture 29" descr="image29.png"/>
          <p:cNvPicPr>
            <a:picLocks noChangeAspect="1"/>
          </p:cNvPicPr>
          <p:nvPr/>
        </p:nvPicPr>
        <p:blipFill>
          <a:blip r:embed="rId9"/>
          <a:stretch>
            <a:fillRect/>
          </a:stretch>
        </p:blipFill>
        <p:spPr>
          <a:xfrm>
            <a:off x="868935" y="3794760"/>
            <a:ext cx="1398520" cy="493776"/>
          </a:xfrm>
          <a:prstGeom prst="rect">
            <a:avLst/>
          </a:prstGeom>
          <a:effectLst/>
        </p:spPr>
      </p:pic>
      <p:pic>
        <p:nvPicPr>
          <p:cNvPr id="31" name="Picture 30" descr="image27.png"/>
          <p:cNvPicPr>
            <a:picLocks noChangeAspect="1"/>
          </p:cNvPicPr>
          <p:nvPr/>
        </p:nvPicPr>
        <p:blipFill>
          <a:blip r:embed="rId10"/>
          <a:stretch>
            <a:fillRect/>
          </a:stretch>
        </p:blipFill>
        <p:spPr>
          <a:xfrm>
            <a:off x="4553712" y="2850714"/>
            <a:ext cx="1426464" cy="1312019"/>
          </a:xfrm>
          <a:prstGeom prst="rect">
            <a:avLst/>
          </a:prstGeom>
          <a:effectLst/>
        </p:spPr>
      </p:pic>
      <p:pic>
        <p:nvPicPr>
          <p:cNvPr id="32" name="Picture 31" descr="image28.png"/>
          <p:cNvPicPr>
            <a:picLocks noChangeAspect="1"/>
          </p:cNvPicPr>
          <p:nvPr/>
        </p:nvPicPr>
        <p:blipFill>
          <a:blip r:embed="rId11"/>
          <a:stretch>
            <a:fillRect/>
          </a:stretch>
        </p:blipFill>
        <p:spPr>
          <a:xfrm>
            <a:off x="6117336" y="2873546"/>
            <a:ext cx="1261872" cy="379386"/>
          </a:xfrm>
          <a:prstGeom prst="rect">
            <a:avLst/>
          </a:prstGeom>
          <a:effectLst/>
        </p:spPr>
      </p:pic>
      <p:pic>
        <p:nvPicPr>
          <p:cNvPr id="33" name="Picture 32" descr="image30.png"/>
          <p:cNvPicPr>
            <a:picLocks noChangeAspect="1"/>
          </p:cNvPicPr>
          <p:nvPr/>
        </p:nvPicPr>
        <p:blipFill>
          <a:blip r:embed="rId12"/>
          <a:stretch>
            <a:fillRect/>
          </a:stretch>
        </p:blipFill>
        <p:spPr>
          <a:xfrm>
            <a:off x="6053328" y="3573261"/>
            <a:ext cx="1371600" cy="525293"/>
          </a:xfrm>
          <a:prstGeom prst="rect">
            <a:avLst/>
          </a:prstGeom>
          <a:effectLst/>
        </p:spPr>
      </p:pic>
      <p:pic>
        <p:nvPicPr>
          <p:cNvPr id="34" name="Picture 33" descr="image31.jpg"/>
          <p:cNvPicPr>
            <a:picLocks noChangeAspect="1"/>
          </p:cNvPicPr>
          <p:nvPr/>
        </p:nvPicPr>
        <p:blipFill>
          <a:blip r:embed="rId13"/>
          <a:stretch>
            <a:fillRect/>
          </a:stretch>
        </p:blipFill>
        <p:spPr>
          <a:xfrm>
            <a:off x="8229600" y="2860679"/>
            <a:ext cx="1399032" cy="505705"/>
          </a:xfrm>
          <a:prstGeom prst="rect">
            <a:avLst/>
          </a:prstGeom>
          <a:effectLst/>
        </p:spPr>
      </p:pic>
      <p:pic>
        <p:nvPicPr>
          <p:cNvPr id="35" name="Picture 34" descr="image32.png"/>
          <p:cNvPicPr>
            <a:picLocks noChangeAspect="1"/>
          </p:cNvPicPr>
          <p:nvPr/>
        </p:nvPicPr>
        <p:blipFill>
          <a:blip r:embed="rId14"/>
          <a:stretch>
            <a:fillRect/>
          </a:stretch>
        </p:blipFill>
        <p:spPr>
          <a:xfrm>
            <a:off x="9912096" y="2774818"/>
            <a:ext cx="1399032" cy="677426"/>
          </a:xfrm>
          <a:prstGeom prst="rect">
            <a:avLst/>
          </a:prstGeom>
          <a:effectLst/>
        </p:spPr>
      </p:pic>
      <p:pic>
        <p:nvPicPr>
          <p:cNvPr id="36" name="Picture 35" descr="image33.jpg"/>
          <p:cNvPicPr>
            <a:picLocks noChangeAspect="1"/>
          </p:cNvPicPr>
          <p:nvPr/>
        </p:nvPicPr>
        <p:blipFill>
          <a:blip r:embed="rId15"/>
          <a:stretch>
            <a:fillRect/>
          </a:stretch>
        </p:blipFill>
        <p:spPr>
          <a:xfrm>
            <a:off x="8586216" y="3584448"/>
            <a:ext cx="685800" cy="685800"/>
          </a:xfrm>
          <a:prstGeom prst="rect">
            <a:avLst/>
          </a:prstGeom>
          <a:effectLst/>
        </p:spPr>
      </p:pic>
      <p:pic>
        <p:nvPicPr>
          <p:cNvPr id="37" name="Picture 36" descr="image34.png"/>
          <p:cNvPicPr>
            <a:picLocks noChangeAspect="1"/>
          </p:cNvPicPr>
          <p:nvPr/>
        </p:nvPicPr>
        <p:blipFill>
          <a:blip r:embed="rId16"/>
          <a:stretch>
            <a:fillRect/>
          </a:stretch>
        </p:blipFill>
        <p:spPr>
          <a:xfrm>
            <a:off x="9912096" y="3631273"/>
            <a:ext cx="1399032" cy="592148"/>
          </a:xfrm>
          <a:prstGeom prst="rect">
            <a:avLst/>
          </a:prstGeom>
          <a:effectLst/>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SCREEN PRINTING</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Texture, detail &amp; visual depth</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Pattern capabilities</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SCREEN PRINTING</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11</a:t>
            </a:r>
          </a:p>
        </p:txBody>
      </p:sp>
      <p:sp>
        <p:nvSpPr>
          <p:cNvPr id="10" name="Rectangle 9"/>
          <p:cNvSpPr/>
          <p:nvPr/>
        </p:nvSpPr>
        <p:spPr>
          <a:xfrm>
            <a:off x="594360" y="2048256"/>
            <a:ext cx="3840480" cy="4069080"/>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1" name="Picture 10" descr="image35.png"/>
          <p:cNvPicPr>
            <a:picLocks noChangeAspect="1"/>
          </p:cNvPicPr>
          <p:nvPr/>
        </p:nvPicPr>
        <p:blipFill>
          <a:blip r:embed="rId4"/>
          <a:stretch>
            <a:fillRect/>
          </a:stretch>
        </p:blipFill>
        <p:spPr>
          <a:xfrm>
            <a:off x="1089943" y="2221992"/>
            <a:ext cx="2840168" cy="2048256"/>
          </a:xfrm>
          <a:prstGeom prst="rect">
            <a:avLst/>
          </a:prstGeom>
          <a:effectLst/>
        </p:spPr>
      </p:pic>
      <p:pic>
        <p:nvPicPr>
          <p:cNvPr id="12" name="Picture 11" descr="image36.png"/>
          <p:cNvPicPr>
            <a:picLocks noChangeAspect="1"/>
          </p:cNvPicPr>
          <p:nvPr/>
        </p:nvPicPr>
        <p:blipFill>
          <a:blip r:embed="rId5"/>
          <a:srcRect l="3140" r="3140"/>
          <a:stretch>
            <a:fillRect/>
          </a:stretch>
        </p:blipFill>
        <p:spPr>
          <a:xfrm>
            <a:off x="795528" y="4416552"/>
            <a:ext cx="1627632" cy="1197864"/>
          </a:xfrm>
          <a:prstGeom prst="rect">
            <a:avLst/>
          </a:prstGeom>
          <a:effectLst/>
        </p:spPr>
      </p:pic>
      <p:sp>
        <p:nvSpPr>
          <p:cNvPr id="13" name="TextBox 12"/>
          <p:cNvSpPr txBox="1"/>
          <p:nvPr/>
        </p:nvSpPr>
        <p:spPr>
          <a:xfrm>
            <a:off x="2642616" y="4645152"/>
            <a:ext cx="1627632" cy="621792"/>
          </a:xfrm>
          <a:prstGeom prst="rect">
            <a:avLst/>
          </a:prstGeom>
          <a:noFill/>
          <a:effectLst/>
        </p:spPr>
        <p:txBody>
          <a:bodyPr wrap="square" lIns="0" tIns="0" rIns="0" bIns="0" anchor="t">
            <a:spAutoFit/>
          </a:bodyPr>
          <a:lstStyle/>
          <a:p>
            <a:pPr algn="l">
              <a:lnSpc>
                <a:spcPct val="112000"/>
              </a:lnSpc>
              <a:spcBef>
                <a:spcPts val="0"/>
              </a:spcBef>
              <a:spcAft>
                <a:spcPts val="0"/>
              </a:spcAft>
            </a:pPr>
            <a:r>
              <a:rPr sz="1800" b="1">
                <a:solidFill>
                  <a:srgbClr val="192E43"/>
                </a:solidFill>
                <a:latin typeface="Arial"/>
              </a:rPr>
              <a:t>High-detail</a:t>
            </a:r>
          </a:p>
          <a:p>
            <a:pPr algn="l">
              <a:lnSpc>
                <a:spcPct val="112000"/>
              </a:lnSpc>
              <a:spcBef>
                <a:spcPts val="0"/>
              </a:spcBef>
              <a:spcAft>
                <a:spcPts val="0"/>
              </a:spcAft>
            </a:pPr>
            <a:r>
              <a:rPr sz="1800" b="1">
                <a:solidFill>
                  <a:srgbClr val="192E43"/>
                </a:solidFill>
                <a:latin typeface="Arial"/>
              </a:rPr>
              <a:t>patterns</a:t>
            </a:r>
          </a:p>
        </p:txBody>
      </p:sp>
      <p:sp>
        <p:nvSpPr>
          <p:cNvPr id="14" name="Rectangle 13"/>
          <p:cNvSpPr/>
          <p:nvPr/>
        </p:nvSpPr>
        <p:spPr>
          <a:xfrm>
            <a:off x="4663440" y="2048256"/>
            <a:ext cx="3346704" cy="1892807"/>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5" name="Picture 14" descr="image38.jpg"/>
          <p:cNvPicPr>
            <a:picLocks noChangeAspect="1"/>
          </p:cNvPicPr>
          <p:nvPr/>
        </p:nvPicPr>
        <p:blipFill>
          <a:blip r:embed="rId6"/>
          <a:srcRect t="15955" b="15955"/>
          <a:stretch>
            <a:fillRect/>
          </a:stretch>
        </p:blipFill>
        <p:spPr>
          <a:xfrm>
            <a:off x="4754879" y="2139696"/>
            <a:ext cx="3163824" cy="1335024"/>
          </a:xfrm>
          <a:prstGeom prst="rect">
            <a:avLst/>
          </a:prstGeom>
          <a:effectLst/>
        </p:spPr>
      </p:pic>
      <p:sp>
        <p:nvSpPr>
          <p:cNvPr id="16" name="TextBox 15"/>
          <p:cNvSpPr txBox="1"/>
          <p:nvPr/>
        </p:nvSpPr>
        <p:spPr>
          <a:xfrm>
            <a:off x="4809744" y="3593592"/>
            <a:ext cx="3063240" cy="228600"/>
          </a:xfrm>
          <a:prstGeom prst="rect">
            <a:avLst/>
          </a:prstGeom>
          <a:noFill/>
          <a:effectLst/>
        </p:spPr>
        <p:txBody>
          <a:bodyPr wrap="square" lIns="0" tIns="0" rIns="0" bIns="0" anchor="t">
            <a:spAutoFit/>
          </a:bodyPr>
          <a:lstStyle/>
          <a:p>
            <a:pPr algn="l">
              <a:lnSpc>
                <a:spcPct val="114000"/>
              </a:lnSpc>
              <a:spcBef>
                <a:spcPts val="0"/>
              </a:spcBef>
              <a:spcAft>
                <a:spcPts val="0"/>
              </a:spcAft>
            </a:pPr>
            <a:r>
              <a:rPr sz="1600" b="1">
                <a:solidFill>
                  <a:srgbClr val="192E43"/>
                </a:solidFill>
                <a:latin typeface="Arial"/>
              </a:rPr>
              <a:t>Ink splatter</a:t>
            </a:r>
          </a:p>
        </p:txBody>
      </p:sp>
      <p:sp>
        <p:nvSpPr>
          <p:cNvPr id="17" name="Rectangle 16"/>
          <p:cNvSpPr/>
          <p:nvPr/>
        </p:nvSpPr>
        <p:spPr>
          <a:xfrm>
            <a:off x="8229600" y="2048256"/>
            <a:ext cx="3346704" cy="1892807"/>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8" name="Picture 17" descr="image37.jpg"/>
          <p:cNvPicPr>
            <a:picLocks noChangeAspect="1"/>
          </p:cNvPicPr>
          <p:nvPr/>
        </p:nvPicPr>
        <p:blipFill>
          <a:blip r:embed="rId7"/>
          <a:srcRect t="18384" b="18384"/>
          <a:stretch>
            <a:fillRect/>
          </a:stretch>
        </p:blipFill>
        <p:spPr>
          <a:xfrm>
            <a:off x="8321040" y="2139696"/>
            <a:ext cx="3163824" cy="1335024"/>
          </a:xfrm>
          <a:prstGeom prst="rect">
            <a:avLst/>
          </a:prstGeom>
          <a:effectLst/>
        </p:spPr>
      </p:pic>
      <p:sp>
        <p:nvSpPr>
          <p:cNvPr id="19" name="TextBox 18"/>
          <p:cNvSpPr txBox="1"/>
          <p:nvPr/>
        </p:nvSpPr>
        <p:spPr>
          <a:xfrm>
            <a:off x="8375904" y="3593592"/>
            <a:ext cx="3063240" cy="228600"/>
          </a:xfrm>
          <a:prstGeom prst="rect">
            <a:avLst/>
          </a:prstGeom>
          <a:noFill/>
          <a:effectLst/>
        </p:spPr>
        <p:txBody>
          <a:bodyPr wrap="square" lIns="0" tIns="0" rIns="0" bIns="0" anchor="t">
            <a:spAutoFit/>
          </a:bodyPr>
          <a:lstStyle/>
          <a:p>
            <a:pPr algn="l">
              <a:lnSpc>
                <a:spcPct val="114000"/>
              </a:lnSpc>
              <a:spcBef>
                <a:spcPts val="0"/>
              </a:spcBef>
              <a:spcAft>
                <a:spcPts val="0"/>
              </a:spcAft>
            </a:pPr>
            <a:r>
              <a:rPr sz="1600" b="1">
                <a:solidFill>
                  <a:srgbClr val="192E43"/>
                </a:solidFill>
                <a:latin typeface="Arial"/>
              </a:rPr>
              <a:t>Smokey pattern</a:t>
            </a:r>
          </a:p>
        </p:txBody>
      </p:sp>
      <p:sp>
        <p:nvSpPr>
          <p:cNvPr id="20" name="Rectangle 19"/>
          <p:cNvSpPr/>
          <p:nvPr/>
        </p:nvSpPr>
        <p:spPr>
          <a:xfrm>
            <a:off x="4663440" y="4224528"/>
            <a:ext cx="3346704" cy="1892807"/>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21" name="Picture 20" descr="image39.jpg"/>
          <p:cNvPicPr>
            <a:picLocks noChangeAspect="1"/>
          </p:cNvPicPr>
          <p:nvPr/>
        </p:nvPicPr>
        <p:blipFill>
          <a:blip r:embed="rId8"/>
          <a:srcRect t="37329" b="37329"/>
          <a:stretch>
            <a:fillRect/>
          </a:stretch>
        </p:blipFill>
        <p:spPr>
          <a:xfrm>
            <a:off x="4754879" y="4315968"/>
            <a:ext cx="3163824" cy="1335024"/>
          </a:xfrm>
          <a:prstGeom prst="rect">
            <a:avLst/>
          </a:prstGeom>
          <a:effectLst/>
        </p:spPr>
      </p:pic>
      <p:sp>
        <p:nvSpPr>
          <p:cNvPr id="22" name="TextBox 21"/>
          <p:cNvSpPr txBox="1"/>
          <p:nvPr/>
        </p:nvSpPr>
        <p:spPr>
          <a:xfrm>
            <a:off x="4809744" y="5769864"/>
            <a:ext cx="3063240" cy="228600"/>
          </a:xfrm>
          <a:prstGeom prst="rect">
            <a:avLst/>
          </a:prstGeom>
          <a:noFill/>
          <a:effectLst/>
        </p:spPr>
        <p:txBody>
          <a:bodyPr wrap="square" lIns="0" tIns="0" rIns="0" bIns="0" anchor="t">
            <a:spAutoFit/>
          </a:bodyPr>
          <a:lstStyle/>
          <a:p>
            <a:pPr algn="l">
              <a:lnSpc>
                <a:spcPct val="114000"/>
              </a:lnSpc>
              <a:spcBef>
                <a:spcPts val="0"/>
              </a:spcBef>
              <a:spcAft>
                <a:spcPts val="0"/>
              </a:spcAft>
            </a:pPr>
            <a:r>
              <a:rPr sz="1600" b="1">
                <a:solidFill>
                  <a:srgbClr val="192E43"/>
                </a:solidFill>
                <a:latin typeface="Arial"/>
              </a:rPr>
              <a:t>Gradation</a:t>
            </a:r>
          </a:p>
        </p:txBody>
      </p:sp>
      <p:sp>
        <p:nvSpPr>
          <p:cNvPr id="23" name="Rectangle 22"/>
          <p:cNvSpPr/>
          <p:nvPr/>
        </p:nvSpPr>
        <p:spPr>
          <a:xfrm>
            <a:off x="8229600" y="4224528"/>
            <a:ext cx="3346704" cy="1892807"/>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24" name="Picture 23" descr="image40.png"/>
          <p:cNvPicPr>
            <a:picLocks noChangeAspect="1"/>
          </p:cNvPicPr>
          <p:nvPr/>
        </p:nvPicPr>
        <p:blipFill>
          <a:blip r:embed="rId9"/>
          <a:srcRect t="35934" b="35934"/>
          <a:stretch>
            <a:fillRect/>
          </a:stretch>
        </p:blipFill>
        <p:spPr>
          <a:xfrm>
            <a:off x="8321040" y="4315968"/>
            <a:ext cx="3163824" cy="1335024"/>
          </a:xfrm>
          <a:prstGeom prst="rect">
            <a:avLst/>
          </a:prstGeom>
          <a:effectLst/>
        </p:spPr>
      </p:pic>
      <p:sp>
        <p:nvSpPr>
          <p:cNvPr id="25" name="TextBox 24"/>
          <p:cNvSpPr txBox="1"/>
          <p:nvPr/>
        </p:nvSpPr>
        <p:spPr>
          <a:xfrm>
            <a:off x="8375904" y="5769864"/>
            <a:ext cx="3063240" cy="228600"/>
          </a:xfrm>
          <a:prstGeom prst="rect">
            <a:avLst/>
          </a:prstGeom>
          <a:noFill/>
          <a:effectLst/>
        </p:spPr>
        <p:txBody>
          <a:bodyPr wrap="square" lIns="0" tIns="0" rIns="0" bIns="0" anchor="t">
            <a:spAutoFit/>
          </a:bodyPr>
          <a:lstStyle/>
          <a:p>
            <a:pPr algn="l">
              <a:lnSpc>
                <a:spcPct val="114000"/>
              </a:lnSpc>
              <a:spcBef>
                <a:spcPts val="0"/>
              </a:spcBef>
              <a:spcAft>
                <a:spcPts val="0"/>
              </a:spcAft>
            </a:pPr>
            <a:r>
              <a:rPr sz="1600" b="1">
                <a:solidFill>
                  <a:srgbClr val="192E43"/>
                </a:solidFill>
                <a:latin typeface="Arial"/>
              </a:rPr>
              <a:t>Multi-gradation</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SCREEN PRINTING</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Color &amp; surface finishes</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Gloss, matte, metallic and chrome effects</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SCREEN PRINTING</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12</a:t>
            </a:r>
          </a:p>
        </p:txBody>
      </p:sp>
      <p:sp>
        <p:nvSpPr>
          <p:cNvPr id="10" name="Rectangle 9"/>
          <p:cNvSpPr/>
          <p:nvPr/>
        </p:nvSpPr>
        <p:spPr>
          <a:xfrm>
            <a:off x="594360" y="2048256"/>
            <a:ext cx="3566160"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77240" y="2221992"/>
            <a:ext cx="3200400" cy="320040"/>
          </a:xfrm>
          <a:prstGeom prst="rect">
            <a:avLst/>
          </a:prstGeom>
          <a:noFill/>
          <a:effectLst/>
        </p:spPr>
        <p:txBody>
          <a:bodyPr wrap="square" lIns="0" tIns="0" rIns="0" bIns="0" anchor="t">
            <a:spAutoFit/>
          </a:bodyPr>
          <a:lstStyle/>
          <a:p>
            <a:pPr algn="l">
              <a:lnSpc>
                <a:spcPct val="114000"/>
              </a:lnSpc>
              <a:spcBef>
                <a:spcPts val="0"/>
              </a:spcBef>
              <a:spcAft>
                <a:spcPts val="0"/>
              </a:spcAft>
            </a:pPr>
            <a:r>
              <a:rPr sz="2100" b="1">
                <a:solidFill>
                  <a:srgbClr val="192E43"/>
                </a:solidFill>
                <a:latin typeface="Arial"/>
              </a:rPr>
              <a:t>Gloss &amp; matte</a:t>
            </a:r>
          </a:p>
        </p:txBody>
      </p:sp>
      <p:sp>
        <p:nvSpPr>
          <p:cNvPr id="12" name="Rectangle 11"/>
          <p:cNvSpPr/>
          <p:nvPr/>
        </p:nvSpPr>
        <p:spPr>
          <a:xfrm>
            <a:off x="4306824" y="2048256"/>
            <a:ext cx="3566160"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4489704" y="2221992"/>
            <a:ext cx="3200400" cy="320040"/>
          </a:xfrm>
          <a:prstGeom prst="rect">
            <a:avLst/>
          </a:prstGeom>
          <a:noFill/>
          <a:effectLst/>
        </p:spPr>
        <p:txBody>
          <a:bodyPr wrap="square" lIns="0" tIns="0" rIns="0" bIns="0" anchor="t">
            <a:spAutoFit/>
          </a:bodyPr>
          <a:lstStyle/>
          <a:p>
            <a:pPr algn="l">
              <a:lnSpc>
                <a:spcPct val="114000"/>
              </a:lnSpc>
              <a:spcBef>
                <a:spcPts val="0"/>
              </a:spcBef>
              <a:spcAft>
                <a:spcPts val="0"/>
              </a:spcAft>
            </a:pPr>
            <a:r>
              <a:rPr sz="2100" b="1">
                <a:solidFill>
                  <a:srgbClr val="192E43"/>
                </a:solidFill>
                <a:latin typeface="Arial"/>
              </a:rPr>
              <a:t>Solid &amp; metallic</a:t>
            </a:r>
          </a:p>
        </p:txBody>
      </p:sp>
      <p:sp>
        <p:nvSpPr>
          <p:cNvPr id="14" name="Rectangle 13"/>
          <p:cNvSpPr/>
          <p:nvPr/>
        </p:nvSpPr>
        <p:spPr>
          <a:xfrm>
            <a:off x="8019288" y="2048256"/>
            <a:ext cx="3566160"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8202167" y="2221992"/>
            <a:ext cx="3200400" cy="320040"/>
          </a:xfrm>
          <a:prstGeom prst="rect">
            <a:avLst/>
          </a:prstGeom>
          <a:noFill/>
          <a:effectLst/>
        </p:spPr>
        <p:txBody>
          <a:bodyPr wrap="square" lIns="0" tIns="0" rIns="0" bIns="0" anchor="t">
            <a:spAutoFit/>
          </a:bodyPr>
          <a:lstStyle/>
          <a:p>
            <a:pPr algn="l">
              <a:lnSpc>
                <a:spcPct val="114000"/>
              </a:lnSpc>
              <a:spcBef>
                <a:spcPts val="0"/>
              </a:spcBef>
              <a:spcAft>
                <a:spcPts val="0"/>
              </a:spcAft>
            </a:pPr>
            <a:r>
              <a:rPr sz="2100" b="1">
                <a:solidFill>
                  <a:srgbClr val="192E43"/>
                </a:solidFill>
                <a:latin typeface="Arial"/>
              </a:rPr>
              <a:t>Chrome</a:t>
            </a:r>
          </a:p>
        </p:txBody>
      </p:sp>
      <p:pic>
        <p:nvPicPr>
          <p:cNvPr id="16" name="Picture 15" descr="image42.png"/>
          <p:cNvPicPr>
            <a:picLocks noChangeAspect="1"/>
          </p:cNvPicPr>
          <p:nvPr/>
        </p:nvPicPr>
        <p:blipFill>
          <a:blip r:embed="rId4"/>
          <a:stretch>
            <a:fillRect/>
          </a:stretch>
        </p:blipFill>
        <p:spPr>
          <a:xfrm>
            <a:off x="1361695" y="2834640"/>
            <a:ext cx="2031488" cy="1353312"/>
          </a:xfrm>
          <a:prstGeom prst="rect">
            <a:avLst/>
          </a:prstGeom>
          <a:effectLst/>
        </p:spPr>
      </p:pic>
      <p:pic>
        <p:nvPicPr>
          <p:cNvPr id="17" name="Picture 16" descr="image41.png"/>
          <p:cNvPicPr>
            <a:picLocks noChangeAspect="1"/>
          </p:cNvPicPr>
          <p:nvPr/>
        </p:nvPicPr>
        <p:blipFill>
          <a:blip r:embed="rId5"/>
          <a:stretch>
            <a:fillRect/>
          </a:stretch>
        </p:blipFill>
        <p:spPr>
          <a:xfrm>
            <a:off x="1284731" y="4315968"/>
            <a:ext cx="2167128" cy="1444752"/>
          </a:xfrm>
          <a:prstGeom prst="rect">
            <a:avLst/>
          </a:prstGeom>
          <a:effectLst/>
        </p:spPr>
      </p:pic>
      <p:pic>
        <p:nvPicPr>
          <p:cNvPr id="18" name="Picture 17" descr="image45.png"/>
          <p:cNvPicPr>
            <a:picLocks noChangeAspect="1"/>
          </p:cNvPicPr>
          <p:nvPr/>
        </p:nvPicPr>
        <p:blipFill>
          <a:blip r:embed="rId6"/>
          <a:stretch>
            <a:fillRect/>
          </a:stretch>
        </p:blipFill>
        <p:spPr>
          <a:xfrm>
            <a:off x="4498848" y="3283038"/>
            <a:ext cx="3182112" cy="1928699"/>
          </a:xfrm>
          <a:prstGeom prst="rect">
            <a:avLst/>
          </a:prstGeom>
          <a:effectLst/>
        </p:spPr>
      </p:pic>
      <p:pic>
        <p:nvPicPr>
          <p:cNvPr id="19" name="Picture 18" descr="image43.png"/>
          <p:cNvPicPr>
            <a:picLocks noChangeAspect="1"/>
          </p:cNvPicPr>
          <p:nvPr/>
        </p:nvPicPr>
        <p:blipFill>
          <a:blip r:embed="rId7"/>
          <a:stretch>
            <a:fillRect/>
          </a:stretch>
        </p:blipFill>
        <p:spPr>
          <a:xfrm>
            <a:off x="8978704" y="2752344"/>
            <a:ext cx="1693046" cy="1591056"/>
          </a:xfrm>
          <a:prstGeom prst="rect">
            <a:avLst/>
          </a:prstGeom>
          <a:effectLst/>
        </p:spPr>
      </p:pic>
      <p:pic>
        <p:nvPicPr>
          <p:cNvPr id="20" name="Picture 19" descr="image44.png"/>
          <p:cNvPicPr>
            <a:picLocks noChangeAspect="1"/>
          </p:cNvPicPr>
          <p:nvPr/>
        </p:nvPicPr>
        <p:blipFill>
          <a:blip r:embed="rId8"/>
          <a:stretch>
            <a:fillRect/>
          </a:stretch>
        </p:blipFill>
        <p:spPr>
          <a:xfrm>
            <a:off x="8229600" y="4666561"/>
            <a:ext cx="3172968" cy="944733"/>
          </a:xfrm>
          <a:prstGeom prst="rect">
            <a:avLst/>
          </a:prstGeom>
          <a:effectLst/>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SCREEN PRINTING</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Color built, layer by layer</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Top view and cross-section • Up to 10 colors</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SCREEN PRINTING</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13</a:t>
            </a:r>
          </a:p>
        </p:txBody>
      </p:sp>
      <p:sp>
        <p:nvSpPr>
          <p:cNvPr id="10" name="TextBox 9"/>
          <p:cNvSpPr txBox="1"/>
          <p:nvPr/>
        </p:nvSpPr>
        <p:spPr>
          <a:xfrm>
            <a:off x="713232" y="2039112"/>
            <a:ext cx="5394960" cy="210312"/>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30">
                <a:solidFill>
                  <a:srgbClr val="244CE5"/>
                </a:solidFill>
                <a:latin typeface="Arial"/>
              </a:rPr>
              <a:t>TOP VIEW</a:t>
            </a:r>
          </a:p>
        </p:txBody>
      </p:sp>
      <p:sp>
        <p:nvSpPr>
          <p:cNvPr id="11" name="Rectangle 10"/>
          <p:cNvSpPr/>
          <p:nvPr/>
        </p:nvSpPr>
        <p:spPr>
          <a:xfrm>
            <a:off x="612648" y="2414016"/>
            <a:ext cx="5925312" cy="325526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795528" y="2542032"/>
            <a:ext cx="5532120" cy="2907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Picture 12" descr="image46.png"/>
          <p:cNvPicPr>
            <a:picLocks noChangeAspect="1"/>
          </p:cNvPicPr>
          <p:nvPr/>
        </p:nvPicPr>
        <p:blipFill>
          <a:blip r:embed="rId4"/>
          <a:stretch>
            <a:fillRect/>
          </a:stretch>
        </p:blipFill>
        <p:spPr>
          <a:xfrm>
            <a:off x="1097280" y="2551176"/>
            <a:ext cx="4928616" cy="2898648"/>
          </a:xfrm>
          <a:prstGeom prst="rect">
            <a:avLst/>
          </a:prstGeom>
          <a:effectLst/>
        </p:spPr>
      </p:pic>
      <p:pic>
        <p:nvPicPr>
          <p:cNvPr id="14" name="Picture 13" descr="image47.png"/>
          <p:cNvPicPr>
            <a:picLocks noChangeAspect="1"/>
          </p:cNvPicPr>
          <p:nvPr/>
        </p:nvPicPr>
        <p:blipFill>
          <a:blip r:embed="rId5"/>
          <a:stretch>
            <a:fillRect/>
          </a:stretch>
        </p:blipFill>
        <p:spPr>
          <a:xfrm>
            <a:off x="1097280" y="2551176"/>
            <a:ext cx="4928616" cy="2898648"/>
          </a:xfrm>
          <a:prstGeom prst="rect">
            <a:avLst/>
          </a:prstGeom>
          <a:effectLst/>
        </p:spPr>
      </p:pic>
      <p:pic>
        <p:nvPicPr>
          <p:cNvPr id="15" name="Picture 14" descr="image48.png"/>
          <p:cNvPicPr>
            <a:picLocks noChangeAspect="1"/>
          </p:cNvPicPr>
          <p:nvPr/>
        </p:nvPicPr>
        <p:blipFill>
          <a:blip r:embed="rId6"/>
          <a:stretch>
            <a:fillRect/>
          </a:stretch>
        </p:blipFill>
        <p:spPr>
          <a:xfrm>
            <a:off x="1097280" y="2551176"/>
            <a:ext cx="4928616" cy="2898648"/>
          </a:xfrm>
          <a:prstGeom prst="rect">
            <a:avLst/>
          </a:prstGeom>
          <a:effectLst/>
        </p:spPr>
      </p:pic>
      <p:pic>
        <p:nvPicPr>
          <p:cNvPr id="16" name="Picture 15" descr="image49.png"/>
          <p:cNvPicPr>
            <a:picLocks noChangeAspect="1"/>
          </p:cNvPicPr>
          <p:nvPr/>
        </p:nvPicPr>
        <p:blipFill>
          <a:blip r:embed="rId7"/>
          <a:stretch>
            <a:fillRect/>
          </a:stretch>
        </p:blipFill>
        <p:spPr>
          <a:xfrm>
            <a:off x="1027430" y="2506980"/>
            <a:ext cx="4928616" cy="2898648"/>
          </a:xfrm>
          <a:prstGeom prst="rect">
            <a:avLst/>
          </a:prstGeom>
          <a:effectLst/>
        </p:spPr>
      </p:pic>
      <p:sp>
        <p:nvSpPr>
          <p:cNvPr id="17" name="TextBox 16"/>
          <p:cNvSpPr txBox="1"/>
          <p:nvPr/>
        </p:nvSpPr>
        <p:spPr>
          <a:xfrm>
            <a:off x="6894576" y="2039112"/>
            <a:ext cx="4462272" cy="210312"/>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30">
                <a:solidFill>
                  <a:srgbClr val="244CE5"/>
                </a:solidFill>
                <a:latin typeface="Arial"/>
              </a:rPr>
              <a:t>SIDE VIEW</a:t>
            </a:r>
          </a:p>
        </p:txBody>
      </p:sp>
      <p:sp>
        <p:nvSpPr>
          <p:cNvPr id="18" name="Rectangle 17"/>
          <p:cNvSpPr/>
          <p:nvPr/>
        </p:nvSpPr>
        <p:spPr>
          <a:xfrm>
            <a:off x="6757416" y="2414016"/>
            <a:ext cx="4828032" cy="3264408"/>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Rectangle 18"/>
          <p:cNvSpPr/>
          <p:nvPr/>
        </p:nvSpPr>
        <p:spPr>
          <a:xfrm>
            <a:off x="7086600" y="3163824"/>
            <a:ext cx="3749039" cy="146304"/>
          </a:xfrm>
          <a:prstGeom prst="rect">
            <a:avLst/>
          </a:prstGeom>
          <a:solidFill>
            <a:srgbClr val="CBD4E0"/>
          </a:solidFill>
          <a:ln w="5715">
            <a:solidFill>
              <a:srgbClr val="B5C1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Rectangle 19"/>
          <p:cNvSpPr/>
          <p:nvPr/>
        </p:nvSpPr>
        <p:spPr>
          <a:xfrm>
            <a:off x="7086600" y="2980944"/>
            <a:ext cx="3749039" cy="146304"/>
          </a:xfrm>
          <a:prstGeom prst="rect">
            <a:avLst/>
          </a:prstGeom>
          <a:solidFill>
            <a:srgbClr val="9B9FA7"/>
          </a:solidFill>
          <a:ln w="5715">
            <a:solidFill>
              <a:srgbClr val="B5C1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Rectangle 20"/>
          <p:cNvSpPr/>
          <p:nvPr/>
        </p:nvSpPr>
        <p:spPr>
          <a:xfrm>
            <a:off x="7086600" y="2807208"/>
            <a:ext cx="3749039" cy="146304"/>
          </a:xfrm>
          <a:prstGeom prst="rect">
            <a:avLst/>
          </a:prstGeom>
          <a:solidFill>
            <a:srgbClr val="FFFFFF"/>
          </a:solidFill>
          <a:ln w="5715">
            <a:solidFill>
              <a:srgbClr val="B5C1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Rectangle 21"/>
          <p:cNvSpPr/>
          <p:nvPr/>
        </p:nvSpPr>
        <p:spPr>
          <a:xfrm>
            <a:off x="7086600" y="2642616"/>
            <a:ext cx="3749039" cy="146304"/>
          </a:xfrm>
          <a:prstGeom prst="rect">
            <a:avLst/>
          </a:prstGeom>
          <a:solidFill>
            <a:srgbClr val="25292F"/>
          </a:solidFill>
          <a:ln w="5715">
            <a:solidFill>
              <a:srgbClr val="B5C1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Rectangle 22"/>
          <p:cNvSpPr/>
          <p:nvPr/>
        </p:nvSpPr>
        <p:spPr>
          <a:xfrm>
            <a:off x="7086600" y="2478024"/>
            <a:ext cx="3749039" cy="146304"/>
          </a:xfrm>
          <a:prstGeom prst="rect">
            <a:avLst/>
          </a:prstGeom>
          <a:solidFill>
            <a:srgbClr val="CB303A"/>
          </a:solidFill>
          <a:ln w="5715">
            <a:solidFill>
              <a:srgbClr val="B5C1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Rectangle 23"/>
          <p:cNvSpPr/>
          <p:nvPr/>
        </p:nvSpPr>
        <p:spPr>
          <a:xfrm>
            <a:off x="7086600" y="2331720"/>
            <a:ext cx="3749039" cy="128016"/>
          </a:xfrm>
          <a:prstGeom prst="rect">
            <a:avLst/>
          </a:prstGeom>
          <a:solidFill>
            <a:srgbClr val="83D5E9">
              <a:alpha val="65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11073384" y="3168396"/>
            <a:ext cx="228600" cy="137160"/>
          </a:xfrm>
          <a:prstGeom prst="rect">
            <a:avLst/>
          </a:prstGeom>
          <a:noFill/>
          <a:effectLst/>
        </p:spPr>
        <p:txBody>
          <a:bodyPr wrap="square" lIns="0" tIns="0" rIns="0" bIns="0" anchor="t">
            <a:spAutoFit/>
          </a:bodyPr>
          <a:lstStyle/>
          <a:p>
            <a:pPr algn="ctr">
              <a:lnSpc>
                <a:spcPct val="114000"/>
              </a:lnSpc>
              <a:spcBef>
                <a:spcPts val="0"/>
              </a:spcBef>
              <a:spcAft>
                <a:spcPts val="0"/>
              </a:spcAft>
            </a:pPr>
            <a:r>
              <a:rPr sz="950" b="1">
                <a:solidFill>
                  <a:srgbClr val="244CE5"/>
                </a:solidFill>
                <a:latin typeface="Arial"/>
              </a:rPr>
              <a:t>1</a:t>
            </a:r>
          </a:p>
        </p:txBody>
      </p:sp>
      <p:sp>
        <p:nvSpPr>
          <p:cNvPr id="26" name="TextBox 25"/>
          <p:cNvSpPr txBox="1"/>
          <p:nvPr/>
        </p:nvSpPr>
        <p:spPr>
          <a:xfrm>
            <a:off x="11073384" y="2985516"/>
            <a:ext cx="228600" cy="137160"/>
          </a:xfrm>
          <a:prstGeom prst="rect">
            <a:avLst/>
          </a:prstGeom>
          <a:noFill/>
          <a:effectLst/>
        </p:spPr>
        <p:txBody>
          <a:bodyPr wrap="square" lIns="0" tIns="0" rIns="0" bIns="0" anchor="t">
            <a:spAutoFit/>
          </a:bodyPr>
          <a:lstStyle/>
          <a:p>
            <a:pPr algn="ctr">
              <a:lnSpc>
                <a:spcPct val="114000"/>
              </a:lnSpc>
              <a:spcBef>
                <a:spcPts val="0"/>
              </a:spcBef>
              <a:spcAft>
                <a:spcPts val="0"/>
              </a:spcAft>
            </a:pPr>
            <a:r>
              <a:rPr sz="950" b="1">
                <a:solidFill>
                  <a:srgbClr val="244CE5"/>
                </a:solidFill>
                <a:latin typeface="Arial"/>
              </a:rPr>
              <a:t>2</a:t>
            </a:r>
          </a:p>
        </p:txBody>
      </p:sp>
      <p:sp>
        <p:nvSpPr>
          <p:cNvPr id="27" name="TextBox 26"/>
          <p:cNvSpPr txBox="1"/>
          <p:nvPr/>
        </p:nvSpPr>
        <p:spPr>
          <a:xfrm>
            <a:off x="11073384" y="2811780"/>
            <a:ext cx="228600" cy="137160"/>
          </a:xfrm>
          <a:prstGeom prst="rect">
            <a:avLst/>
          </a:prstGeom>
          <a:noFill/>
          <a:effectLst/>
        </p:spPr>
        <p:txBody>
          <a:bodyPr wrap="square" lIns="0" tIns="0" rIns="0" bIns="0" anchor="t">
            <a:spAutoFit/>
          </a:bodyPr>
          <a:lstStyle/>
          <a:p>
            <a:pPr algn="ctr">
              <a:lnSpc>
                <a:spcPct val="114000"/>
              </a:lnSpc>
              <a:spcBef>
                <a:spcPts val="0"/>
              </a:spcBef>
              <a:spcAft>
                <a:spcPts val="0"/>
              </a:spcAft>
            </a:pPr>
            <a:r>
              <a:rPr sz="950" b="1">
                <a:solidFill>
                  <a:srgbClr val="244CE5"/>
                </a:solidFill>
                <a:latin typeface="Arial"/>
              </a:rPr>
              <a:t>3</a:t>
            </a:r>
          </a:p>
        </p:txBody>
      </p:sp>
      <p:sp>
        <p:nvSpPr>
          <p:cNvPr id="28" name="TextBox 27"/>
          <p:cNvSpPr txBox="1"/>
          <p:nvPr/>
        </p:nvSpPr>
        <p:spPr>
          <a:xfrm>
            <a:off x="11073384" y="2647188"/>
            <a:ext cx="228600" cy="137160"/>
          </a:xfrm>
          <a:prstGeom prst="rect">
            <a:avLst/>
          </a:prstGeom>
          <a:noFill/>
          <a:effectLst/>
        </p:spPr>
        <p:txBody>
          <a:bodyPr wrap="square" lIns="0" tIns="0" rIns="0" bIns="0" anchor="t">
            <a:spAutoFit/>
          </a:bodyPr>
          <a:lstStyle/>
          <a:p>
            <a:pPr algn="ctr">
              <a:lnSpc>
                <a:spcPct val="114000"/>
              </a:lnSpc>
              <a:spcBef>
                <a:spcPts val="0"/>
              </a:spcBef>
              <a:spcAft>
                <a:spcPts val="0"/>
              </a:spcAft>
            </a:pPr>
            <a:r>
              <a:rPr sz="950" b="1">
                <a:solidFill>
                  <a:srgbClr val="244CE5"/>
                </a:solidFill>
                <a:latin typeface="Arial"/>
              </a:rPr>
              <a:t>4</a:t>
            </a:r>
          </a:p>
        </p:txBody>
      </p:sp>
      <p:sp>
        <p:nvSpPr>
          <p:cNvPr id="29" name="TextBox 28"/>
          <p:cNvSpPr txBox="1"/>
          <p:nvPr/>
        </p:nvSpPr>
        <p:spPr>
          <a:xfrm>
            <a:off x="11073384" y="2482596"/>
            <a:ext cx="228600" cy="137160"/>
          </a:xfrm>
          <a:prstGeom prst="rect">
            <a:avLst/>
          </a:prstGeom>
          <a:noFill/>
          <a:effectLst/>
        </p:spPr>
        <p:txBody>
          <a:bodyPr wrap="square" lIns="0" tIns="0" rIns="0" bIns="0" anchor="t">
            <a:spAutoFit/>
          </a:bodyPr>
          <a:lstStyle/>
          <a:p>
            <a:pPr algn="ctr">
              <a:lnSpc>
                <a:spcPct val="114000"/>
              </a:lnSpc>
              <a:spcBef>
                <a:spcPts val="0"/>
              </a:spcBef>
              <a:spcAft>
                <a:spcPts val="0"/>
              </a:spcAft>
            </a:pPr>
            <a:r>
              <a:rPr sz="950" b="1">
                <a:solidFill>
                  <a:srgbClr val="244CE5"/>
                </a:solidFill>
                <a:latin typeface="Arial"/>
              </a:rPr>
              <a:t>5</a:t>
            </a:r>
          </a:p>
        </p:txBody>
      </p:sp>
      <p:sp>
        <p:nvSpPr>
          <p:cNvPr id="30" name="TextBox 29"/>
          <p:cNvSpPr txBox="1"/>
          <p:nvPr/>
        </p:nvSpPr>
        <p:spPr>
          <a:xfrm>
            <a:off x="11073384" y="2336292"/>
            <a:ext cx="228600" cy="137160"/>
          </a:xfrm>
          <a:prstGeom prst="rect">
            <a:avLst/>
          </a:prstGeom>
          <a:noFill/>
          <a:effectLst/>
        </p:spPr>
        <p:txBody>
          <a:bodyPr wrap="square" lIns="0" tIns="0" rIns="0" bIns="0" anchor="t">
            <a:spAutoFit/>
          </a:bodyPr>
          <a:lstStyle/>
          <a:p>
            <a:pPr algn="ctr">
              <a:lnSpc>
                <a:spcPct val="114000"/>
              </a:lnSpc>
              <a:spcBef>
                <a:spcPts val="0"/>
              </a:spcBef>
              <a:spcAft>
                <a:spcPts val="0"/>
              </a:spcAft>
            </a:pPr>
            <a:r>
              <a:rPr sz="950" b="1">
                <a:solidFill>
                  <a:srgbClr val="244CE5"/>
                </a:solidFill>
                <a:latin typeface="Arial"/>
              </a:rPr>
              <a:t>6</a:t>
            </a:r>
          </a:p>
        </p:txBody>
      </p:sp>
      <p:cxnSp>
        <p:nvCxnSpPr>
          <p:cNvPr id="31" name="Connector 30"/>
          <p:cNvCxnSpPr/>
          <p:nvPr/>
        </p:nvCxnSpPr>
        <p:spPr>
          <a:xfrm>
            <a:off x="10872216" y="3044952"/>
            <a:ext cx="182880" cy="0"/>
          </a:xfrm>
          <a:prstGeom prst="line">
            <a:avLst/>
          </a:prstGeom>
          <a:ln w="952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a:off x="10872216" y="2871216"/>
            <a:ext cx="182880" cy="0"/>
          </a:xfrm>
          <a:prstGeom prst="line">
            <a:avLst/>
          </a:prstGeom>
          <a:ln w="952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a:off x="10872216" y="2706624"/>
            <a:ext cx="182880" cy="0"/>
          </a:xfrm>
          <a:prstGeom prst="line">
            <a:avLst/>
          </a:prstGeom>
          <a:ln w="952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a:off x="10872216" y="2542032"/>
            <a:ext cx="182880" cy="0"/>
          </a:xfrm>
          <a:prstGeom prst="line">
            <a:avLst/>
          </a:prstGeom>
          <a:ln w="9525">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10872216" y="2395728"/>
            <a:ext cx="182880" cy="0"/>
          </a:xfrm>
          <a:prstGeom prst="line">
            <a:avLst/>
          </a:prstGeom>
          <a:ln w="9525">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7050024" y="3575304"/>
            <a:ext cx="292608" cy="192024"/>
          </a:xfrm>
          <a:prstGeom prst="rect">
            <a:avLst/>
          </a:prstGeom>
          <a:noFill/>
          <a:effectLst/>
        </p:spPr>
        <p:txBody>
          <a:bodyPr wrap="square" lIns="0" tIns="0" rIns="0" bIns="0" anchor="t">
            <a:spAutoFit/>
          </a:bodyPr>
          <a:lstStyle/>
          <a:p>
            <a:pPr algn="ctr">
              <a:lnSpc>
                <a:spcPct val="114000"/>
              </a:lnSpc>
              <a:spcBef>
                <a:spcPts val="0"/>
              </a:spcBef>
              <a:spcAft>
                <a:spcPts val="0"/>
              </a:spcAft>
            </a:pPr>
            <a:r>
              <a:rPr sz="1100" b="1">
                <a:solidFill>
                  <a:srgbClr val="244CE5"/>
                </a:solidFill>
                <a:latin typeface="Arial"/>
              </a:rPr>
              <a:t>1</a:t>
            </a:r>
          </a:p>
        </p:txBody>
      </p:sp>
      <p:sp>
        <p:nvSpPr>
          <p:cNvPr id="37" name="TextBox 36"/>
          <p:cNvSpPr txBox="1"/>
          <p:nvPr/>
        </p:nvSpPr>
        <p:spPr>
          <a:xfrm>
            <a:off x="7470648" y="3575304"/>
            <a:ext cx="3758184"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250" b="0">
                <a:solidFill>
                  <a:srgbClr val="192E43"/>
                </a:solidFill>
                <a:latin typeface="Arial"/>
              </a:rPr>
              <a:t>Vinyl substrate</a:t>
            </a:r>
          </a:p>
        </p:txBody>
      </p:sp>
      <p:sp>
        <p:nvSpPr>
          <p:cNvPr id="38" name="TextBox 37"/>
          <p:cNvSpPr txBox="1"/>
          <p:nvPr/>
        </p:nvSpPr>
        <p:spPr>
          <a:xfrm>
            <a:off x="7050024" y="3877056"/>
            <a:ext cx="292608" cy="192024"/>
          </a:xfrm>
          <a:prstGeom prst="rect">
            <a:avLst/>
          </a:prstGeom>
          <a:noFill/>
          <a:effectLst/>
        </p:spPr>
        <p:txBody>
          <a:bodyPr wrap="square" lIns="0" tIns="0" rIns="0" bIns="0" anchor="t">
            <a:spAutoFit/>
          </a:bodyPr>
          <a:lstStyle/>
          <a:p>
            <a:pPr algn="ctr">
              <a:lnSpc>
                <a:spcPct val="114000"/>
              </a:lnSpc>
              <a:spcBef>
                <a:spcPts val="0"/>
              </a:spcBef>
              <a:spcAft>
                <a:spcPts val="0"/>
              </a:spcAft>
            </a:pPr>
            <a:r>
              <a:rPr sz="1100" b="1">
                <a:solidFill>
                  <a:srgbClr val="244CE5"/>
                </a:solidFill>
                <a:latin typeface="Arial"/>
              </a:rPr>
              <a:t>2</a:t>
            </a:r>
          </a:p>
        </p:txBody>
      </p:sp>
      <p:sp>
        <p:nvSpPr>
          <p:cNvPr id="39" name="TextBox 38"/>
          <p:cNvSpPr txBox="1"/>
          <p:nvPr/>
        </p:nvSpPr>
        <p:spPr>
          <a:xfrm>
            <a:off x="7470648" y="3877056"/>
            <a:ext cx="3758184"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250" b="0">
                <a:solidFill>
                  <a:srgbClr val="192E43"/>
                </a:solidFill>
                <a:latin typeface="Arial"/>
              </a:rPr>
              <a:t>1st color</a:t>
            </a:r>
          </a:p>
        </p:txBody>
      </p:sp>
      <p:sp>
        <p:nvSpPr>
          <p:cNvPr id="40" name="TextBox 39"/>
          <p:cNvSpPr txBox="1"/>
          <p:nvPr/>
        </p:nvSpPr>
        <p:spPr>
          <a:xfrm>
            <a:off x="7050024" y="4178808"/>
            <a:ext cx="292608" cy="192024"/>
          </a:xfrm>
          <a:prstGeom prst="rect">
            <a:avLst/>
          </a:prstGeom>
          <a:noFill/>
          <a:effectLst/>
        </p:spPr>
        <p:txBody>
          <a:bodyPr wrap="square" lIns="0" tIns="0" rIns="0" bIns="0" anchor="t">
            <a:spAutoFit/>
          </a:bodyPr>
          <a:lstStyle/>
          <a:p>
            <a:pPr algn="ctr">
              <a:lnSpc>
                <a:spcPct val="114000"/>
              </a:lnSpc>
              <a:spcBef>
                <a:spcPts val="0"/>
              </a:spcBef>
              <a:spcAft>
                <a:spcPts val="0"/>
              </a:spcAft>
            </a:pPr>
            <a:r>
              <a:rPr sz="1100" b="1">
                <a:solidFill>
                  <a:srgbClr val="244CE5"/>
                </a:solidFill>
                <a:latin typeface="Arial"/>
              </a:rPr>
              <a:t>3</a:t>
            </a:r>
          </a:p>
        </p:txBody>
      </p:sp>
      <p:sp>
        <p:nvSpPr>
          <p:cNvPr id="41" name="TextBox 40"/>
          <p:cNvSpPr txBox="1"/>
          <p:nvPr/>
        </p:nvSpPr>
        <p:spPr>
          <a:xfrm>
            <a:off x="7470648" y="4178808"/>
            <a:ext cx="3758184"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250" b="0">
                <a:solidFill>
                  <a:srgbClr val="192E43"/>
                </a:solidFill>
                <a:latin typeface="Arial"/>
              </a:rPr>
              <a:t>2nd color</a:t>
            </a:r>
          </a:p>
        </p:txBody>
      </p:sp>
      <p:sp>
        <p:nvSpPr>
          <p:cNvPr id="42" name="TextBox 41"/>
          <p:cNvSpPr txBox="1"/>
          <p:nvPr/>
        </p:nvSpPr>
        <p:spPr>
          <a:xfrm>
            <a:off x="7050024" y="4480560"/>
            <a:ext cx="292608" cy="192024"/>
          </a:xfrm>
          <a:prstGeom prst="rect">
            <a:avLst/>
          </a:prstGeom>
          <a:noFill/>
          <a:effectLst/>
        </p:spPr>
        <p:txBody>
          <a:bodyPr wrap="square" lIns="0" tIns="0" rIns="0" bIns="0" anchor="t">
            <a:spAutoFit/>
          </a:bodyPr>
          <a:lstStyle/>
          <a:p>
            <a:pPr algn="ctr">
              <a:lnSpc>
                <a:spcPct val="114000"/>
              </a:lnSpc>
              <a:spcBef>
                <a:spcPts val="0"/>
              </a:spcBef>
              <a:spcAft>
                <a:spcPts val="0"/>
              </a:spcAft>
            </a:pPr>
            <a:r>
              <a:rPr sz="1100" b="1">
                <a:solidFill>
                  <a:srgbClr val="244CE5"/>
                </a:solidFill>
                <a:latin typeface="Arial"/>
              </a:rPr>
              <a:t>4</a:t>
            </a:r>
          </a:p>
        </p:txBody>
      </p:sp>
      <p:sp>
        <p:nvSpPr>
          <p:cNvPr id="43" name="TextBox 42"/>
          <p:cNvSpPr txBox="1"/>
          <p:nvPr/>
        </p:nvSpPr>
        <p:spPr>
          <a:xfrm>
            <a:off x="7470648" y="4480560"/>
            <a:ext cx="3758184"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250" b="0">
                <a:solidFill>
                  <a:srgbClr val="192E43"/>
                </a:solidFill>
                <a:latin typeface="Arial"/>
              </a:rPr>
              <a:t>3rd color</a:t>
            </a:r>
          </a:p>
        </p:txBody>
      </p:sp>
      <p:sp>
        <p:nvSpPr>
          <p:cNvPr id="44" name="TextBox 43"/>
          <p:cNvSpPr txBox="1"/>
          <p:nvPr/>
        </p:nvSpPr>
        <p:spPr>
          <a:xfrm>
            <a:off x="7050024" y="4782312"/>
            <a:ext cx="292608" cy="192024"/>
          </a:xfrm>
          <a:prstGeom prst="rect">
            <a:avLst/>
          </a:prstGeom>
          <a:noFill/>
          <a:effectLst/>
        </p:spPr>
        <p:txBody>
          <a:bodyPr wrap="square" lIns="0" tIns="0" rIns="0" bIns="0" anchor="t">
            <a:spAutoFit/>
          </a:bodyPr>
          <a:lstStyle/>
          <a:p>
            <a:pPr algn="ctr">
              <a:lnSpc>
                <a:spcPct val="114000"/>
              </a:lnSpc>
              <a:spcBef>
                <a:spcPts val="0"/>
              </a:spcBef>
              <a:spcAft>
                <a:spcPts val="0"/>
              </a:spcAft>
            </a:pPr>
            <a:r>
              <a:rPr sz="1100" b="1">
                <a:solidFill>
                  <a:srgbClr val="244CE5"/>
                </a:solidFill>
                <a:latin typeface="Arial"/>
              </a:rPr>
              <a:t>5</a:t>
            </a:r>
          </a:p>
        </p:txBody>
      </p:sp>
      <p:sp>
        <p:nvSpPr>
          <p:cNvPr id="45" name="TextBox 44"/>
          <p:cNvSpPr txBox="1"/>
          <p:nvPr/>
        </p:nvSpPr>
        <p:spPr>
          <a:xfrm>
            <a:off x="7470648" y="4782312"/>
            <a:ext cx="3758184"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250" b="0">
                <a:solidFill>
                  <a:srgbClr val="192E43"/>
                </a:solidFill>
                <a:latin typeface="Arial"/>
              </a:rPr>
              <a:t>4th color</a:t>
            </a:r>
          </a:p>
        </p:txBody>
      </p:sp>
      <p:sp>
        <p:nvSpPr>
          <p:cNvPr id="46" name="TextBox 45"/>
          <p:cNvSpPr txBox="1"/>
          <p:nvPr/>
        </p:nvSpPr>
        <p:spPr>
          <a:xfrm>
            <a:off x="7050024" y="5285232"/>
            <a:ext cx="292608" cy="192024"/>
          </a:xfrm>
          <a:prstGeom prst="rect">
            <a:avLst/>
          </a:prstGeom>
          <a:noFill/>
          <a:effectLst/>
        </p:spPr>
        <p:txBody>
          <a:bodyPr wrap="square" lIns="0" tIns="0" rIns="0" bIns="0" anchor="t">
            <a:spAutoFit/>
          </a:bodyPr>
          <a:lstStyle/>
          <a:p>
            <a:pPr algn="ctr">
              <a:lnSpc>
                <a:spcPct val="114000"/>
              </a:lnSpc>
              <a:spcBef>
                <a:spcPts val="0"/>
              </a:spcBef>
              <a:spcAft>
                <a:spcPts val="0"/>
              </a:spcAft>
            </a:pPr>
            <a:r>
              <a:rPr sz="1100" b="1">
                <a:solidFill>
                  <a:srgbClr val="244CE5"/>
                </a:solidFill>
                <a:latin typeface="Arial"/>
              </a:rPr>
              <a:t>6</a:t>
            </a:r>
          </a:p>
        </p:txBody>
      </p:sp>
      <p:sp>
        <p:nvSpPr>
          <p:cNvPr id="47" name="TextBox 46"/>
          <p:cNvSpPr txBox="1"/>
          <p:nvPr/>
        </p:nvSpPr>
        <p:spPr>
          <a:xfrm>
            <a:off x="7470648" y="5285232"/>
            <a:ext cx="3758184"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250" b="0">
                <a:solidFill>
                  <a:srgbClr val="192E43"/>
                </a:solidFill>
                <a:latin typeface="Arial"/>
              </a:rPr>
              <a:t>Clear coat / dome</a:t>
            </a:r>
          </a:p>
        </p:txBody>
      </p:sp>
      <p:sp>
        <p:nvSpPr>
          <p:cNvPr id="48" name="TextBox 47"/>
          <p:cNvSpPr txBox="1"/>
          <p:nvPr/>
        </p:nvSpPr>
        <p:spPr>
          <a:xfrm>
            <a:off x="9153144" y="4873752"/>
            <a:ext cx="2148840" cy="182880"/>
          </a:xfrm>
          <a:prstGeom prst="rect">
            <a:avLst/>
          </a:prstGeom>
          <a:noFill/>
          <a:effectLst/>
        </p:spPr>
        <p:txBody>
          <a:bodyPr wrap="square" lIns="0" tIns="0" rIns="0" bIns="0" anchor="t">
            <a:spAutoFit/>
          </a:bodyPr>
          <a:lstStyle/>
          <a:p>
            <a:pPr algn="r">
              <a:lnSpc>
                <a:spcPct val="114000"/>
              </a:lnSpc>
              <a:spcBef>
                <a:spcPts val="0"/>
              </a:spcBef>
              <a:spcAft>
                <a:spcPts val="0"/>
              </a:spcAft>
            </a:pPr>
            <a:r>
              <a:rPr sz="1050" b="1">
                <a:solidFill>
                  <a:srgbClr val="244CE5"/>
                </a:solidFill>
                <a:latin typeface="Arial"/>
              </a:rPr>
              <a:t>UP TO 10 COLORS</a:t>
            </a:r>
          </a:p>
        </p:txBody>
      </p:sp>
      <p:cxnSp>
        <p:nvCxnSpPr>
          <p:cNvPr id="49" name="Connector 48"/>
          <p:cNvCxnSpPr/>
          <p:nvPr/>
        </p:nvCxnSpPr>
        <p:spPr>
          <a:xfrm>
            <a:off x="8595360" y="4974336"/>
            <a:ext cx="402336" cy="0"/>
          </a:xfrm>
          <a:prstGeom prst="line">
            <a:avLst/>
          </a:prstGeom>
          <a:ln w="1270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grpSp>
        <p:nvGrpSpPr>
          <p:cNvPr id="52" name="Group 51"/>
          <p:cNvGrpSpPr/>
          <p:nvPr/>
        </p:nvGrpSpPr>
        <p:grpSpPr>
          <a:xfrm>
            <a:off x="612648" y="5888736"/>
            <a:ext cx="10972800" cy="301752"/>
            <a:chOff x="612648" y="5888736"/>
            <a:chExt cx="10972800" cy="301752"/>
          </a:xfrm>
        </p:grpSpPr>
        <p:sp>
          <p:nvSpPr>
            <p:cNvPr id="50" name="Rectangle 49"/>
            <p:cNvSpPr/>
            <p:nvPr/>
          </p:nvSpPr>
          <p:spPr>
            <a:xfrm>
              <a:off x="612648" y="5888736"/>
              <a:ext cx="10972800" cy="301752"/>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1" name="TextBox 50"/>
            <p:cNvSpPr txBox="1"/>
            <p:nvPr/>
          </p:nvSpPr>
          <p:spPr>
            <a:xfrm>
              <a:off x="786384" y="5957316"/>
              <a:ext cx="10625328" cy="155448"/>
            </a:xfrm>
            <a:prstGeom prst="rect">
              <a:avLst/>
            </a:prstGeom>
            <a:noFill/>
            <a:effectLst/>
          </p:spPr>
          <p:txBody>
            <a:bodyPr wrap="square" lIns="0" tIns="0" rIns="0" bIns="0" anchor="t">
              <a:spAutoFit/>
            </a:bodyPr>
            <a:lstStyle/>
            <a:p>
              <a:pPr algn="ctr">
                <a:lnSpc>
                  <a:spcPct val="114000"/>
                </a:lnSpc>
                <a:spcBef>
                  <a:spcPts val="0"/>
                </a:spcBef>
                <a:spcAft>
                  <a:spcPts val="0"/>
                </a:spcAft>
              </a:pPr>
              <a:r>
                <a:rPr sz="1050" b="0">
                  <a:solidFill>
                    <a:srgbClr val="FFFFFF"/>
                  </a:solidFill>
                  <a:latin typeface="Arial"/>
                </a:rPr>
                <a:t>Multicolor capability  ·  Vibrant contrast  ·  Profile accuracy  ·  Solid, transparent &amp; metallic colors  ·  Outdoor durability</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par>
                                <p:cTn id="14" presetID="10" presetClass="entr" presetSubtype="0" fill="hold"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500"/>
                                        <p:tgtEl>
                                          <p:spTgt spid="38"/>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par>
                                <p:cTn id="28" presetID="10" presetClass="entr" presetSubtype="0" fill="hold"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500"/>
                                        <p:tgtEl>
                                          <p:spTgt spid="41"/>
                                        </p:tgtEl>
                                      </p:cBhvr>
                                    </p:animEffect>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par>
                                <p:cTn id="34" presetID="10" presetClass="entr" presetSubtype="0" fill="hold"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childTnLst>
                                </p:cTn>
                              </p:par>
                              <p:par>
                                <p:cTn id="37" presetID="10"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500"/>
                                        <p:tgtEl>
                                          <p:spTgt spid="40"/>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par>
                                <p:cTn id="48" presetID="10" presetClass="entr" presetSubtype="0" fill="hold" nodeType="with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500"/>
                                        <p:tgtEl>
                                          <p:spTgt spid="43"/>
                                        </p:tgtEl>
                                      </p:cBhvr>
                                    </p:animEffect>
                                  </p:childTnLst>
                                </p:cTn>
                              </p:par>
                              <p:par>
                                <p:cTn id="51" presetID="10" presetClass="entr" presetSubtype="0"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par>
                                <p:cTn id="54" presetID="10" presetClass="entr" presetSubtype="0" fill="hold"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500"/>
                                        <p:tgtEl>
                                          <p:spTgt spid="33"/>
                                        </p:tgtEl>
                                      </p:cBhvr>
                                    </p:animEffect>
                                  </p:childTnLst>
                                </p:cTn>
                              </p:par>
                              <p:par>
                                <p:cTn id="57" presetID="10" presetClass="entr" presetSubtype="0"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par>
                                <p:cTn id="60" presetID="10" presetClass="entr" presetSubtype="0" fill="hold" nodeType="with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fade">
                                      <p:cBhvr>
                                        <p:cTn id="62" dur="500"/>
                                        <p:tgtEl>
                                          <p:spTgt spid="4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68" presetID="10" presetClass="entr" presetSubtype="0" fill="hold"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500"/>
                                        <p:tgtEl>
                                          <p:spTgt spid="45"/>
                                        </p:tgtEl>
                                      </p:cBhvr>
                                    </p:animEffect>
                                  </p:childTnLst>
                                </p:cTn>
                              </p:par>
                              <p:par>
                                <p:cTn id="74" presetID="10" presetClass="entr" presetSubtype="0" fill="hold" nodeType="withEffect">
                                  <p:stCondLst>
                                    <p:cond delay="0"/>
                                  </p:stCondLst>
                                  <p:childTnLst>
                                    <p:set>
                                      <p:cBhvr>
                                        <p:cTn id="75" dur="1" fill="hold">
                                          <p:stCondLst>
                                            <p:cond delay="0"/>
                                          </p:stCondLst>
                                        </p:cTn>
                                        <p:tgtEl>
                                          <p:spTgt spid="49"/>
                                        </p:tgtEl>
                                        <p:attrNameLst>
                                          <p:attrName>style.visibility</p:attrName>
                                        </p:attrNameLst>
                                      </p:cBhvr>
                                      <p:to>
                                        <p:strVal val="visible"/>
                                      </p:to>
                                    </p:set>
                                    <p:animEffect transition="in" filter="fade">
                                      <p:cBhvr>
                                        <p:cTn id="76" dur="500"/>
                                        <p:tgtEl>
                                          <p:spTgt spid="49"/>
                                        </p:tgtEl>
                                      </p:cBhvr>
                                    </p:animEffect>
                                  </p:childTnLst>
                                </p:cTn>
                              </p:par>
                              <p:par>
                                <p:cTn id="77" presetID="10" presetClass="entr" presetSubtype="0" fill="hold" nodeType="withEffect">
                                  <p:stCondLst>
                                    <p:cond delay="0"/>
                                  </p:stCondLst>
                                  <p:childTnLst>
                                    <p:set>
                                      <p:cBhvr>
                                        <p:cTn id="78" dur="1" fill="hold">
                                          <p:stCondLst>
                                            <p:cond delay="0"/>
                                          </p:stCondLst>
                                        </p:cTn>
                                        <p:tgtEl>
                                          <p:spTgt spid="48"/>
                                        </p:tgtEl>
                                        <p:attrNameLst>
                                          <p:attrName>style.visibility</p:attrName>
                                        </p:attrNameLst>
                                      </p:cBhvr>
                                      <p:to>
                                        <p:strVal val="visible"/>
                                      </p:to>
                                    </p:set>
                                    <p:animEffect transition="in" filter="fade">
                                      <p:cBhvr>
                                        <p:cTn id="79" dur="500"/>
                                        <p:tgtEl>
                                          <p:spTgt spid="48"/>
                                        </p:tgtEl>
                                      </p:cBhvr>
                                    </p:animEffect>
                                  </p:childTnLst>
                                </p:cTn>
                              </p:par>
                              <p:par>
                                <p:cTn id="80" presetID="10" presetClass="entr" presetSubtype="0" fill="hold"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500"/>
                                        <p:tgtEl>
                                          <p:spTgt spid="44"/>
                                        </p:tgtEl>
                                      </p:cBhvr>
                                    </p:animEffec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500"/>
                                        <p:tgtEl>
                                          <p:spTgt spid="34"/>
                                        </p:tgtEl>
                                      </p:cBhvr>
                                    </p:animEffect>
                                  </p:childTnLst>
                                </p:cTn>
                              </p:par>
                              <p:par>
                                <p:cTn id="86" presetID="10" presetClass="entr" presetSubtype="0" fill="hold"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childTnLst>
                                </p:cTn>
                              </p:par>
                              <p:par>
                                <p:cTn id="94" presetID="10" presetClass="entr" presetSubtype="0" fill="hold" nodeType="withEffect">
                                  <p:stCondLst>
                                    <p:cond delay="0"/>
                                  </p:stCondLst>
                                  <p:childTnLst>
                                    <p:set>
                                      <p:cBhvr>
                                        <p:cTn id="95" dur="1" fill="hold">
                                          <p:stCondLst>
                                            <p:cond delay="0"/>
                                          </p:stCondLst>
                                        </p:cTn>
                                        <p:tgtEl>
                                          <p:spTgt spid="47"/>
                                        </p:tgtEl>
                                        <p:attrNameLst>
                                          <p:attrName>style.visibility</p:attrName>
                                        </p:attrNameLst>
                                      </p:cBhvr>
                                      <p:to>
                                        <p:strVal val="visible"/>
                                      </p:to>
                                    </p:set>
                                    <p:animEffect transition="in" filter="fade">
                                      <p:cBhvr>
                                        <p:cTn id="96" dur="500"/>
                                        <p:tgtEl>
                                          <p:spTgt spid="47"/>
                                        </p:tgtEl>
                                      </p:cBhvr>
                                    </p:animEffect>
                                  </p:childTnLst>
                                </p:cTn>
                              </p:par>
                              <p:par>
                                <p:cTn id="97" presetID="10" presetClass="entr" presetSubtype="0" fill="hold"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500"/>
                                        <p:tgtEl>
                                          <p:spTgt spid="35"/>
                                        </p:tgtEl>
                                      </p:cBhvr>
                                    </p:animEffect>
                                  </p:childTnLst>
                                </p:cTn>
                              </p:par>
                              <p:par>
                                <p:cTn id="100" presetID="10" presetClass="entr" presetSubtype="0" fill="hold" nodeType="with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500"/>
                                        <p:tgtEl>
                                          <p:spTgt spid="30"/>
                                        </p:tgtEl>
                                      </p:cBhvr>
                                    </p:animEffect>
                                  </p:childTnLst>
                                </p:cTn>
                              </p:par>
                              <p:par>
                                <p:cTn id="103" presetID="10" presetClass="entr" presetSubtype="0" fill="hold" nodeType="withEffect">
                                  <p:stCondLst>
                                    <p:cond delay="0"/>
                                  </p:stCondLst>
                                  <p:childTnLst>
                                    <p:set>
                                      <p:cBhvr>
                                        <p:cTn id="104" dur="1" fill="hold">
                                          <p:stCondLst>
                                            <p:cond delay="0"/>
                                          </p:stCondLst>
                                        </p:cTn>
                                        <p:tgtEl>
                                          <p:spTgt spid="46"/>
                                        </p:tgtEl>
                                        <p:attrNameLst>
                                          <p:attrName>style.visibility</p:attrName>
                                        </p:attrNameLst>
                                      </p:cBhvr>
                                      <p:to>
                                        <p:strVal val="visible"/>
                                      </p:to>
                                    </p:set>
                                    <p:animEffect transition="in" filter="fade">
                                      <p:cBhvr>
                                        <p:cTn id="105" dur="500"/>
                                        <p:tgtEl>
                                          <p:spTgt spid="4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SCREEN PRINTING FLOW</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100" b="1" spc="-40">
                <a:solidFill>
                  <a:srgbClr val="112B45"/>
                </a:solidFill>
                <a:latin typeface="Arial"/>
              </a:rPr>
              <a:t>From concept to production</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01 / 03  ·  Design &amp; prepress</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SCREEN PRINTING FLOW</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14</a:t>
            </a:r>
          </a:p>
        </p:txBody>
      </p:sp>
      <p:sp>
        <p:nvSpPr>
          <p:cNvPr id="10" name="Rectangle 9"/>
          <p:cNvSpPr/>
          <p:nvPr/>
        </p:nvSpPr>
        <p:spPr>
          <a:xfrm>
            <a:off x="612648" y="2048256"/>
            <a:ext cx="258775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68096" y="2240280"/>
            <a:ext cx="603504"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01</a:t>
            </a:r>
          </a:p>
        </p:txBody>
      </p:sp>
      <p:sp>
        <p:nvSpPr>
          <p:cNvPr id="12" name="TextBox 11"/>
          <p:cNvSpPr txBox="1"/>
          <p:nvPr/>
        </p:nvSpPr>
        <p:spPr>
          <a:xfrm>
            <a:off x="768096" y="2715768"/>
            <a:ext cx="2295144" cy="521207"/>
          </a:xfrm>
          <a:prstGeom prst="rect">
            <a:avLst/>
          </a:prstGeom>
          <a:noFill/>
          <a:effectLst/>
        </p:spPr>
        <p:txBody>
          <a:bodyPr wrap="square" lIns="0" tIns="0" rIns="0" bIns="0" anchor="t">
            <a:spAutoFit/>
          </a:bodyPr>
          <a:lstStyle/>
          <a:p>
            <a:pPr algn="l">
              <a:lnSpc>
                <a:spcPct val="109000"/>
              </a:lnSpc>
              <a:spcBef>
                <a:spcPts val="0"/>
              </a:spcBef>
              <a:spcAft>
                <a:spcPts val="0"/>
              </a:spcAft>
            </a:pPr>
            <a:r>
              <a:rPr sz="1720" b="1">
                <a:solidFill>
                  <a:srgbClr val="192E43"/>
                </a:solidFill>
                <a:latin typeface="Arial"/>
              </a:rPr>
              <a:t>Drawing / mock-up</a:t>
            </a:r>
          </a:p>
        </p:txBody>
      </p:sp>
      <p:pic>
        <p:nvPicPr>
          <p:cNvPr id="13" name="Picture 12" descr="image50.jpg"/>
          <p:cNvPicPr>
            <a:picLocks noChangeAspect="1"/>
          </p:cNvPicPr>
          <p:nvPr/>
        </p:nvPicPr>
        <p:blipFill>
          <a:blip r:embed="rId4"/>
          <a:srcRect l="12910" r="12910"/>
          <a:stretch>
            <a:fillRect/>
          </a:stretch>
        </p:blipFill>
        <p:spPr>
          <a:xfrm>
            <a:off x="722376" y="3465576"/>
            <a:ext cx="2368296" cy="2331720"/>
          </a:xfrm>
          <a:prstGeom prst="rect">
            <a:avLst/>
          </a:prstGeom>
          <a:effectLst/>
        </p:spPr>
      </p:pic>
      <p:cxnSp>
        <p:nvCxnSpPr>
          <p:cNvPr id="14" name="Connector 13"/>
          <p:cNvCxnSpPr/>
          <p:nvPr/>
        </p:nvCxnSpPr>
        <p:spPr>
          <a:xfrm>
            <a:off x="3246120" y="2414016"/>
            <a:ext cx="118871"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 name="Rectangle 14"/>
          <p:cNvSpPr/>
          <p:nvPr/>
        </p:nvSpPr>
        <p:spPr>
          <a:xfrm>
            <a:off x="3419856" y="2048256"/>
            <a:ext cx="258775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3575303" y="2240280"/>
            <a:ext cx="603504"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02</a:t>
            </a:r>
          </a:p>
        </p:txBody>
      </p:sp>
      <p:sp>
        <p:nvSpPr>
          <p:cNvPr id="17" name="TextBox 16"/>
          <p:cNvSpPr txBox="1"/>
          <p:nvPr/>
        </p:nvSpPr>
        <p:spPr>
          <a:xfrm>
            <a:off x="3575303" y="2715768"/>
            <a:ext cx="2295144" cy="521207"/>
          </a:xfrm>
          <a:prstGeom prst="rect">
            <a:avLst/>
          </a:prstGeom>
          <a:noFill/>
          <a:effectLst/>
        </p:spPr>
        <p:txBody>
          <a:bodyPr wrap="square" lIns="0" tIns="0" rIns="0" bIns="0" anchor="t">
            <a:spAutoFit/>
          </a:bodyPr>
          <a:lstStyle/>
          <a:p>
            <a:pPr algn="l">
              <a:lnSpc>
                <a:spcPct val="109000"/>
              </a:lnSpc>
              <a:spcBef>
                <a:spcPts val="0"/>
              </a:spcBef>
              <a:spcAft>
                <a:spcPts val="0"/>
              </a:spcAft>
            </a:pPr>
            <a:r>
              <a:rPr sz="1720" b="1">
                <a:solidFill>
                  <a:srgbClr val="192E43"/>
                </a:solidFill>
                <a:latin typeface="Arial"/>
              </a:rPr>
              <a:t>Tracing</a:t>
            </a:r>
          </a:p>
        </p:txBody>
      </p:sp>
      <p:pic>
        <p:nvPicPr>
          <p:cNvPr id="18" name="Picture 17" descr="image51.jpg"/>
          <p:cNvPicPr>
            <a:picLocks noChangeAspect="1"/>
          </p:cNvPicPr>
          <p:nvPr/>
        </p:nvPicPr>
        <p:blipFill>
          <a:blip r:embed="rId5"/>
          <a:srcRect l="4638" r="4638"/>
          <a:stretch>
            <a:fillRect/>
          </a:stretch>
        </p:blipFill>
        <p:spPr>
          <a:xfrm>
            <a:off x="3529584" y="3465576"/>
            <a:ext cx="2368296" cy="2331720"/>
          </a:xfrm>
          <a:prstGeom prst="rect">
            <a:avLst/>
          </a:prstGeom>
          <a:effectLst/>
        </p:spPr>
      </p:pic>
      <p:cxnSp>
        <p:nvCxnSpPr>
          <p:cNvPr id="19" name="Connector 18"/>
          <p:cNvCxnSpPr/>
          <p:nvPr/>
        </p:nvCxnSpPr>
        <p:spPr>
          <a:xfrm>
            <a:off x="6053327" y="2414016"/>
            <a:ext cx="118873"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0" name="Rectangle 19"/>
          <p:cNvSpPr/>
          <p:nvPr/>
        </p:nvSpPr>
        <p:spPr>
          <a:xfrm>
            <a:off x="6227064" y="2048256"/>
            <a:ext cx="258775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6382512" y="2240280"/>
            <a:ext cx="603504"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03</a:t>
            </a:r>
          </a:p>
        </p:txBody>
      </p:sp>
      <p:sp>
        <p:nvSpPr>
          <p:cNvPr id="22" name="TextBox 21"/>
          <p:cNvSpPr txBox="1"/>
          <p:nvPr/>
        </p:nvSpPr>
        <p:spPr>
          <a:xfrm>
            <a:off x="6382512" y="2715768"/>
            <a:ext cx="2295144" cy="521207"/>
          </a:xfrm>
          <a:prstGeom prst="rect">
            <a:avLst/>
          </a:prstGeom>
          <a:noFill/>
          <a:effectLst/>
        </p:spPr>
        <p:txBody>
          <a:bodyPr wrap="square" lIns="0" tIns="0" rIns="0" bIns="0" anchor="t">
            <a:spAutoFit/>
          </a:bodyPr>
          <a:lstStyle/>
          <a:p>
            <a:pPr algn="l">
              <a:lnSpc>
                <a:spcPct val="109000"/>
              </a:lnSpc>
              <a:spcBef>
                <a:spcPts val="0"/>
              </a:spcBef>
              <a:spcAft>
                <a:spcPts val="0"/>
              </a:spcAft>
            </a:pPr>
            <a:r>
              <a:rPr sz="1720" b="1">
                <a:solidFill>
                  <a:srgbClr val="192E43"/>
                </a:solidFill>
                <a:latin typeface="Arial"/>
              </a:rPr>
              <a:t>Digital artwork</a:t>
            </a:r>
          </a:p>
        </p:txBody>
      </p:sp>
      <p:pic>
        <p:nvPicPr>
          <p:cNvPr id="23" name="Picture 22" descr="image52.jpg"/>
          <p:cNvPicPr>
            <a:picLocks noChangeAspect="1"/>
          </p:cNvPicPr>
          <p:nvPr/>
        </p:nvPicPr>
        <p:blipFill>
          <a:blip r:embed="rId6"/>
          <a:srcRect t="6401" b="6401"/>
          <a:stretch>
            <a:fillRect/>
          </a:stretch>
        </p:blipFill>
        <p:spPr>
          <a:xfrm>
            <a:off x="6336792" y="3374136"/>
            <a:ext cx="2368296" cy="1161288"/>
          </a:xfrm>
          <a:prstGeom prst="rect">
            <a:avLst/>
          </a:prstGeom>
          <a:effectLst/>
        </p:spPr>
      </p:pic>
      <p:pic>
        <p:nvPicPr>
          <p:cNvPr id="24" name="Picture 23" descr="image53.jpg"/>
          <p:cNvPicPr>
            <a:picLocks noChangeAspect="1"/>
          </p:cNvPicPr>
          <p:nvPr/>
        </p:nvPicPr>
        <p:blipFill>
          <a:blip r:embed="rId7"/>
          <a:srcRect t="6375" b="6375"/>
          <a:stretch>
            <a:fillRect/>
          </a:stretch>
        </p:blipFill>
        <p:spPr>
          <a:xfrm>
            <a:off x="6336792" y="4636008"/>
            <a:ext cx="2368296" cy="1161288"/>
          </a:xfrm>
          <a:prstGeom prst="rect">
            <a:avLst/>
          </a:prstGeom>
          <a:effectLst/>
        </p:spPr>
      </p:pic>
      <p:cxnSp>
        <p:nvCxnSpPr>
          <p:cNvPr id="25" name="Connector 24"/>
          <p:cNvCxnSpPr/>
          <p:nvPr/>
        </p:nvCxnSpPr>
        <p:spPr>
          <a:xfrm>
            <a:off x="8860536" y="2414016"/>
            <a:ext cx="118872"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Rectangle 25"/>
          <p:cNvSpPr/>
          <p:nvPr/>
        </p:nvSpPr>
        <p:spPr>
          <a:xfrm>
            <a:off x="9034272" y="2048256"/>
            <a:ext cx="258775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9189719" y="2240280"/>
            <a:ext cx="603504"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04</a:t>
            </a:r>
          </a:p>
        </p:txBody>
      </p:sp>
      <p:sp>
        <p:nvSpPr>
          <p:cNvPr id="28" name="TextBox 27"/>
          <p:cNvSpPr txBox="1"/>
          <p:nvPr/>
        </p:nvSpPr>
        <p:spPr>
          <a:xfrm>
            <a:off x="9189719" y="2715768"/>
            <a:ext cx="2295144" cy="521207"/>
          </a:xfrm>
          <a:prstGeom prst="rect">
            <a:avLst/>
          </a:prstGeom>
          <a:noFill/>
          <a:effectLst/>
        </p:spPr>
        <p:txBody>
          <a:bodyPr wrap="square" lIns="0" tIns="0" rIns="0" bIns="0" anchor="t">
            <a:spAutoFit/>
          </a:bodyPr>
          <a:lstStyle/>
          <a:p>
            <a:pPr algn="l">
              <a:lnSpc>
                <a:spcPct val="109000"/>
              </a:lnSpc>
              <a:spcBef>
                <a:spcPts val="0"/>
              </a:spcBef>
              <a:spcAft>
                <a:spcPts val="0"/>
              </a:spcAft>
            </a:pPr>
            <a:r>
              <a:rPr sz="1720" b="1">
                <a:solidFill>
                  <a:srgbClr val="192E43"/>
                </a:solidFill>
                <a:latin typeface="Arial"/>
              </a:rPr>
              <a:t>Image setting</a:t>
            </a:r>
          </a:p>
        </p:txBody>
      </p:sp>
      <p:pic>
        <p:nvPicPr>
          <p:cNvPr id="29" name="Picture 28" descr="image54.jpg"/>
          <p:cNvPicPr>
            <a:picLocks noChangeAspect="1"/>
          </p:cNvPicPr>
          <p:nvPr/>
        </p:nvPicPr>
        <p:blipFill>
          <a:blip r:embed="rId8"/>
          <a:srcRect l="9305" r="9305"/>
          <a:stretch>
            <a:fillRect/>
          </a:stretch>
        </p:blipFill>
        <p:spPr>
          <a:xfrm>
            <a:off x="9143999" y="3465576"/>
            <a:ext cx="2368296" cy="2331720"/>
          </a:xfrm>
          <a:prstGeom prst="rect">
            <a:avLst/>
          </a:prstGeom>
          <a:effectLst/>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SCREEN PRINTING FLOW</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100" b="1" spc="-40">
                <a:solidFill>
                  <a:srgbClr val="112B45"/>
                </a:solidFill>
                <a:latin typeface="Arial"/>
              </a:rPr>
              <a:t>From screen to finished surface</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02 / 03  ·  Printing &amp; finishing</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SCREEN PRINTING FLOW</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15</a:t>
            </a:r>
          </a:p>
        </p:txBody>
      </p:sp>
      <p:sp>
        <p:nvSpPr>
          <p:cNvPr id="10" name="Rectangle 9"/>
          <p:cNvSpPr/>
          <p:nvPr/>
        </p:nvSpPr>
        <p:spPr>
          <a:xfrm>
            <a:off x="612648" y="2048256"/>
            <a:ext cx="258775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68096" y="2240280"/>
            <a:ext cx="603504"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05</a:t>
            </a:r>
          </a:p>
        </p:txBody>
      </p:sp>
      <p:sp>
        <p:nvSpPr>
          <p:cNvPr id="12" name="TextBox 11"/>
          <p:cNvSpPr txBox="1"/>
          <p:nvPr/>
        </p:nvSpPr>
        <p:spPr>
          <a:xfrm>
            <a:off x="768096" y="2715768"/>
            <a:ext cx="2295144" cy="521207"/>
          </a:xfrm>
          <a:prstGeom prst="rect">
            <a:avLst/>
          </a:prstGeom>
          <a:noFill/>
          <a:effectLst/>
        </p:spPr>
        <p:txBody>
          <a:bodyPr wrap="square" lIns="0" tIns="0" rIns="0" bIns="0" anchor="t">
            <a:spAutoFit/>
          </a:bodyPr>
          <a:lstStyle/>
          <a:p>
            <a:pPr algn="l">
              <a:lnSpc>
                <a:spcPct val="109000"/>
              </a:lnSpc>
              <a:spcBef>
                <a:spcPts val="0"/>
              </a:spcBef>
              <a:spcAft>
                <a:spcPts val="0"/>
              </a:spcAft>
            </a:pPr>
            <a:r>
              <a:rPr sz="1720" b="1">
                <a:solidFill>
                  <a:srgbClr val="192E43"/>
                </a:solidFill>
                <a:latin typeface="Arial"/>
              </a:rPr>
              <a:t>Exposure</a:t>
            </a:r>
          </a:p>
        </p:txBody>
      </p:sp>
      <p:pic>
        <p:nvPicPr>
          <p:cNvPr id="13" name="Picture 12" descr="image55.jpg"/>
          <p:cNvPicPr>
            <a:picLocks noChangeAspect="1"/>
          </p:cNvPicPr>
          <p:nvPr/>
        </p:nvPicPr>
        <p:blipFill>
          <a:blip r:embed="rId4"/>
          <a:srcRect t="6350" b="6350"/>
          <a:stretch>
            <a:fillRect/>
          </a:stretch>
        </p:blipFill>
        <p:spPr>
          <a:xfrm>
            <a:off x="722376" y="3374136"/>
            <a:ext cx="2368296" cy="1161288"/>
          </a:xfrm>
          <a:prstGeom prst="rect">
            <a:avLst/>
          </a:prstGeom>
          <a:effectLst/>
        </p:spPr>
      </p:pic>
      <p:pic>
        <p:nvPicPr>
          <p:cNvPr id="14" name="Picture 13" descr="image56.jpg"/>
          <p:cNvPicPr>
            <a:picLocks noChangeAspect="1"/>
          </p:cNvPicPr>
          <p:nvPr/>
        </p:nvPicPr>
        <p:blipFill>
          <a:blip r:embed="rId5"/>
          <a:srcRect t="6350" b="6350"/>
          <a:stretch>
            <a:fillRect/>
          </a:stretch>
        </p:blipFill>
        <p:spPr>
          <a:xfrm>
            <a:off x="722376" y="4636008"/>
            <a:ext cx="2368296" cy="1161288"/>
          </a:xfrm>
          <a:prstGeom prst="rect">
            <a:avLst/>
          </a:prstGeom>
          <a:effectLst/>
        </p:spPr>
      </p:pic>
      <p:cxnSp>
        <p:nvCxnSpPr>
          <p:cNvPr id="15" name="Connector 14"/>
          <p:cNvCxnSpPr/>
          <p:nvPr/>
        </p:nvCxnSpPr>
        <p:spPr>
          <a:xfrm>
            <a:off x="3246120" y="2414016"/>
            <a:ext cx="118871"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 name="Rectangle 15"/>
          <p:cNvSpPr/>
          <p:nvPr/>
        </p:nvSpPr>
        <p:spPr>
          <a:xfrm>
            <a:off x="3419856" y="2048256"/>
            <a:ext cx="258775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3575303" y="2240280"/>
            <a:ext cx="603504"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06</a:t>
            </a:r>
          </a:p>
        </p:txBody>
      </p:sp>
      <p:sp>
        <p:nvSpPr>
          <p:cNvPr id="18" name="TextBox 17"/>
          <p:cNvSpPr txBox="1"/>
          <p:nvPr/>
        </p:nvSpPr>
        <p:spPr>
          <a:xfrm>
            <a:off x="3575303" y="2715768"/>
            <a:ext cx="2295144" cy="521207"/>
          </a:xfrm>
          <a:prstGeom prst="rect">
            <a:avLst/>
          </a:prstGeom>
          <a:noFill/>
          <a:effectLst/>
        </p:spPr>
        <p:txBody>
          <a:bodyPr wrap="square" lIns="0" tIns="0" rIns="0" bIns="0" anchor="t">
            <a:spAutoFit/>
          </a:bodyPr>
          <a:lstStyle/>
          <a:p>
            <a:pPr algn="l">
              <a:lnSpc>
                <a:spcPct val="109000"/>
              </a:lnSpc>
              <a:spcBef>
                <a:spcPts val="0"/>
              </a:spcBef>
              <a:spcAft>
                <a:spcPts val="0"/>
              </a:spcAft>
            </a:pPr>
            <a:r>
              <a:rPr sz="1720" b="1">
                <a:solidFill>
                  <a:srgbClr val="192E43"/>
                </a:solidFill>
                <a:latin typeface="Arial"/>
              </a:rPr>
              <a:t>Color mix &amp; print</a:t>
            </a:r>
          </a:p>
        </p:txBody>
      </p:sp>
      <p:pic>
        <p:nvPicPr>
          <p:cNvPr id="19" name="Picture 18" descr="image57.jpg"/>
          <p:cNvPicPr>
            <a:picLocks noChangeAspect="1"/>
          </p:cNvPicPr>
          <p:nvPr/>
        </p:nvPicPr>
        <p:blipFill>
          <a:blip r:embed="rId6"/>
          <a:srcRect t="6426" b="6426"/>
          <a:stretch>
            <a:fillRect/>
          </a:stretch>
        </p:blipFill>
        <p:spPr>
          <a:xfrm>
            <a:off x="3529584" y="3374136"/>
            <a:ext cx="2368296" cy="1161288"/>
          </a:xfrm>
          <a:prstGeom prst="rect">
            <a:avLst/>
          </a:prstGeom>
          <a:effectLst/>
        </p:spPr>
      </p:pic>
      <p:pic>
        <p:nvPicPr>
          <p:cNvPr id="20" name="Picture 19" descr="image58.jpg"/>
          <p:cNvPicPr>
            <a:picLocks noChangeAspect="1"/>
          </p:cNvPicPr>
          <p:nvPr/>
        </p:nvPicPr>
        <p:blipFill>
          <a:blip r:embed="rId7"/>
          <a:srcRect t="6314" b="6314"/>
          <a:stretch>
            <a:fillRect/>
          </a:stretch>
        </p:blipFill>
        <p:spPr>
          <a:xfrm>
            <a:off x="3529584" y="4636008"/>
            <a:ext cx="2368296" cy="1161288"/>
          </a:xfrm>
          <a:prstGeom prst="rect">
            <a:avLst/>
          </a:prstGeom>
          <a:effectLst/>
        </p:spPr>
      </p:pic>
      <p:cxnSp>
        <p:nvCxnSpPr>
          <p:cNvPr id="21" name="Connector 20"/>
          <p:cNvCxnSpPr/>
          <p:nvPr/>
        </p:nvCxnSpPr>
        <p:spPr>
          <a:xfrm>
            <a:off x="6053327" y="2414016"/>
            <a:ext cx="118873"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6227064" y="2048256"/>
            <a:ext cx="258775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6382512" y="2240280"/>
            <a:ext cx="603504"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07</a:t>
            </a:r>
          </a:p>
        </p:txBody>
      </p:sp>
      <p:sp>
        <p:nvSpPr>
          <p:cNvPr id="24" name="TextBox 23"/>
          <p:cNvSpPr txBox="1"/>
          <p:nvPr/>
        </p:nvSpPr>
        <p:spPr>
          <a:xfrm>
            <a:off x="6382512" y="2715768"/>
            <a:ext cx="2295144" cy="521207"/>
          </a:xfrm>
          <a:prstGeom prst="rect">
            <a:avLst/>
          </a:prstGeom>
          <a:noFill/>
          <a:effectLst/>
        </p:spPr>
        <p:txBody>
          <a:bodyPr wrap="square" lIns="0" tIns="0" rIns="0" bIns="0" anchor="t">
            <a:spAutoFit/>
          </a:bodyPr>
          <a:lstStyle/>
          <a:p>
            <a:pPr algn="l">
              <a:lnSpc>
                <a:spcPct val="109000"/>
              </a:lnSpc>
              <a:spcBef>
                <a:spcPts val="0"/>
              </a:spcBef>
              <a:spcAft>
                <a:spcPts val="0"/>
              </a:spcAft>
            </a:pPr>
            <a:r>
              <a:rPr sz="1720" b="1">
                <a:solidFill>
                  <a:srgbClr val="192E43"/>
                </a:solidFill>
                <a:latin typeface="Arial"/>
              </a:rPr>
              <a:t>Coating / laminating</a:t>
            </a:r>
          </a:p>
        </p:txBody>
      </p:sp>
      <p:pic>
        <p:nvPicPr>
          <p:cNvPr id="25" name="Picture 24" descr="image59.jpg"/>
          <p:cNvPicPr>
            <a:picLocks noChangeAspect="1"/>
          </p:cNvPicPr>
          <p:nvPr/>
        </p:nvPicPr>
        <p:blipFill>
          <a:blip r:embed="rId8"/>
          <a:srcRect t="6290" b="6290"/>
          <a:stretch>
            <a:fillRect/>
          </a:stretch>
        </p:blipFill>
        <p:spPr>
          <a:xfrm>
            <a:off x="6336792" y="3374136"/>
            <a:ext cx="2368296" cy="1161288"/>
          </a:xfrm>
          <a:prstGeom prst="rect">
            <a:avLst/>
          </a:prstGeom>
          <a:effectLst/>
        </p:spPr>
      </p:pic>
      <p:pic>
        <p:nvPicPr>
          <p:cNvPr id="26" name="Picture 25" descr="image60.jpg"/>
          <p:cNvPicPr>
            <a:picLocks noChangeAspect="1"/>
          </p:cNvPicPr>
          <p:nvPr/>
        </p:nvPicPr>
        <p:blipFill>
          <a:blip r:embed="rId9"/>
          <a:srcRect t="6364" b="6364"/>
          <a:stretch>
            <a:fillRect/>
          </a:stretch>
        </p:blipFill>
        <p:spPr>
          <a:xfrm>
            <a:off x="6336792" y="4636008"/>
            <a:ext cx="2368296" cy="1161288"/>
          </a:xfrm>
          <a:prstGeom prst="rect">
            <a:avLst/>
          </a:prstGeom>
          <a:effectLst/>
        </p:spPr>
      </p:pic>
      <p:cxnSp>
        <p:nvCxnSpPr>
          <p:cNvPr id="27" name="Connector 26"/>
          <p:cNvCxnSpPr/>
          <p:nvPr/>
        </p:nvCxnSpPr>
        <p:spPr>
          <a:xfrm>
            <a:off x="8860536" y="2414016"/>
            <a:ext cx="118872"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Rectangle 27"/>
          <p:cNvSpPr/>
          <p:nvPr/>
        </p:nvSpPr>
        <p:spPr>
          <a:xfrm>
            <a:off x="9034272" y="2048256"/>
            <a:ext cx="258775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9189719" y="2240280"/>
            <a:ext cx="603504"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08</a:t>
            </a:r>
          </a:p>
        </p:txBody>
      </p:sp>
      <p:sp>
        <p:nvSpPr>
          <p:cNvPr id="30" name="TextBox 29"/>
          <p:cNvSpPr txBox="1"/>
          <p:nvPr/>
        </p:nvSpPr>
        <p:spPr>
          <a:xfrm>
            <a:off x="9189719" y="2715768"/>
            <a:ext cx="2295144" cy="521207"/>
          </a:xfrm>
          <a:prstGeom prst="rect">
            <a:avLst/>
          </a:prstGeom>
          <a:noFill/>
          <a:effectLst/>
        </p:spPr>
        <p:txBody>
          <a:bodyPr wrap="square" lIns="0" tIns="0" rIns="0" bIns="0" anchor="t">
            <a:spAutoFit/>
          </a:bodyPr>
          <a:lstStyle/>
          <a:p>
            <a:pPr algn="l">
              <a:lnSpc>
                <a:spcPct val="109000"/>
              </a:lnSpc>
              <a:spcBef>
                <a:spcPts val="0"/>
              </a:spcBef>
              <a:spcAft>
                <a:spcPts val="0"/>
              </a:spcAft>
            </a:pPr>
            <a:r>
              <a:rPr sz="1720" b="1">
                <a:solidFill>
                  <a:srgbClr val="192E43"/>
                </a:solidFill>
                <a:latin typeface="Arial"/>
              </a:rPr>
              <a:t>Premasking</a:t>
            </a:r>
          </a:p>
        </p:txBody>
      </p:sp>
      <p:pic>
        <p:nvPicPr>
          <p:cNvPr id="31" name="Picture 30" descr="image61.jpg"/>
          <p:cNvPicPr>
            <a:picLocks noChangeAspect="1"/>
          </p:cNvPicPr>
          <p:nvPr/>
        </p:nvPicPr>
        <p:blipFill>
          <a:blip r:embed="rId10"/>
          <a:srcRect l="7883" r="7883"/>
          <a:stretch>
            <a:fillRect/>
          </a:stretch>
        </p:blipFill>
        <p:spPr>
          <a:xfrm>
            <a:off x="9143999" y="3465576"/>
            <a:ext cx="2368296" cy="2331720"/>
          </a:xfrm>
          <a:prstGeom prst="rect">
            <a:avLst/>
          </a:prstGeom>
          <a:effectLst/>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SCREEN PRINTING FLOW</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100" b="1" spc="-40">
                <a:solidFill>
                  <a:srgbClr val="112B45"/>
                </a:solidFill>
                <a:latin typeface="Arial"/>
              </a:rPr>
              <a:t>From cutting to customer delivery</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03 / 03  ·  Conversion &amp; logistics</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SCREEN PRINTING FLOW</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16</a:t>
            </a:r>
          </a:p>
        </p:txBody>
      </p:sp>
      <p:sp>
        <p:nvSpPr>
          <p:cNvPr id="10" name="Rectangle 9"/>
          <p:cNvSpPr/>
          <p:nvPr/>
        </p:nvSpPr>
        <p:spPr>
          <a:xfrm>
            <a:off x="612648" y="2048256"/>
            <a:ext cx="258775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68096" y="2240280"/>
            <a:ext cx="603504"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09</a:t>
            </a:r>
          </a:p>
        </p:txBody>
      </p:sp>
      <p:sp>
        <p:nvSpPr>
          <p:cNvPr id="12" name="TextBox 11"/>
          <p:cNvSpPr txBox="1"/>
          <p:nvPr/>
        </p:nvSpPr>
        <p:spPr>
          <a:xfrm>
            <a:off x="768096" y="2715768"/>
            <a:ext cx="2295144" cy="521207"/>
          </a:xfrm>
          <a:prstGeom prst="rect">
            <a:avLst/>
          </a:prstGeom>
          <a:noFill/>
          <a:effectLst/>
        </p:spPr>
        <p:txBody>
          <a:bodyPr wrap="square" lIns="0" tIns="0" rIns="0" bIns="0" anchor="t">
            <a:spAutoFit/>
          </a:bodyPr>
          <a:lstStyle/>
          <a:p>
            <a:pPr algn="l">
              <a:lnSpc>
                <a:spcPct val="109000"/>
              </a:lnSpc>
              <a:spcBef>
                <a:spcPts val="0"/>
              </a:spcBef>
              <a:spcAft>
                <a:spcPts val="0"/>
              </a:spcAft>
            </a:pPr>
            <a:r>
              <a:rPr sz="1720" b="1">
                <a:solidFill>
                  <a:srgbClr val="192E43"/>
                </a:solidFill>
                <a:latin typeface="Arial"/>
              </a:rPr>
              <a:t>Die-cutting</a:t>
            </a:r>
          </a:p>
        </p:txBody>
      </p:sp>
      <p:pic>
        <p:nvPicPr>
          <p:cNvPr id="13" name="Picture 12" descr="image67.jpg"/>
          <p:cNvPicPr>
            <a:picLocks noChangeAspect="1"/>
          </p:cNvPicPr>
          <p:nvPr/>
        </p:nvPicPr>
        <p:blipFill>
          <a:blip r:embed="rId4"/>
          <a:srcRect t="17107" b="17107"/>
          <a:stretch>
            <a:fillRect/>
          </a:stretch>
        </p:blipFill>
        <p:spPr>
          <a:xfrm>
            <a:off x="722376" y="3374136"/>
            <a:ext cx="2368296" cy="1161288"/>
          </a:xfrm>
          <a:prstGeom prst="rect">
            <a:avLst/>
          </a:prstGeom>
          <a:effectLst/>
        </p:spPr>
      </p:pic>
      <p:pic>
        <p:nvPicPr>
          <p:cNvPr id="14" name="Picture 13" descr="image68.jpg"/>
          <p:cNvPicPr>
            <a:picLocks noChangeAspect="1"/>
          </p:cNvPicPr>
          <p:nvPr/>
        </p:nvPicPr>
        <p:blipFill>
          <a:blip r:embed="rId5"/>
          <a:srcRect t="21396" b="21396"/>
          <a:stretch>
            <a:fillRect/>
          </a:stretch>
        </p:blipFill>
        <p:spPr>
          <a:xfrm>
            <a:off x="722376" y="4636008"/>
            <a:ext cx="2368296" cy="1161288"/>
          </a:xfrm>
          <a:prstGeom prst="rect">
            <a:avLst/>
          </a:prstGeom>
          <a:effectLst/>
        </p:spPr>
      </p:pic>
      <p:cxnSp>
        <p:nvCxnSpPr>
          <p:cNvPr id="15" name="Connector 14"/>
          <p:cNvCxnSpPr/>
          <p:nvPr/>
        </p:nvCxnSpPr>
        <p:spPr>
          <a:xfrm>
            <a:off x="3246120" y="2414016"/>
            <a:ext cx="118871"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 name="Rectangle 15"/>
          <p:cNvSpPr/>
          <p:nvPr/>
        </p:nvSpPr>
        <p:spPr>
          <a:xfrm>
            <a:off x="3419856" y="2048256"/>
            <a:ext cx="258775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3575303" y="2240280"/>
            <a:ext cx="603504"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10</a:t>
            </a:r>
          </a:p>
        </p:txBody>
      </p:sp>
      <p:sp>
        <p:nvSpPr>
          <p:cNvPr id="18" name="TextBox 17"/>
          <p:cNvSpPr txBox="1"/>
          <p:nvPr/>
        </p:nvSpPr>
        <p:spPr>
          <a:xfrm>
            <a:off x="3575303" y="2715768"/>
            <a:ext cx="2295144" cy="521207"/>
          </a:xfrm>
          <a:prstGeom prst="rect">
            <a:avLst/>
          </a:prstGeom>
          <a:noFill/>
          <a:effectLst/>
        </p:spPr>
        <p:txBody>
          <a:bodyPr wrap="square" lIns="0" tIns="0" rIns="0" bIns="0" anchor="t">
            <a:spAutoFit/>
          </a:bodyPr>
          <a:lstStyle/>
          <a:p>
            <a:pPr algn="l">
              <a:lnSpc>
                <a:spcPct val="109000"/>
              </a:lnSpc>
              <a:spcBef>
                <a:spcPts val="0"/>
              </a:spcBef>
              <a:spcAft>
                <a:spcPts val="0"/>
              </a:spcAft>
            </a:pPr>
            <a:r>
              <a:rPr sz="1720" b="1">
                <a:solidFill>
                  <a:srgbClr val="192E43"/>
                </a:solidFill>
                <a:latin typeface="Arial"/>
              </a:rPr>
              <a:t>Score-cutting</a:t>
            </a:r>
          </a:p>
        </p:txBody>
      </p:sp>
      <p:pic>
        <p:nvPicPr>
          <p:cNvPr id="19" name="Picture 18" descr="image63.jpg"/>
          <p:cNvPicPr>
            <a:picLocks noChangeAspect="1"/>
          </p:cNvPicPr>
          <p:nvPr/>
        </p:nvPicPr>
        <p:blipFill>
          <a:blip r:embed="rId6"/>
          <a:srcRect t="17049" b="17049"/>
          <a:stretch>
            <a:fillRect/>
          </a:stretch>
        </p:blipFill>
        <p:spPr>
          <a:xfrm>
            <a:off x="3529584" y="3374136"/>
            <a:ext cx="2368296" cy="1161288"/>
          </a:xfrm>
          <a:prstGeom prst="rect">
            <a:avLst/>
          </a:prstGeom>
          <a:effectLst/>
        </p:spPr>
      </p:pic>
      <p:pic>
        <p:nvPicPr>
          <p:cNvPr id="20" name="Picture 19" descr="image62.jpg"/>
          <p:cNvPicPr>
            <a:picLocks noChangeAspect="1"/>
          </p:cNvPicPr>
          <p:nvPr/>
        </p:nvPicPr>
        <p:blipFill>
          <a:blip r:embed="rId7"/>
          <a:srcRect t="17253" b="17253"/>
          <a:stretch>
            <a:fillRect/>
          </a:stretch>
        </p:blipFill>
        <p:spPr>
          <a:xfrm>
            <a:off x="3529584" y="4636008"/>
            <a:ext cx="2368296" cy="1161288"/>
          </a:xfrm>
          <a:prstGeom prst="rect">
            <a:avLst/>
          </a:prstGeom>
          <a:effectLst/>
        </p:spPr>
      </p:pic>
      <p:cxnSp>
        <p:nvCxnSpPr>
          <p:cNvPr id="21" name="Connector 20"/>
          <p:cNvCxnSpPr/>
          <p:nvPr/>
        </p:nvCxnSpPr>
        <p:spPr>
          <a:xfrm>
            <a:off x="6053327" y="2414016"/>
            <a:ext cx="118873"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6227064" y="2048256"/>
            <a:ext cx="258775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6382512" y="2240280"/>
            <a:ext cx="603504"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11</a:t>
            </a:r>
          </a:p>
        </p:txBody>
      </p:sp>
      <p:sp>
        <p:nvSpPr>
          <p:cNvPr id="24" name="TextBox 23"/>
          <p:cNvSpPr txBox="1"/>
          <p:nvPr/>
        </p:nvSpPr>
        <p:spPr>
          <a:xfrm>
            <a:off x="6382512" y="2715768"/>
            <a:ext cx="2295144" cy="521207"/>
          </a:xfrm>
          <a:prstGeom prst="rect">
            <a:avLst/>
          </a:prstGeom>
          <a:noFill/>
          <a:effectLst/>
        </p:spPr>
        <p:txBody>
          <a:bodyPr wrap="square" lIns="0" tIns="0" rIns="0" bIns="0" anchor="t">
            <a:spAutoFit/>
          </a:bodyPr>
          <a:lstStyle/>
          <a:p>
            <a:pPr algn="l">
              <a:lnSpc>
                <a:spcPct val="109000"/>
              </a:lnSpc>
              <a:spcBef>
                <a:spcPts val="0"/>
              </a:spcBef>
              <a:spcAft>
                <a:spcPts val="0"/>
              </a:spcAft>
            </a:pPr>
            <a:r>
              <a:rPr sz="1720" b="1">
                <a:solidFill>
                  <a:srgbClr val="192E43"/>
                </a:solidFill>
                <a:latin typeface="Arial"/>
              </a:rPr>
              <a:t>Packaging</a:t>
            </a:r>
          </a:p>
        </p:txBody>
      </p:sp>
      <p:pic>
        <p:nvPicPr>
          <p:cNvPr id="25" name="Picture 24" descr="image64.jpg"/>
          <p:cNvPicPr>
            <a:picLocks noChangeAspect="1"/>
          </p:cNvPicPr>
          <p:nvPr/>
        </p:nvPicPr>
        <p:blipFill>
          <a:blip r:embed="rId8"/>
          <a:srcRect t="19310" b="19310"/>
          <a:stretch>
            <a:fillRect/>
          </a:stretch>
        </p:blipFill>
        <p:spPr>
          <a:xfrm>
            <a:off x="6336792" y="3374136"/>
            <a:ext cx="2368296" cy="1161288"/>
          </a:xfrm>
          <a:prstGeom prst="rect">
            <a:avLst/>
          </a:prstGeom>
          <a:effectLst/>
        </p:spPr>
      </p:pic>
      <p:pic>
        <p:nvPicPr>
          <p:cNvPr id="26" name="Picture 25" descr="image65.jpg"/>
          <p:cNvPicPr>
            <a:picLocks noChangeAspect="1"/>
          </p:cNvPicPr>
          <p:nvPr/>
        </p:nvPicPr>
        <p:blipFill>
          <a:blip r:embed="rId9"/>
          <a:srcRect t="19633" b="19633"/>
          <a:stretch>
            <a:fillRect/>
          </a:stretch>
        </p:blipFill>
        <p:spPr>
          <a:xfrm>
            <a:off x="6336792" y="4636008"/>
            <a:ext cx="2368296" cy="1161288"/>
          </a:xfrm>
          <a:prstGeom prst="rect">
            <a:avLst/>
          </a:prstGeom>
          <a:effectLst/>
        </p:spPr>
      </p:pic>
      <p:cxnSp>
        <p:nvCxnSpPr>
          <p:cNvPr id="27" name="Connector 26"/>
          <p:cNvCxnSpPr/>
          <p:nvPr/>
        </p:nvCxnSpPr>
        <p:spPr>
          <a:xfrm>
            <a:off x="8860536" y="2414016"/>
            <a:ext cx="118872"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Rectangle 27"/>
          <p:cNvSpPr/>
          <p:nvPr/>
        </p:nvSpPr>
        <p:spPr>
          <a:xfrm>
            <a:off x="9034272" y="2048256"/>
            <a:ext cx="258775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9189719" y="2240280"/>
            <a:ext cx="603504" cy="301752"/>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12</a:t>
            </a:r>
          </a:p>
        </p:txBody>
      </p:sp>
      <p:sp>
        <p:nvSpPr>
          <p:cNvPr id="30" name="TextBox 29"/>
          <p:cNvSpPr txBox="1"/>
          <p:nvPr/>
        </p:nvSpPr>
        <p:spPr>
          <a:xfrm>
            <a:off x="9189719" y="2715768"/>
            <a:ext cx="2295144" cy="521207"/>
          </a:xfrm>
          <a:prstGeom prst="rect">
            <a:avLst/>
          </a:prstGeom>
          <a:noFill/>
          <a:effectLst/>
        </p:spPr>
        <p:txBody>
          <a:bodyPr wrap="square" lIns="0" tIns="0" rIns="0" bIns="0" anchor="t">
            <a:spAutoFit/>
          </a:bodyPr>
          <a:lstStyle/>
          <a:p>
            <a:pPr algn="l">
              <a:lnSpc>
                <a:spcPct val="109000"/>
              </a:lnSpc>
              <a:spcBef>
                <a:spcPts val="0"/>
              </a:spcBef>
              <a:spcAft>
                <a:spcPts val="0"/>
              </a:spcAft>
            </a:pPr>
            <a:r>
              <a:rPr sz="1720" b="1">
                <a:solidFill>
                  <a:srgbClr val="192E43"/>
                </a:solidFill>
                <a:latin typeface="Arial"/>
              </a:rPr>
              <a:t>Delivery</a:t>
            </a:r>
          </a:p>
        </p:txBody>
      </p:sp>
      <p:pic>
        <p:nvPicPr>
          <p:cNvPr id="31" name="Picture 30" descr="image66.jpg"/>
          <p:cNvPicPr>
            <a:picLocks noChangeAspect="1"/>
          </p:cNvPicPr>
          <p:nvPr/>
        </p:nvPicPr>
        <p:blipFill>
          <a:blip r:embed="rId10"/>
          <a:srcRect l="11912" r="11912"/>
          <a:stretch>
            <a:fillRect/>
          </a:stretch>
        </p:blipFill>
        <p:spPr>
          <a:xfrm>
            <a:off x="9143999" y="3465576"/>
            <a:ext cx="2368296" cy="2331720"/>
          </a:xfrm>
          <a:prstGeom prst="rect">
            <a:avLst/>
          </a:prstGeom>
          <a:effectLst/>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GRAFINDO SOFT EMBLEM</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2900" b="1" spc="-40">
                <a:solidFill>
                  <a:srgbClr val="112B45"/>
                </a:solidFill>
                <a:latin typeface="Arial"/>
              </a:rPr>
              <a:t>A dimensional identity, formed with precision</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High-frequency molding of soft thermoplastic materials</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GRAFINDO SOFT EMBLEM</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17</a:t>
            </a:r>
          </a:p>
        </p:txBody>
      </p:sp>
      <p:pic>
        <p:nvPicPr>
          <p:cNvPr id="10" name="Picture 9" descr="image72.jpg"/>
          <p:cNvPicPr>
            <a:picLocks noChangeAspect="1"/>
          </p:cNvPicPr>
          <p:nvPr/>
        </p:nvPicPr>
        <p:blipFill>
          <a:blip r:embed="rId4"/>
          <a:srcRect l="36006" t="30469" r="18574" b="9811"/>
          <a:stretch>
            <a:fillRect/>
          </a:stretch>
        </p:blipFill>
        <p:spPr>
          <a:xfrm>
            <a:off x="6757924" y="2267314"/>
            <a:ext cx="4480052" cy="3850022"/>
          </a:xfrm>
          <a:prstGeom prst="rect">
            <a:avLst/>
          </a:prstGeom>
          <a:effectLst/>
        </p:spPr>
      </p:pic>
      <p:sp>
        <p:nvSpPr>
          <p:cNvPr id="11" name="TextBox 10"/>
          <p:cNvSpPr txBox="1"/>
          <p:nvPr/>
        </p:nvSpPr>
        <p:spPr>
          <a:xfrm>
            <a:off x="612648" y="2084831"/>
            <a:ext cx="5577840" cy="210312"/>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30">
                <a:solidFill>
                  <a:srgbClr val="244CE5"/>
                </a:solidFill>
                <a:latin typeface="Arial"/>
              </a:rPr>
              <a:t>GSE TECHNOLOGY</a:t>
            </a:r>
          </a:p>
        </p:txBody>
      </p:sp>
      <p:sp>
        <p:nvSpPr>
          <p:cNvPr id="12" name="TextBox 11"/>
          <p:cNvSpPr txBox="1"/>
          <p:nvPr/>
        </p:nvSpPr>
        <p:spPr>
          <a:xfrm>
            <a:off x="612648" y="2587752"/>
            <a:ext cx="5550408" cy="1042415"/>
          </a:xfrm>
          <a:prstGeom prst="rect">
            <a:avLst/>
          </a:prstGeom>
          <a:noFill/>
          <a:effectLst/>
        </p:spPr>
        <p:txBody>
          <a:bodyPr wrap="square" lIns="0" tIns="0" rIns="0" bIns="0" anchor="t">
            <a:spAutoFit/>
          </a:bodyPr>
          <a:lstStyle/>
          <a:p>
            <a:pPr algn="l">
              <a:lnSpc>
                <a:spcPct val="120000"/>
              </a:lnSpc>
              <a:spcBef>
                <a:spcPts val="0"/>
              </a:spcBef>
              <a:spcAft>
                <a:spcPts val="0"/>
              </a:spcAft>
            </a:pPr>
            <a:r>
              <a:rPr sz="2000" b="0">
                <a:solidFill>
                  <a:srgbClr val="192E43"/>
                </a:solidFill>
                <a:latin typeface="Arial"/>
              </a:rPr>
              <a:t>PVC or PU film constructions, including metal vapor deposition, are formed using high-frequency induction heating.</a:t>
            </a:r>
          </a:p>
        </p:txBody>
      </p:sp>
      <p:sp>
        <p:nvSpPr>
          <p:cNvPr id="13" name="TextBox 12"/>
          <p:cNvSpPr txBox="1"/>
          <p:nvPr/>
        </p:nvSpPr>
        <p:spPr>
          <a:xfrm>
            <a:off x="612648" y="3749039"/>
            <a:ext cx="5550408" cy="557784"/>
          </a:xfrm>
          <a:prstGeom prst="rect">
            <a:avLst/>
          </a:prstGeom>
          <a:noFill/>
          <a:effectLst/>
        </p:spPr>
        <p:txBody>
          <a:bodyPr wrap="square" lIns="0" tIns="0" rIns="0" bIns="0" anchor="t">
            <a:spAutoFit/>
          </a:bodyPr>
          <a:lstStyle/>
          <a:p>
            <a:pPr algn="l">
              <a:lnSpc>
                <a:spcPct val="117000"/>
              </a:lnSpc>
              <a:spcBef>
                <a:spcPts val="0"/>
              </a:spcBef>
              <a:spcAft>
                <a:spcPts val="0"/>
              </a:spcAft>
            </a:pPr>
            <a:r>
              <a:rPr sz="1600" b="0">
                <a:solidFill>
                  <a:srgbClr val="5D7083"/>
                </a:solidFill>
                <a:latin typeface="Arial"/>
              </a:rPr>
              <a:t>The molding technique retains the material’s bright metallic appearance.</a:t>
            </a:r>
          </a:p>
        </p:txBody>
      </p:sp>
      <p:sp>
        <p:nvSpPr>
          <p:cNvPr id="14" name="Rectangle 13"/>
          <p:cNvSpPr/>
          <p:nvPr/>
        </p:nvSpPr>
        <p:spPr>
          <a:xfrm>
            <a:off x="612648" y="4572000"/>
            <a:ext cx="5532120" cy="1545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5" name="Picture 14" descr="image69.png"/>
          <p:cNvPicPr>
            <a:picLocks noChangeAspect="1"/>
          </p:cNvPicPr>
          <p:nvPr/>
        </p:nvPicPr>
        <p:blipFill>
          <a:blip r:embed="rId5"/>
          <a:stretch>
            <a:fillRect/>
          </a:stretch>
        </p:blipFill>
        <p:spPr>
          <a:xfrm>
            <a:off x="1672755" y="4645152"/>
            <a:ext cx="3411904" cy="1408176"/>
          </a:xfrm>
          <a:prstGeom prst="rect">
            <a:avLst/>
          </a:prstGeom>
          <a:effectLst/>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GRAFINDO SOFT EMBLEM</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GSE layer configuration</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Aesthetic, filler and adhesive functions</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GRAFINDO SOFT EMBLEM</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18</a:t>
            </a:r>
          </a:p>
        </p:txBody>
      </p:sp>
      <p:sp>
        <p:nvSpPr>
          <p:cNvPr id="10" name="TextBox 9"/>
          <p:cNvSpPr txBox="1"/>
          <p:nvPr/>
        </p:nvSpPr>
        <p:spPr>
          <a:xfrm>
            <a:off x="612648" y="2093976"/>
            <a:ext cx="2743200"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25">
                <a:solidFill>
                  <a:srgbClr val="244CE5"/>
                </a:solidFill>
                <a:latin typeface="Arial"/>
              </a:rPr>
              <a:t>LAYER STACK</a:t>
            </a:r>
          </a:p>
        </p:txBody>
      </p:sp>
      <p:sp>
        <p:nvSpPr>
          <p:cNvPr id="11" name="Rectangle 10"/>
          <p:cNvSpPr/>
          <p:nvPr/>
        </p:nvSpPr>
        <p:spPr>
          <a:xfrm>
            <a:off x="1051560" y="2670048"/>
            <a:ext cx="2103120" cy="251460"/>
          </a:xfrm>
          <a:prstGeom prst="rect">
            <a:avLst/>
          </a:prstGeom>
          <a:solidFill>
            <a:srgbClr val="B9DD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94943" y="2729484"/>
            <a:ext cx="237744" cy="155448"/>
          </a:xfrm>
          <a:prstGeom prst="rect">
            <a:avLst/>
          </a:prstGeom>
          <a:noFill/>
          <a:effectLst/>
        </p:spPr>
        <p:txBody>
          <a:bodyPr wrap="square" lIns="0" tIns="0" rIns="0" bIns="0" anchor="t">
            <a:spAutoFit/>
          </a:bodyPr>
          <a:lstStyle/>
          <a:p>
            <a:pPr algn="l">
              <a:lnSpc>
                <a:spcPct val="114000"/>
              </a:lnSpc>
              <a:spcBef>
                <a:spcPts val="0"/>
              </a:spcBef>
              <a:spcAft>
                <a:spcPts val="0"/>
              </a:spcAft>
            </a:pPr>
            <a:r>
              <a:rPr sz="1019" b="1">
                <a:solidFill>
                  <a:srgbClr val="244CE5"/>
                </a:solidFill>
                <a:latin typeface="Arial"/>
              </a:rPr>
              <a:t>1</a:t>
            </a:r>
          </a:p>
        </p:txBody>
      </p:sp>
      <p:sp>
        <p:nvSpPr>
          <p:cNvPr id="13" name="Rectangle 12"/>
          <p:cNvSpPr/>
          <p:nvPr/>
        </p:nvSpPr>
        <p:spPr>
          <a:xfrm>
            <a:off x="976121" y="3022091"/>
            <a:ext cx="2253996" cy="251460"/>
          </a:xfrm>
          <a:prstGeom prst="rect">
            <a:avLst/>
          </a:prstGeom>
          <a:solidFill>
            <a:srgbClr val="B8C8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619505" y="3081527"/>
            <a:ext cx="237744" cy="155448"/>
          </a:xfrm>
          <a:prstGeom prst="rect">
            <a:avLst/>
          </a:prstGeom>
          <a:noFill/>
          <a:effectLst/>
        </p:spPr>
        <p:txBody>
          <a:bodyPr wrap="square" lIns="0" tIns="0" rIns="0" bIns="0" anchor="t">
            <a:spAutoFit/>
          </a:bodyPr>
          <a:lstStyle/>
          <a:p>
            <a:pPr algn="l">
              <a:lnSpc>
                <a:spcPct val="114000"/>
              </a:lnSpc>
              <a:spcBef>
                <a:spcPts val="0"/>
              </a:spcBef>
              <a:spcAft>
                <a:spcPts val="0"/>
              </a:spcAft>
            </a:pPr>
            <a:r>
              <a:rPr sz="1019" b="1">
                <a:solidFill>
                  <a:srgbClr val="244CE5"/>
                </a:solidFill>
                <a:latin typeface="Arial"/>
              </a:rPr>
              <a:t>2</a:t>
            </a:r>
          </a:p>
        </p:txBody>
      </p:sp>
      <p:sp>
        <p:nvSpPr>
          <p:cNvPr id="15" name="Rectangle 14"/>
          <p:cNvSpPr/>
          <p:nvPr/>
        </p:nvSpPr>
        <p:spPr>
          <a:xfrm>
            <a:off x="900683" y="3374136"/>
            <a:ext cx="2404872" cy="251460"/>
          </a:xfrm>
          <a:prstGeom prst="rect">
            <a:avLst/>
          </a:prstGeom>
          <a:solidFill>
            <a:srgbClr val="AAB3C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544067" y="3433572"/>
            <a:ext cx="237744" cy="155448"/>
          </a:xfrm>
          <a:prstGeom prst="rect">
            <a:avLst/>
          </a:prstGeom>
          <a:noFill/>
          <a:effectLst/>
        </p:spPr>
        <p:txBody>
          <a:bodyPr wrap="square" lIns="0" tIns="0" rIns="0" bIns="0" anchor="t">
            <a:spAutoFit/>
          </a:bodyPr>
          <a:lstStyle/>
          <a:p>
            <a:pPr algn="l">
              <a:lnSpc>
                <a:spcPct val="114000"/>
              </a:lnSpc>
              <a:spcBef>
                <a:spcPts val="0"/>
              </a:spcBef>
              <a:spcAft>
                <a:spcPts val="0"/>
              </a:spcAft>
            </a:pPr>
            <a:r>
              <a:rPr sz="1019" b="1">
                <a:solidFill>
                  <a:srgbClr val="244CE5"/>
                </a:solidFill>
                <a:latin typeface="Arial"/>
              </a:rPr>
              <a:t>3</a:t>
            </a:r>
          </a:p>
        </p:txBody>
      </p:sp>
      <p:sp>
        <p:nvSpPr>
          <p:cNvPr id="17" name="Rectangle 16"/>
          <p:cNvSpPr/>
          <p:nvPr/>
        </p:nvSpPr>
        <p:spPr>
          <a:xfrm>
            <a:off x="825245" y="3726180"/>
            <a:ext cx="2555748" cy="251460"/>
          </a:xfrm>
          <a:prstGeom prst="rect">
            <a:avLst/>
          </a:prstGeom>
          <a:solidFill>
            <a:srgbClr val="CAD5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468629" y="3785616"/>
            <a:ext cx="237744" cy="155448"/>
          </a:xfrm>
          <a:prstGeom prst="rect">
            <a:avLst/>
          </a:prstGeom>
          <a:noFill/>
          <a:effectLst/>
        </p:spPr>
        <p:txBody>
          <a:bodyPr wrap="square" lIns="0" tIns="0" rIns="0" bIns="0" anchor="t">
            <a:spAutoFit/>
          </a:bodyPr>
          <a:lstStyle/>
          <a:p>
            <a:pPr algn="l">
              <a:lnSpc>
                <a:spcPct val="114000"/>
              </a:lnSpc>
              <a:spcBef>
                <a:spcPts val="0"/>
              </a:spcBef>
              <a:spcAft>
                <a:spcPts val="0"/>
              </a:spcAft>
            </a:pPr>
            <a:r>
              <a:rPr sz="1019" b="1">
                <a:solidFill>
                  <a:srgbClr val="244CE5"/>
                </a:solidFill>
                <a:latin typeface="Arial"/>
              </a:rPr>
              <a:t>4</a:t>
            </a:r>
          </a:p>
        </p:txBody>
      </p:sp>
      <p:sp>
        <p:nvSpPr>
          <p:cNvPr id="19" name="Rectangle 18"/>
          <p:cNvSpPr/>
          <p:nvPr/>
        </p:nvSpPr>
        <p:spPr>
          <a:xfrm>
            <a:off x="749807" y="4078224"/>
            <a:ext cx="2706624" cy="251460"/>
          </a:xfrm>
          <a:prstGeom prst="rect">
            <a:avLst/>
          </a:prstGeom>
          <a:solidFill>
            <a:srgbClr val="8DAD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393191" y="4137660"/>
            <a:ext cx="237744" cy="155448"/>
          </a:xfrm>
          <a:prstGeom prst="rect">
            <a:avLst/>
          </a:prstGeom>
          <a:noFill/>
          <a:effectLst/>
        </p:spPr>
        <p:txBody>
          <a:bodyPr wrap="square" lIns="0" tIns="0" rIns="0" bIns="0" anchor="t">
            <a:spAutoFit/>
          </a:bodyPr>
          <a:lstStyle/>
          <a:p>
            <a:pPr algn="l">
              <a:lnSpc>
                <a:spcPct val="114000"/>
              </a:lnSpc>
              <a:spcBef>
                <a:spcPts val="0"/>
              </a:spcBef>
              <a:spcAft>
                <a:spcPts val="0"/>
              </a:spcAft>
            </a:pPr>
            <a:r>
              <a:rPr sz="1019" b="1">
                <a:solidFill>
                  <a:srgbClr val="244CE5"/>
                </a:solidFill>
                <a:latin typeface="Arial"/>
              </a:rPr>
              <a:t>5</a:t>
            </a:r>
          </a:p>
        </p:txBody>
      </p:sp>
      <p:sp>
        <p:nvSpPr>
          <p:cNvPr id="21" name="Rectangle 20"/>
          <p:cNvSpPr/>
          <p:nvPr/>
        </p:nvSpPr>
        <p:spPr>
          <a:xfrm>
            <a:off x="674369" y="4430268"/>
            <a:ext cx="2857500" cy="251460"/>
          </a:xfrm>
          <a:prstGeom prst="rect">
            <a:avLst/>
          </a:prstGeom>
          <a:solidFill>
            <a:srgbClr val="5077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317753" y="4489704"/>
            <a:ext cx="237744" cy="155448"/>
          </a:xfrm>
          <a:prstGeom prst="rect">
            <a:avLst/>
          </a:prstGeom>
          <a:noFill/>
          <a:effectLst/>
        </p:spPr>
        <p:txBody>
          <a:bodyPr wrap="square" lIns="0" tIns="0" rIns="0" bIns="0" anchor="t">
            <a:spAutoFit/>
          </a:bodyPr>
          <a:lstStyle/>
          <a:p>
            <a:pPr algn="l">
              <a:lnSpc>
                <a:spcPct val="114000"/>
              </a:lnSpc>
              <a:spcBef>
                <a:spcPts val="0"/>
              </a:spcBef>
              <a:spcAft>
                <a:spcPts val="0"/>
              </a:spcAft>
            </a:pPr>
            <a:r>
              <a:rPr sz="1019" b="1">
                <a:solidFill>
                  <a:srgbClr val="244CE5"/>
                </a:solidFill>
                <a:latin typeface="Arial"/>
              </a:rPr>
              <a:t>6</a:t>
            </a:r>
          </a:p>
        </p:txBody>
      </p:sp>
      <p:sp>
        <p:nvSpPr>
          <p:cNvPr id="23" name="Rectangle 22"/>
          <p:cNvSpPr/>
          <p:nvPr/>
        </p:nvSpPr>
        <p:spPr>
          <a:xfrm>
            <a:off x="598931" y="4782312"/>
            <a:ext cx="3008376" cy="251460"/>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42315" y="4841748"/>
            <a:ext cx="237744" cy="155448"/>
          </a:xfrm>
          <a:prstGeom prst="rect">
            <a:avLst/>
          </a:prstGeom>
          <a:noFill/>
          <a:effectLst/>
        </p:spPr>
        <p:txBody>
          <a:bodyPr wrap="square" lIns="0" tIns="0" rIns="0" bIns="0" anchor="t">
            <a:spAutoFit/>
          </a:bodyPr>
          <a:lstStyle/>
          <a:p>
            <a:pPr algn="l">
              <a:lnSpc>
                <a:spcPct val="114000"/>
              </a:lnSpc>
              <a:spcBef>
                <a:spcPts val="0"/>
              </a:spcBef>
              <a:spcAft>
                <a:spcPts val="0"/>
              </a:spcAft>
            </a:pPr>
            <a:r>
              <a:rPr sz="1019" b="1">
                <a:solidFill>
                  <a:srgbClr val="244CE5"/>
                </a:solidFill>
                <a:latin typeface="Arial"/>
              </a:rPr>
              <a:t>7</a:t>
            </a:r>
          </a:p>
        </p:txBody>
      </p:sp>
      <p:sp>
        <p:nvSpPr>
          <p:cNvPr id="25" name="TextBox 24"/>
          <p:cNvSpPr txBox="1"/>
          <p:nvPr/>
        </p:nvSpPr>
        <p:spPr>
          <a:xfrm>
            <a:off x="685800" y="5440680"/>
            <a:ext cx="3026664" cy="603504"/>
          </a:xfrm>
          <a:prstGeom prst="rect">
            <a:avLst/>
          </a:prstGeom>
          <a:noFill/>
          <a:effectLst/>
        </p:spPr>
        <p:txBody>
          <a:bodyPr wrap="square" lIns="0" tIns="0" rIns="0" bIns="0" anchor="t">
            <a:spAutoFit/>
          </a:bodyPr>
          <a:lstStyle/>
          <a:p>
            <a:pPr algn="l">
              <a:lnSpc>
                <a:spcPct val="124000"/>
              </a:lnSpc>
              <a:spcBef>
                <a:spcPts val="0"/>
              </a:spcBef>
              <a:spcAft>
                <a:spcPts val="0"/>
              </a:spcAft>
            </a:pPr>
            <a:r>
              <a:rPr sz="1200" b="0">
                <a:solidFill>
                  <a:srgbClr val="5D7083"/>
                </a:solidFill>
                <a:latin typeface="Arial"/>
              </a:rPr>
              <a:t>01–05  Aesthetic function</a:t>
            </a:r>
          </a:p>
          <a:p>
            <a:pPr algn="l">
              <a:lnSpc>
                <a:spcPct val="124000"/>
              </a:lnSpc>
              <a:spcBef>
                <a:spcPts val="0"/>
              </a:spcBef>
              <a:spcAft>
                <a:spcPts val="0"/>
              </a:spcAft>
            </a:pPr>
            <a:r>
              <a:rPr sz="1200" b="0">
                <a:solidFill>
                  <a:srgbClr val="5D7083"/>
                </a:solidFill>
                <a:latin typeface="Arial"/>
              </a:rPr>
              <a:t>06       Filler function</a:t>
            </a:r>
          </a:p>
          <a:p>
            <a:pPr algn="l">
              <a:lnSpc>
                <a:spcPct val="124000"/>
              </a:lnSpc>
              <a:spcBef>
                <a:spcPts val="0"/>
              </a:spcBef>
              <a:spcAft>
                <a:spcPts val="0"/>
              </a:spcAft>
            </a:pPr>
            <a:r>
              <a:rPr sz="1200" b="0">
                <a:solidFill>
                  <a:srgbClr val="5D7083"/>
                </a:solidFill>
                <a:latin typeface="Arial"/>
              </a:rPr>
              <a:t>07       Adhesive function</a:t>
            </a:r>
          </a:p>
        </p:txBody>
      </p:sp>
      <p:sp>
        <p:nvSpPr>
          <p:cNvPr id="26" name="Rectangle 25"/>
          <p:cNvSpPr/>
          <p:nvPr/>
        </p:nvSpPr>
        <p:spPr>
          <a:xfrm>
            <a:off x="4078224" y="2048256"/>
            <a:ext cx="429768" cy="402336"/>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4169663" y="2167128"/>
            <a:ext cx="283463"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150" b="1">
                <a:solidFill>
                  <a:srgbClr val="FFFFFF"/>
                </a:solidFill>
                <a:latin typeface="Arial"/>
              </a:rPr>
              <a:t>#</a:t>
            </a:r>
          </a:p>
        </p:txBody>
      </p:sp>
      <p:sp>
        <p:nvSpPr>
          <p:cNvPr id="28" name="Rectangle 27"/>
          <p:cNvSpPr/>
          <p:nvPr/>
        </p:nvSpPr>
        <p:spPr>
          <a:xfrm>
            <a:off x="4507992" y="2048256"/>
            <a:ext cx="2816352" cy="402336"/>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99431" y="2167128"/>
            <a:ext cx="2670048"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150" b="1">
                <a:solidFill>
                  <a:srgbClr val="FFFFFF"/>
                </a:solidFill>
                <a:latin typeface="Arial"/>
              </a:rPr>
              <a:t>Layer</a:t>
            </a:r>
          </a:p>
        </p:txBody>
      </p:sp>
      <p:sp>
        <p:nvSpPr>
          <p:cNvPr id="30" name="Rectangle 29"/>
          <p:cNvSpPr/>
          <p:nvPr/>
        </p:nvSpPr>
        <p:spPr>
          <a:xfrm>
            <a:off x="7324344" y="2048256"/>
            <a:ext cx="2395728" cy="402336"/>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7415783" y="2167128"/>
            <a:ext cx="2249424"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150" b="1">
                <a:solidFill>
                  <a:srgbClr val="FFFFFF"/>
                </a:solidFill>
                <a:latin typeface="Arial"/>
              </a:rPr>
              <a:t>Material</a:t>
            </a:r>
          </a:p>
        </p:txBody>
      </p:sp>
      <p:sp>
        <p:nvSpPr>
          <p:cNvPr id="32" name="Rectangle 31"/>
          <p:cNvSpPr/>
          <p:nvPr/>
        </p:nvSpPr>
        <p:spPr>
          <a:xfrm>
            <a:off x="9720072" y="2048256"/>
            <a:ext cx="1801368" cy="402336"/>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9811511" y="2167128"/>
            <a:ext cx="1655064"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150" b="1">
                <a:solidFill>
                  <a:srgbClr val="FFFFFF"/>
                </a:solidFill>
                <a:latin typeface="Arial"/>
              </a:rPr>
              <a:t>Thickness</a:t>
            </a:r>
          </a:p>
        </p:txBody>
      </p:sp>
      <p:sp>
        <p:nvSpPr>
          <p:cNvPr id="34" name="Rectangle 33"/>
          <p:cNvSpPr/>
          <p:nvPr/>
        </p:nvSpPr>
        <p:spPr>
          <a:xfrm>
            <a:off x="4078224" y="2450592"/>
            <a:ext cx="429768"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4169663" y="2560320"/>
            <a:ext cx="274319"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1">
                <a:solidFill>
                  <a:srgbClr val="244CE5"/>
                </a:solidFill>
                <a:latin typeface="Arial"/>
              </a:rPr>
              <a:t>1</a:t>
            </a:r>
          </a:p>
        </p:txBody>
      </p:sp>
      <p:sp>
        <p:nvSpPr>
          <p:cNvPr id="36" name="Rectangle 35"/>
          <p:cNvSpPr/>
          <p:nvPr/>
        </p:nvSpPr>
        <p:spPr>
          <a:xfrm>
            <a:off x="4507992" y="2450592"/>
            <a:ext cx="2816352"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TextBox 36"/>
          <p:cNvSpPr txBox="1"/>
          <p:nvPr/>
        </p:nvSpPr>
        <p:spPr>
          <a:xfrm>
            <a:off x="4599431" y="2560320"/>
            <a:ext cx="2660904"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Protection film</a:t>
            </a:r>
          </a:p>
        </p:txBody>
      </p:sp>
      <p:sp>
        <p:nvSpPr>
          <p:cNvPr id="38" name="Rectangle 37"/>
          <p:cNvSpPr/>
          <p:nvPr/>
        </p:nvSpPr>
        <p:spPr>
          <a:xfrm>
            <a:off x="7324344" y="2450592"/>
            <a:ext cx="2395728"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7415783" y="2560320"/>
            <a:ext cx="224028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Acrylic</a:t>
            </a:r>
          </a:p>
        </p:txBody>
      </p:sp>
      <p:sp>
        <p:nvSpPr>
          <p:cNvPr id="40" name="Rectangle 39"/>
          <p:cNvSpPr/>
          <p:nvPr/>
        </p:nvSpPr>
        <p:spPr>
          <a:xfrm>
            <a:off x="9720072" y="2450592"/>
            <a:ext cx="1801368"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9811511" y="2560320"/>
            <a:ext cx="164592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75 µm</a:t>
            </a:r>
          </a:p>
        </p:txBody>
      </p:sp>
      <p:cxnSp>
        <p:nvCxnSpPr>
          <p:cNvPr id="42" name="Connector 41"/>
          <p:cNvCxnSpPr/>
          <p:nvPr/>
        </p:nvCxnSpPr>
        <p:spPr>
          <a:xfrm>
            <a:off x="4078224" y="2852928"/>
            <a:ext cx="7443216" cy="0"/>
          </a:xfrm>
          <a:prstGeom prst="line">
            <a:avLst/>
          </a:prstGeom>
          <a:ln w="5715">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43" name="Rectangle 42"/>
          <p:cNvSpPr/>
          <p:nvPr/>
        </p:nvSpPr>
        <p:spPr>
          <a:xfrm>
            <a:off x="4078224" y="2852928"/>
            <a:ext cx="429768"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4169663" y="2962656"/>
            <a:ext cx="274319"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1">
                <a:solidFill>
                  <a:srgbClr val="244CE5"/>
                </a:solidFill>
                <a:latin typeface="Arial"/>
              </a:rPr>
              <a:t>2</a:t>
            </a:r>
          </a:p>
        </p:txBody>
      </p:sp>
      <p:sp>
        <p:nvSpPr>
          <p:cNvPr id="45" name="Rectangle 44"/>
          <p:cNvSpPr/>
          <p:nvPr/>
        </p:nvSpPr>
        <p:spPr>
          <a:xfrm>
            <a:off x="4507992" y="2852928"/>
            <a:ext cx="2816352"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599431" y="2962656"/>
            <a:ext cx="2660904"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Bonding layer</a:t>
            </a:r>
          </a:p>
        </p:txBody>
      </p:sp>
      <p:sp>
        <p:nvSpPr>
          <p:cNvPr id="47" name="Rectangle 46"/>
          <p:cNvSpPr/>
          <p:nvPr/>
        </p:nvSpPr>
        <p:spPr>
          <a:xfrm>
            <a:off x="7324344" y="2852928"/>
            <a:ext cx="2395728"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7415783" y="2962656"/>
            <a:ext cx="224028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Acrylic adhesive</a:t>
            </a:r>
          </a:p>
        </p:txBody>
      </p:sp>
      <p:sp>
        <p:nvSpPr>
          <p:cNvPr id="49" name="Rectangle 48"/>
          <p:cNvSpPr/>
          <p:nvPr/>
        </p:nvSpPr>
        <p:spPr>
          <a:xfrm>
            <a:off x="9720072" y="2852928"/>
            <a:ext cx="1801368"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811511" y="2962656"/>
            <a:ext cx="164592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5 µm</a:t>
            </a:r>
          </a:p>
        </p:txBody>
      </p:sp>
      <p:cxnSp>
        <p:nvCxnSpPr>
          <p:cNvPr id="51" name="Connector 50"/>
          <p:cNvCxnSpPr/>
          <p:nvPr/>
        </p:nvCxnSpPr>
        <p:spPr>
          <a:xfrm>
            <a:off x="4078224" y="3255264"/>
            <a:ext cx="7443216" cy="0"/>
          </a:xfrm>
          <a:prstGeom prst="line">
            <a:avLst/>
          </a:prstGeom>
          <a:ln w="5715">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52" name="Rectangle 51"/>
          <p:cNvSpPr/>
          <p:nvPr/>
        </p:nvSpPr>
        <p:spPr>
          <a:xfrm>
            <a:off x="4078224" y="3255264"/>
            <a:ext cx="429768"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4169663" y="3364992"/>
            <a:ext cx="274319"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1">
                <a:solidFill>
                  <a:srgbClr val="244CE5"/>
                </a:solidFill>
                <a:latin typeface="Arial"/>
              </a:rPr>
              <a:t>3</a:t>
            </a:r>
          </a:p>
        </p:txBody>
      </p:sp>
      <p:sp>
        <p:nvSpPr>
          <p:cNvPr id="54" name="Rectangle 53"/>
          <p:cNvSpPr/>
          <p:nvPr/>
        </p:nvSpPr>
        <p:spPr>
          <a:xfrm>
            <a:off x="4507992" y="3255264"/>
            <a:ext cx="2816352"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TextBox 54"/>
          <p:cNvSpPr txBox="1"/>
          <p:nvPr/>
        </p:nvSpPr>
        <p:spPr>
          <a:xfrm>
            <a:off x="4599431" y="3364992"/>
            <a:ext cx="2660904"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Metallized layer</a:t>
            </a:r>
          </a:p>
        </p:txBody>
      </p:sp>
      <p:sp>
        <p:nvSpPr>
          <p:cNvPr id="56" name="Rectangle 55"/>
          <p:cNvSpPr/>
          <p:nvPr/>
        </p:nvSpPr>
        <p:spPr>
          <a:xfrm>
            <a:off x="7324344" y="3255264"/>
            <a:ext cx="2395728"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7415783" y="3364992"/>
            <a:ext cx="224028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Metal</a:t>
            </a:r>
          </a:p>
        </p:txBody>
      </p:sp>
      <p:sp>
        <p:nvSpPr>
          <p:cNvPr id="58" name="Rectangle 57"/>
          <p:cNvSpPr/>
          <p:nvPr/>
        </p:nvSpPr>
        <p:spPr>
          <a:xfrm>
            <a:off x="9720072" y="3255264"/>
            <a:ext cx="1801368"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811511" y="3364992"/>
            <a:ext cx="164592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 0.1 µm</a:t>
            </a:r>
          </a:p>
        </p:txBody>
      </p:sp>
      <p:cxnSp>
        <p:nvCxnSpPr>
          <p:cNvPr id="60" name="Connector 59"/>
          <p:cNvCxnSpPr/>
          <p:nvPr/>
        </p:nvCxnSpPr>
        <p:spPr>
          <a:xfrm>
            <a:off x="4078224" y="3657600"/>
            <a:ext cx="7443216" cy="0"/>
          </a:xfrm>
          <a:prstGeom prst="line">
            <a:avLst/>
          </a:prstGeom>
          <a:ln w="5715">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61" name="Rectangle 60"/>
          <p:cNvSpPr/>
          <p:nvPr/>
        </p:nvSpPr>
        <p:spPr>
          <a:xfrm>
            <a:off x="4078224" y="3657600"/>
            <a:ext cx="429768"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4169663" y="3767328"/>
            <a:ext cx="274319"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1">
                <a:solidFill>
                  <a:srgbClr val="244CE5"/>
                </a:solidFill>
                <a:latin typeface="Arial"/>
              </a:rPr>
              <a:t>4</a:t>
            </a:r>
          </a:p>
        </p:txBody>
      </p:sp>
      <p:sp>
        <p:nvSpPr>
          <p:cNvPr id="63" name="Rectangle 62"/>
          <p:cNvSpPr/>
          <p:nvPr/>
        </p:nvSpPr>
        <p:spPr>
          <a:xfrm>
            <a:off x="4507992" y="3657600"/>
            <a:ext cx="2816352"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4" name="TextBox 63"/>
          <p:cNvSpPr txBox="1"/>
          <p:nvPr/>
        </p:nvSpPr>
        <p:spPr>
          <a:xfrm>
            <a:off x="4599431" y="3767328"/>
            <a:ext cx="2660904"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Bonding layer</a:t>
            </a:r>
          </a:p>
        </p:txBody>
      </p:sp>
      <p:sp>
        <p:nvSpPr>
          <p:cNvPr id="65" name="Rectangle 64"/>
          <p:cNvSpPr/>
          <p:nvPr/>
        </p:nvSpPr>
        <p:spPr>
          <a:xfrm>
            <a:off x="7324344" y="3657600"/>
            <a:ext cx="2395728"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6" name="TextBox 65"/>
          <p:cNvSpPr txBox="1"/>
          <p:nvPr/>
        </p:nvSpPr>
        <p:spPr>
          <a:xfrm>
            <a:off x="7415783" y="3767328"/>
            <a:ext cx="224028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Acrylic adhesive</a:t>
            </a:r>
          </a:p>
        </p:txBody>
      </p:sp>
      <p:sp>
        <p:nvSpPr>
          <p:cNvPr id="67" name="Rectangle 66"/>
          <p:cNvSpPr/>
          <p:nvPr/>
        </p:nvSpPr>
        <p:spPr>
          <a:xfrm>
            <a:off x="9720072" y="3657600"/>
            <a:ext cx="1801368"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811511" y="3767328"/>
            <a:ext cx="164592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5 µm</a:t>
            </a:r>
          </a:p>
        </p:txBody>
      </p:sp>
      <p:cxnSp>
        <p:nvCxnSpPr>
          <p:cNvPr id="69" name="Connector 68"/>
          <p:cNvCxnSpPr/>
          <p:nvPr/>
        </p:nvCxnSpPr>
        <p:spPr>
          <a:xfrm>
            <a:off x="4078224" y="4059936"/>
            <a:ext cx="7443216" cy="0"/>
          </a:xfrm>
          <a:prstGeom prst="line">
            <a:avLst/>
          </a:prstGeom>
          <a:ln w="5715">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4078224" y="4059936"/>
            <a:ext cx="429768"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1" name="TextBox 70"/>
          <p:cNvSpPr txBox="1"/>
          <p:nvPr/>
        </p:nvSpPr>
        <p:spPr>
          <a:xfrm>
            <a:off x="4169663" y="4169664"/>
            <a:ext cx="274319"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1">
                <a:solidFill>
                  <a:srgbClr val="244CE5"/>
                </a:solidFill>
                <a:latin typeface="Arial"/>
              </a:rPr>
              <a:t>5</a:t>
            </a:r>
          </a:p>
        </p:txBody>
      </p:sp>
      <p:sp>
        <p:nvSpPr>
          <p:cNvPr id="72" name="Rectangle 71"/>
          <p:cNvSpPr/>
          <p:nvPr/>
        </p:nvSpPr>
        <p:spPr>
          <a:xfrm>
            <a:off x="4507992" y="4059936"/>
            <a:ext cx="2816352"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3" name="TextBox 72"/>
          <p:cNvSpPr txBox="1"/>
          <p:nvPr/>
        </p:nvSpPr>
        <p:spPr>
          <a:xfrm>
            <a:off x="4599431" y="4169664"/>
            <a:ext cx="2660904"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Film</a:t>
            </a:r>
          </a:p>
        </p:txBody>
      </p:sp>
      <p:sp>
        <p:nvSpPr>
          <p:cNvPr id="74" name="Rectangle 73"/>
          <p:cNvSpPr/>
          <p:nvPr/>
        </p:nvSpPr>
        <p:spPr>
          <a:xfrm>
            <a:off x="7324344" y="4059936"/>
            <a:ext cx="2395728"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5" name="TextBox 74"/>
          <p:cNvSpPr txBox="1"/>
          <p:nvPr/>
        </p:nvSpPr>
        <p:spPr>
          <a:xfrm>
            <a:off x="7415783" y="4169664"/>
            <a:ext cx="224028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ABS</a:t>
            </a:r>
          </a:p>
        </p:txBody>
      </p:sp>
      <p:sp>
        <p:nvSpPr>
          <p:cNvPr id="76" name="Rectangle 75"/>
          <p:cNvSpPr/>
          <p:nvPr/>
        </p:nvSpPr>
        <p:spPr>
          <a:xfrm>
            <a:off x="9720072" y="4059936"/>
            <a:ext cx="1801368"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7" name="TextBox 76"/>
          <p:cNvSpPr txBox="1"/>
          <p:nvPr/>
        </p:nvSpPr>
        <p:spPr>
          <a:xfrm>
            <a:off x="9811511" y="4169664"/>
            <a:ext cx="164592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395 µm</a:t>
            </a:r>
          </a:p>
        </p:txBody>
      </p:sp>
      <p:cxnSp>
        <p:nvCxnSpPr>
          <p:cNvPr id="78" name="Connector 77"/>
          <p:cNvCxnSpPr/>
          <p:nvPr/>
        </p:nvCxnSpPr>
        <p:spPr>
          <a:xfrm>
            <a:off x="4078224" y="4462272"/>
            <a:ext cx="7443216" cy="0"/>
          </a:xfrm>
          <a:prstGeom prst="line">
            <a:avLst/>
          </a:prstGeom>
          <a:ln w="5715">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9" name="Rectangle 78"/>
          <p:cNvSpPr/>
          <p:nvPr/>
        </p:nvSpPr>
        <p:spPr>
          <a:xfrm>
            <a:off x="4078224" y="4462272"/>
            <a:ext cx="429768"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4169663" y="4572000"/>
            <a:ext cx="274319"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1">
                <a:solidFill>
                  <a:srgbClr val="244CE5"/>
                </a:solidFill>
                <a:latin typeface="Arial"/>
              </a:rPr>
              <a:t>6</a:t>
            </a:r>
          </a:p>
        </p:txBody>
      </p:sp>
      <p:sp>
        <p:nvSpPr>
          <p:cNvPr id="81" name="Rectangle 80"/>
          <p:cNvSpPr/>
          <p:nvPr/>
        </p:nvSpPr>
        <p:spPr>
          <a:xfrm>
            <a:off x="4507992" y="4462272"/>
            <a:ext cx="2816352"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4599431" y="4572000"/>
            <a:ext cx="2660904"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Film</a:t>
            </a:r>
          </a:p>
        </p:txBody>
      </p:sp>
      <p:sp>
        <p:nvSpPr>
          <p:cNvPr id="83" name="Rectangle 82"/>
          <p:cNvSpPr/>
          <p:nvPr/>
        </p:nvSpPr>
        <p:spPr>
          <a:xfrm>
            <a:off x="7324344" y="4462272"/>
            <a:ext cx="2395728"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7415783" y="4572000"/>
            <a:ext cx="224028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PVC</a:t>
            </a:r>
          </a:p>
        </p:txBody>
      </p:sp>
      <p:sp>
        <p:nvSpPr>
          <p:cNvPr id="85" name="Rectangle 84"/>
          <p:cNvSpPr/>
          <p:nvPr/>
        </p:nvSpPr>
        <p:spPr>
          <a:xfrm>
            <a:off x="9720072" y="4462272"/>
            <a:ext cx="1801368" cy="4023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9811511" y="4572000"/>
            <a:ext cx="164592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Customizable</a:t>
            </a:r>
          </a:p>
        </p:txBody>
      </p:sp>
      <p:cxnSp>
        <p:nvCxnSpPr>
          <p:cNvPr id="87" name="Connector 86"/>
          <p:cNvCxnSpPr/>
          <p:nvPr/>
        </p:nvCxnSpPr>
        <p:spPr>
          <a:xfrm>
            <a:off x="4078224" y="4864608"/>
            <a:ext cx="7443216" cy="0"/>
          </a:xfrm>
          <a:prstGeom prst="line">
            <a:avLst/>
          </a:prstGeom>
          <a:ln w="5715">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88" name="Rectangle 87"/>
          <p:cNvSpPr/>
          <p:nvPr/>
        </p:nvSpPr>
        <p:spPr>
          <a:xfrm>
            <a:off x="4078224" y="4864608"/>
            <a:ext cx="429768"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9" name="TextBox 88"/>
          <p:cNvSpPr txBox="1"/>
          <p:nvPr/>
        </p:nvSpPr>
        <p:spPr>
          <a:xfrm>
            <a:off x="4169663" y="4974336"/>
            <a:ext cx="274319"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1">
                <a:solidFill>
                  <a:srgbClr val="244CE5"/>
                </a:solidFill>
                <a:latin typeface="Arial"/>
              </a:rPr>
              <a:t>7</a:t>
            </a:r>
          </a:p>
        </p:txBody>
      </p:sp>
      <p:sp>
        <p:nvSpPr>
          <p:cNvPr id="90" name="Rectangle 89"/>
          <p:cNvSpPr/>
          <p:nvPr/>
        </p:nvSpPr>
        <p:spPr>
          <a:xfrm>
            <a:off x="4507992" y="4864608"/>
            <a:ext cx="2816352"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1" name="TextBox 90"/>
          <p:cNvSpPr txBox="1"/>
          <p:nvPr/>
        </p:nvSpPr>
        <p:spPr>
          <a:xfrm>
            <a:off x="4599431" y="4974336"/>
            <a:ext cx="2660904"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Double-sided adhesive</a:t>
            </a:r>
          </a:p>
        </p:txBody>
      </p:sp>
      <p:sp>
        <p:nvSpPr>
          <p:cNvPr id="92" name="Rectangle 91"/>
          <p:cNvSpPr/>
          <p:nvPr/>
        </p:nvSpPr>
        <p:spPr>
          <a:xfrm>
            <a:off x="7324344" y="4864608"/>
            <a:ext cx="2395728"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3" name="TextBox 92"/>
          <p:cNvSpPr txBox="1"/>
          <p:nvPr/>
        </p:nvSpPr>
        <p:spPr>
          <a:xfrm>
            <a:off x="7415783" y="4974336"/>
            <a:ext cx="224028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Acrylic base</a:t>
            </a:r>
          </a:p>
        </p:txBody>
      </p:sp>
      <p:sp>
        <p:nvSpPr>
          <p:cNvPr id="94" name="Rectangle 93"/>
          <p:cNvSpPr/>
          <p:nvPr/>
        </p:nvSpPr>
        <p:spPr>
          <a:xfrm>
            <a:off x="9720072" y="4864608"/>
            <a:ext cx="1801368" cy="4023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5" name="TextBox 94"/>
          <p:cNvSpPr txBox="1"/>
          <p:nvPr/>
        </p:nvSpPr>
        <p:spPr>
          <a:xfrm>
            <a:off x="9811511" y="4974336"/>
            <a:ext cx="1645920" cy="219456"/>
          </a:xfrm>
          <a:prstGeom prst="rect">
            <a:avLst/>
          </a:prstGeom>
          <a:noFill/>
          <a:effectLst/>
        </p:spPr>
        <p:txBody>
          <a:bodyPr wrap="square" lIns="0" tIns="0" rIns="0" bIns="0" anchor="t">
            <a:spAutoFit/>
          </a:bodyPr>
          <a:lstStyle/>
          <a:p>
            <a:pPr algn="l">
              <a:lnSpc>
                <a:spcPct val="114000"/>
              </a:lnSpc>
              <a:spcBef>
                <a:spcPts val="0"/>
              </a:spcBef>
              <a:spcAft>
                <a:spcPts val="0"/>
              </a:spcAft>
            </a:pPr>
            <a:r>
              <a:rPr sz="1120" b="0">
                <a:solidFill>
                  <a:srgbClr val="192E43"/>
                </a:solidFill>
                <a:latin typeface="Arial"/>
              </a:rPr>
              <a:t>100–320 µm</a:t>
            </a:r>
          </a:p>
        </p:txBody>
      </p:sp>
      <p:cxnSp>
        <p:nvCxnSpPr>
          <p:cNvPr id="96" name="Connector 95"/>
          <p:cNvCxnSpPr/>
          <p:nvPr/>
        </p:nvCxnSpPr>
        <p:spPr>
          <a:xfrm>
            <a:off x="4078224" y="5266944"/>
            <a:ext cx="7443216" cy="0"/>
          </a:xfrm>
          <a:prstGeom prst="line">
            <a:avLst/>
          </a:prstGeom>
          <a:ln w="5715">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97" name="TextBox 96"/>
          <p:cNvSpPr txBox="1"/>
          <p:nvPr/>
        </p:nvSpPr>
        <p:spPr>
          <a:xfrm>
            <a:off x="4096512" y="5513832"/>
            <a:ext cx="7296912" cy="173736"/>
          </a:xfrm>
          <a:prstGeom prst="rect">
            <a:avLst/>
          </a:prstGeom>
          <a:noFill/>
          <a:effectLst/>
        </p:spPr>
        <p:txBody>
          <a:bodyPr wrap="square" lIns="0" tIns="0" rIns="0" bIns="0" anchor="t">
            <a:spAutoFit/>
          </a:bodyPr>
          <a:lstStyle/>
          <a:p>
            <a:pPr algn="l">
              <a:lnSpc>
                <a:spcPct val="114000"/>
              </a:lnSpc>
              <a:spcBef>
                <a:spcPts val="0"/>
              </a:spcBef>
              <a:spcAft>
                <a:spcPts val="0"/>
              </a:spcAft>
            </a:pPr>
            <a:r>
              <a:rPr sz="950" b="1" spc="120">
                <a:solidFill>
                  <a:srgbClr val="244CE5"/>
                </a:solidFill>
                <a:latin typeface="Arial"/>
              </a:rPr>
              <a:t>FINISH OPTIONS</a:t>
            </a:r>
          </a:p>
        </p:txBody>
      </p:sp>
      <p:sp>
        <p:nvSpPr>
          <p:cNvPr id="98" name="TextBox 97"/>
          <p:cNvSpPr txBox="1"/>
          <p:nvPr/>
        </p:nvSpPr>
        <p:spPr>
          <a:xfrm>
            <a:off x="4096512" y="5797296"/>
            <a:ext cx="7342631" cy="347472"/>
          </a:xfrm>
          <a:prstGeom prst="rect">
            <a:avLst/>
          </a:prstGeom>
          <a:noFill/>
          <a:effectLst/>
        </p:spPr>
        <p:txBody>
          <a:bodyPr wrap="square" lIns="0" tIns="0" rIns="0" bIns="0" anchor="t">
            <a:spAutoFit/>
          </a:bodyPr>
          <a:lstStyle/>
          <a:p>
            <a:pPr algn="l">
              <a:lnSpc>
                <a:spcPct val="118000"/>
              </a:lnSpc>
              <a:spcBef>
                <a:spcPts val="0"/>
              </a:spcBef>
              <a:spcAft>
                <a:spcPts val="0"/>
              </a:spcAft>
            </a:pPr>
            <a:r>
              <a:rPr sz="1120" b="0">
                <a:solidFill>
                  <a:srgbClr val="5D7083"/>
                </a:solidFill>
                <a:latin typeface="Arial"/>
              </a:rPr>
              <a:t>Gloss or matte  ·  Pigmented colors such as gold and red</a:t>
            </a:r>
          </a:p>
          <a:p>
            <a:pPr algn="l">
              <a:lnSpc>
                <a:spcPct val="118000"/>
              </a:lnSpc>
              <a:spcBef>
                <a:spcPts val="0"/>
              </a:spcBef>
              <a:spcAft>
                <a:spcPts val="0"/>
              </a:spcAft>
            </a:pPr>
            <a:r>
              <a:rPr sz="1120" b="0">
                <a:solidFill>
                  <a:srgbClr val="5D7083"/>
                </a:solidFill>
                <a:latin typeface="Arial"/>
              </a:rPr>
              <a:t>Brushed metallized layer for a hairline appearance</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GRAFINDO SOFT EMBLEM</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000" b="1" spc="-40">
                <a:solidFill>
                  <a:srgbClr val="112B45"/>
                </a:solidFill>
                <a:latin typeface="Arial"/>
              </a:rPr>
              <a:t>Design boundaries for reliable production</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X = emblem thickness, excluding adhesive</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73859"/>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GRAFINDO SOFT EMBLEM</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19</a:t>
            </a:r>
          </a:p>
        </p:txBody>
      </p:sp>
      <p:sp>
        <p:nvSpPr>
          <p:cNvPr id="10" name="Rectangle 9"/>
          <p:cNvSpPr/>
          <p:nvPr/>
        </p:nvSpPr>
        <p:spPr>
          <a:xfrm>
            <a:off x="594360" y="2039112"/>
            <a:ext cx="3575304" cy="40782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77240" y="2240280"/>
            <a:ext cx="50292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01</a:t>
            </a:r>
          </a:p>
        </p:txBody>
      </p:sp>
      <p:sp>
        <p:nvSpPr>
          <p:cNvPr id="12" name="TextBox 11"/>
          <p:cNvSpPr txBox="1"/>
          <p:nvPr/>
        </p:nvSpPr>
        <p:spPr>
          <a:xfrm>
            <a:off x="777240" y="2770632"/>
            <a:ext cx="3182112" cy="320040"/>
          </a:xfrm>
          <a:prstGeom prst="rect">
            <a:avLst/>
          </a:prstGeom>
          <a:noFill/>
          <a:effectLst/>
        </p:spPr>
        <p:txBody>
          <a:bodyPr wrap="square" lIns="0" tIns="0" rIns="0" bIns="0" anchor="t">
            <a:spAutoFit/>
          </a:bodyPr>
          <a:lstStyle/>
          <a:p>
            <a:pPr algn="l">
              <a:lnSpc>
                <a:spcPct val="114000"/>
              </a:lnSpc>
              <a:spcBef>
                <a:spcPts val="0"/>
              </a:spcBef>
              <a:spcAft>
                <a:spcPts val="0"/>
              </a:spcAft>
            </a:pPr>
            <a:r>
              <a:rPr sz="2100" b="1">
                <a:solidFill>
                  <a:srgbClr val="192E43"/>
                </a:solidFill>
                <a:latin typeface="Arial"/>
              </a:rPr>
              <a:t>Element spacing</a:t>
            </a:r>
          </a:p>
        </p:txBody>
      </p:sp>
      <p:sp>
        <p:nvSpPr>
          <p:cNvPr id="13" name="Rectangle 12"/>
          <p:cNvSpPr/>
          <p:nvPr/>
        </p:nvSpPr>
        <p:spPr>
          <a:xfrm>
            <a:off x="4306824" y="2039112"/>
            <a:ext cx="3575304" cy="40782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489704" y="2240280"/>
            <a:ext cx="50292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02</a:t>
            </a:r>
          </a:p>
        </p:txBody>
      </p:sp>
      <p:sp>
        <p:nvSpPr>
          <p:cNvPr id="15" name="TextBox 14"/>
          <p:cNvSpPr txBox="1"/>
          <p:nvPr/>
        </p:nvSpPr>
        <p:spPr>
          <a:xfrm>
            <a:off x="4489704" y="2770632"/>
            <a:ext cx="3182112" cy="320040"/>
          </a:xfrm>
          <a:prstGeom prst="rect">
            <a:avLst/>
          </a:prstGeom>
          <a:noFill/>
          <a:effectLst/>
        </p:spPr>
        <p:txBody>
          <a:bodyPr wrap="square" lIns="0" tIns="0" rIns="0" bIns="0" anchor="t">
            <a:spAutoFit/>
          </a:bodyPr>
          <a:lstStyle/>
          <a:p>
            <a:pPr algn="l">
              <a:lnSpc>
                <a:spcPct val="114000"/>
              </a:lnSpc>
              <a:spcBef>
                <a:spcPts val="0"/>
              </a:spcBef>
              <a:spcAft>
                <a:spcPts val="0"/>
              </a:spcAft>
            </a:pPr>
            <a:r>
              <a:rPr sz="2100" b="1">
                <a:solidFill>
                  <a:srgbClr val="192E43"/>
                </a:solidFill>
                <a:latin typeface="Arial"/>
              </a:rPr>
              <a:t>Element width</a:t>
            </a:r>
          </a:p>
        </p:txBody>
      </p:sp>
      <p:sp>
        <p:nvSpPr>
          <p:cNvPr id="16" name="Rectangle 15"/>
          <p:cNvSpPr/>
          <p:nvPr/>
        </p:nvSpPr>
        <p:spPr>
          <a:xfrm>
            <a:off x="8019288" y="2039112"/>
            <a:ext cx="3575304" cy="40782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8202167" y="2240280"/>
            <a:ext cx="50292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a:solidFill>
                  <a:srgbClr val="244CE5"/>
                </a:solidFill>
                <a:latin typeface="Arial"/>
              </a:rPr>
              <a:t>03</a:t>
            </a:r>
          </a:p>
        </p:txBody>
      </p:sp>
      <p:sp>
        <p:nvSpPr>
          <p:cNvPr id="18" name="TextBox 17"/>
          <p:cNvSpPr txBox="1"/>
          <p:nvPr/>
        </p:nvSpPr>
        <p:spPr>
          <a:xfrm>
            <a:off x="8202167" y="2770632"/>
            <a:ext cx="3182112" cy="320040"/>
          </a:xfrm>
          <a:prstGeom prst="rect">
            <a:avLst/>
          </a:prstGeom>
          <a:noFill/>
          <a:effectLst/>
        </p:spPr>
        <p:txBody>
          <a:bodyPr wrap="square" lIns="0" tIns="0" rIns="0" bIns="0" anchor="t">
            <a:spAutoFit/>
          </a:bodyPr>
          <a:lstStyle/>
          <a:p>
            <a:pPr algn="l">
              <a:lnSpc>
                <a:spcPct val="114000"/>
              </a:lnSpc>
              <a:spcBef>
                <a:spcPts val="0"/>
              </a:spcBef>
              <a:spcAft>
                <a:spcPts val="0"/>
              </a:spcAft>
            </a:pPr>
            <a:r>
              <a:rPr sz="2100" b="1">
                <a:solidFill>
                  <a:srgbClr val="192E43"/>
                </a:solidFill>
                <a:latin typeface="Arial"/>
              </a:rPr>
              <a:t>Emblem thickness</a:t>
            </a:r>
          </a:p>
        </p:txBody>
      </p:sp>
      <p:sp>
        <p:nvSpPr>
          <p:cNvPr id="19" name="TextBox 18"/>
          <p:cNvSpPr txBox="1"/>
          <p:nvPr/>
        </p:nvSpPr>
        <p:spPr>
          <a:xfrm>
            <a:off x="1161288" y="3328416"/>
            <a:ext cx="777240" cy="822960"/>
          </a:xfrm>
          <a:prstGeom prst="rect">
            <a:avLst/>
          </a:prstGeom>
          <a:noFill/>
          <a:effectLst/>
        </p:spPr>
        <p:txBody>
          <a:bodyPr wrap="square" lIns="0" tIns="0" rIns="0" bIns="0" anchor="t">
            <a:spAutoFit/>
          </a:bodyPr>
          <a:lstStyle/>
          <a:p>
            <a:pPr algn="ctr">
              <a:lnSpc>
                <a:spcPct val="114000"/>
              </a:lnSpc>
              <a:spcBef>
                <a:spcPts val="0"/>
              </a:spcBef>
              <a:spcAft>
                <a:spcPts val="0"/>
              </a:spcAft>
            </a:pPr>
            <a:r>
              <a:rPr sz="5800" b="1">
                <a:solidFill>
                  <a:srgbClr val="112B45"/>
                </a:solidFill>
                <a:latin typeface="Arial"/>
              </a:rPr>
              <a:t>A</a:t>
            </a:r>
          </a:p>
        </p:txBody>
      </p:sp>
      <p:sp>
        <p:nvSpPr>
          <p:cNvPr id="20" name="TextBox 19"/>
          <p:cNvSpPr txBox="1"/>
          <p:nvPr/>
        </p:nvSpPr>
        <p:spPr>
          <a:xfrm>
            <a:off x="2907792" y="3328416"/>
            <a:ext cx="777240" cy="822960"/>
          </a:xfrm>
          <a:prstGeom prst="rect">
            <a:avLst/>
          </a:prstGeom>
          <a:noFill/>
          <a:effectLst/>
        </p:spPr>
        <p:txBody>
          <a:bodyPr wrap="square" lIns="0" tIns="0" rIns="0" bIns="0" anchor="t">
            <a:spAutoFit/>
          </a:bodyPr>
          <a:lstStyle/>
          <a:p>
            <a:pPr algn="ctr">
              <a:lnSpc>
                <a:spcPct val="114000"/>
              </a:lnSpc>
              <a:spcBef>
                <a:spcPts val="0"/>
              </a:spcBef>
              <a:spcAft>
                <a:spcPts val="0"/>
              </a:spcAft>
            </a:pPr>
            <a:r>
              <a:rPr sz="5800" b="1">
                <a:solidFill>
                  <a:srgbClr val="112B45"/>
                </a:solidFill>
                <a:latin typeface="Arial"/>
              </a:rPr>
              <a:t>B</a:t>
            </a:r>
          </a:p>
        </p:txBody>
      </p:sp>
      <p:cxnSp>
        <p:nvCxnSpPr>
          <p:cNvPr id="21" name="Connector 20"/>
          <p:cNvCxnSpPr/>
          <p:nvPr/>
        </p:nvCxnSpPr>
        <p:spPr>
          <a:xfrm>
            <a:off x="1965960" y="3877056"/>
            <a:ext cx="813816" cy="0"/>
          </a:xfrm>
          <a:prstGeom prst="line">
            <a:avLst/>
          </a:prstGeom>
          <a:ln w="17780">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1965960" y="3767328"/>
            <a:ext cx="0" cy="210311"/>
          </a:xfrm>
          <a:prstGeom prst="line">
            <a:avLst/>
          </a:prstGeom>
          <a:ln w="12700">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2779776" y="3767328"/>
            <a:ext cx="0" cy="210311"/>
          </a:xfrm>
          <a:prstGeom prst="line">
            <a:avLst/>
          </a:prstGeom>
          <a:ln w="12700">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1755648" y="4251960"/>
            <a:ext cx="1362456" cy="219456"/>
          </a:xfrm>
          <a:prstGeom prst="rect">
            <a:avLst/>
          </a:prstGeom>
          <a:noFill/>
          <a:effectLst/>
        </p:spPr>
        <p:txBody>
          <a:bodyPr wrap="square" lIns="0" tIns="0" rIns="0" bIns="0" anchor="t">
            <a:spAutoFit/>
          </a:bodyPr>
          <a:lstStyle/>
          <a:p>
            <a:pPr algn="ctr">
              <a:lnSpc>
                <a:spcPct val="114000"/>
              </a:lnSpc>
              <a:spcBef>
                <a:spcPts val="0"/>
              </a:spcBef>
              <a:spcAft>
                <a:spcPts val="0"/>
              </a:spcAft>
            </a:pPr>
            <a:r>
              <a:rPr sz="1400" b="1">
                <a:solidFill>
                  <a:srgbClr val="244CE5"/>
                </a:solidFill>
                <a:latin typeface="Arial"/>
              </a:rPr>
              <a:t>X + 0.5 mm</a:t>
            </a:r>
          </a:p>
        </p:txBody>
      </p:sp>
      <p:sp>
        <p:nvSpPr>
          <p:cNvPr id="25" name="TextBox 24"/>
          <p:cNvSpPr txBox="1"/>
          <p:nvPr/>
        </p:nvSpPr>
        <p:spPr>
          <a:xfrm>
            <a:off x="786384" y="4892040"/>
            <a:ext cx="3145536" cy="658368"/>
          </a:xfrm>
          <a:prstGeom prst="rect">
            <a:avLst/>
          </a:prstGeom>
          <a:noFill/>
          <a:effectLst/>
        </p:spPr>
        <p:txBody>
          <a:bodyPr wrap="square" lIns="0" tIns="0" rIns="0" bIns="0" anchor="t">
            <a:spAutoFit/>
          </a:bodyPr>
          <a:lstStyle/>
          <a:p>
            <a:pPr algn="l">
              <a:lnSpc>
                <a:spcPct val="135000"/>
              </a:lnSpc>
              <a:spcBef>
                <a:spcPts val="0"/>
              </a:spcBef>
              <a:spcAft>
                <a:spcPts val="0"/>
              </a:spcAft>
            </a:pPr>
            <a:r>
              <a:rPr sz="1600" b="0">
                <a:solidFill>
                  <a:srgbClr val="192E43"/>
                </a:solidFill>
                <a:latin typeface="Arial"/>
              </a:rPr>
              <a:t>Minimum: X</a:t>
            </a:r>
          </a:p>
          <a:p>
            <a:pPr algn="l">
              <a:lnSpc>
                <a:spcPct val="135000"/>
              </a:lnSpc>
              <a:spcBef>
                <a:spcPts val="0"/>
              </a:spcBef>
              <a:spcAft>
                <a:spcPts val="0"/>
              </a:spcAft>
            </a:pPr>
            <a:r>
              <a:rPr sz="1600" b="0">
                <a:solidFill>
                  <a:srgbClr val="192E43"/>
                </a:solidFill>
                <a:latin typeface="Arial"/>
              </a:rPr>
              <a:t>Preferred: X + 0.5 mm</a:t>
            </a:r>
          </a:p>
        </p:txBody>
      </p:sp>
      <p:sp>
        <p:nvSpPr>
          <p:cNvPr id="26" name="TextBox 25"/>
          <p:cNvSpPr txBox="1"/>
          <p:nvPr/>
        </p:nvSpPr>
        <p:spPr>
          <a:xfrm>
            <a:off x="786384" y="5641848"/>
            <a:ext cx="3145536" cy="347472"/>
          </a:xfrm>
          <a:prstGeom prst="rect">
            <a:avLst/>
          </a:prstGeom>
          <a:noFill/>
          <a:effectLst/>
        </p:spPr>
        <p:txBody>
          <a:bodyPr wrap="square" lIns="0" tIns="0" rIns="0" bIns="0" anchor="t">
            <a:spAutoFit/>
          </a:bodyPr>
          <a:lstStyle/>
          <a:p>
            <a:pPr algn="l">
              <a:lnSpc>
                <a:spcPct val="110000"/>
              </a:lnSpc>
              <a:spcBef>
                <a:spcPts val="0"/>
              </a:spcBef>
              <a:spcAft>
                <a:spcPts val="0"/>
              </a:spcAft>
            </a:pPr>
            <a:r>
              <a:rPr sz="1140" b="0">
                <a:solidFill>
                  <a:srgbClr val="5D7083"/>
                </a:solidFill>
                <a:latin typeface="Arial"/>
              </a:rPr>
              <a:t>Between separate elements,</a:t>
            </a:r>
          </a:p>
          <a:p>
            <a:pPr algn="l">
              <a:lnSpc>
                <a:spcPct val="110000"/>
              </a:lnSpc>
              <a:spcBef>
                <a:spcPts val="0"/>
              </a:spcBef>
              <a:spcAft>
                <a:spcPts val="0"/>
              </a:spcAft>
            </a:pPr>
            <a:r>
              <a:rPr sz="1140" b="0">
                <a:solidFill>
                  <a:srgbClr val="5D7083"/>
                </a:solidFill>
                <a:latin typeface="Arial"/>
              </a:rPr>
              <a:t>including letters in a string.</a:t>
            </a:r>
          </a:p>
        </p:txBody>
      </p:sp>
      <p:sp>
        <p:nvSpPr>
          <p:cNvPr id="27" name="TextBox 26"/>
          <p:cNvSpPr txBox="1"/>
          <p:nvPr/>
        </p:nvSpPr>
        <p:spPr>
          <a:xfrm>
            <a:off x="5330952" y="2727272"/>
            <a:ext cx="1280160" cy="2218556"/>
          </a:xfrm>
          <a:prstGeom prst="rect">
            <a:avLst/>
          </a:prstGeom>
          <a:noFill/>
          <a:effectLst/>
        </p:spPr>
        <p:txBody>
          <a:bodyPr wrap="square" lIns="0" tIns="0" rIns="0" bIns="0" anchor="t">
            <a:spAutoFit/>
          </a:bodyPr>
          <a:lstStyle/>
          <a:p>
            <a:pPr algn="ctr">
              <a:lnSpc>
                <a:spcPct val="114000"/>
              </a:lnSpc>
              <a:spcBef>
                <a:spcPts val="0"/>
              </a:spcBef>
              <a:spcAft>
                <a:spcPts val="0"/>
              </a:spcAft>
            </a:pPr>
            <a:r>
              <a:rPr lang="en-US" sz="13800" b="1" dirty="0">
                <a:solidFill>
                  <a:srgbClr val="112B45"/>
                </a:solidFill>
                <a:latin typeface="Arial"/>
              </a:rPr>
              <a:t>N</a:t>
            </a:r>
            <a:endParaRPr sz="13800" b="1" dirty="0">
              <a:solidFill>
                <a:srgbClr val="112B45"/>
              </a:solidFill>
              <a:latin typeface="Arial"/>
            </a:endParaRPr>
          </a:p>
        </p:txBody>
      </p:sp>
      <p:cxnSp>
        <p:nvCxnSpPr>
          <p:cNvPr id="28" name="Connector 27"/>
          <p:cNvCxnSpPr>
            <a:cxnSpLocks/>
          </p:cNvCxnSpPr>
          <p:nvPr/>
        </p:nvCxnSpPr>
        <p:spPr>
          <a:xfrm>
            <a:off x="5486400" y="4664710"/>
            <a:ext cx="206375" cy="0"/>
          </a:xfrm>
          <a:prstGeom prst="line">
            <a:avLst/>
          </a:prstGeom>
          <a:ln w="17780">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5479923" y="4579238"/>
            <a:ext cx="0" cy="173737"/>
          </a:xfrm>
          <a:prstGeom prst="line">
            <a:avLst/>
          </a:prstGeom>
          <a:ln w="12700">
            <a:solidFill>
              <a:srgbClr val="244CE5"/>
            </a:solidFill>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a:off x="5698871" y="4577121"/>
            <a:ext cx="0" cy="173737"/>
          </a:xfrm>
          <a:prstGeom prst="line">
            <a:avLst/>
          </a:prstGeom>
          <a:ln w="12700">
            <a:solidFill>
              <a:srgbClr val="244CE5"/>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4498848" y="4892040"/>
            <a:ext cx="3145536" cy="658368"/>
          </a:xfrm>
          <a:prstGeom prst="rect">
            <a:avLst/>
          </a:prstGeom>
          <a:noFill/>
          <a:effectLst/>
        </p:spPr>
        <p:txBody>
          <a:bodyPr wrap="square" lIns="0" tIns="0" rIns="0" bIns="0" anchor="t">
            <a:spAutoFit/>
          </a:bodyPr>
          <a:lstStyle/>
          <a:p>
            <a:pPr algn="l">
              <a:lnSpc>
                <a:spcPct val="135000"/>
              </a:lnSpc>
              <a:spcBef>
                <a:spcPts val="0"/>
              </a:spcBef>
              <a:spcAft>
                <a:spcPts val="0"/>
              </a:spcAft>
            </a:pPr>
            <a:r>
              <a:rPr sz="1600" b="0" dirty="0">
                <a:solidFill>
                  <a:srgbClr val="192E43"/>
                </a:solidFill>
                <a:latin typeface="Arial"/>
              </a:rPr>
              <a:t>Minimum: X</a:t>
            </a:r>
          </a:p>
          <a:p>
            <a:pPr algn="l">
              <a:lnSpc>
                <a:spcPct val="135000"/>
              </a:lnSpc>
              <a:spcBef>
                <a:spcPts val="0"/>
              </a:spcBef>
              <a:spcAft>
                <a:spcPts val="0"/>
              </a:spcAft>
            </a:pPr>
            <a:r>
              <a:rPr sz="1600" b="0" dirty="0">
                <a:solidFill>
                  <a:srgbClr val="192E43"/>
                </a:solidFill>
                <a:latin typeface="Arial"/>
              </a:rPr>
              <a:t>Preferred: X + 0.5 mm</a:t>
            </a:r>
          </a:p>
        </p:txBody>
      </p:sp>
      <p:sp>
        <p:nvSpPr>
          <p:cNvPr id="32" name="TextBox 31"/>
          <p:cNvSpPr txBox="1"/>
          <p:nvPr/>
        </p:nvSpPr>
        <p:spPr>
          <a:xfrm>
            <a:off x="4498848" y="5641848"/>
            <a:ext cx="3145536" cy="347472"/>
          </a:xfrm>
          <a:prstGeom prst="rect">
            <a:avLst/>
          </a:prstGeom>
          <a:noFill/>
          <a:effectLst/>
        </p:spPr>
        <p:txBody>
          <a:bodyPr wrap="square" lIns="0" tIns="0" rIns="0" bIns="0" anchor="t">
            <a:spAutoFit/>
          </a:bodyPr>
          <a:lstStyle/>
          <a:p>
            <a:pPr algn="l">
              <a:lnSpc>
                <a:spcPct val="110000"/>
              </a:lnSpc>
              <a:spcBef>
                <a:spcPts val="0"/>
              </a:spcBef>
              <a:spcAft>
                <a:spcPts val="0"/>
              </a:spcAft>
            </a:pPr>
            <a:r>
              <a:rPr sz="1140" b="0">
                <a:solidFill>
                  <a:srgbClr val="5D7083"/>
                </a:solidFill>
                <a:latin typeface="Arial"/>
              </a:rPr>
              <a:t>Suggested minimum width</a:t>
            </a:r>
          </a:p>
          <a:p>
            <a:pPr algn="l">
              <a:lnSpc>
                <a:spcPct val="110000"/>
              </a:lnSpc>
              <a:spcBef>
                <a:spcPts val="0"/>
              </a:spcBef>
              <a:spcAft>
                <a:spcPts val="0"/>
              </a:spcAft>
            </a:pPr>
            <a:r>
              <a:rPr sz="1140" b="0">
                <a:solidFill>
                  <a:srgbClr val="5D7083"/>
                </a:solidFill>
                <a:latin typeface="Arial"/>
              </a:rPr>
              <a:t>of a single element.</a:t>
            </a:r>
          </a:p>
        </p:txBody>
      </p:sp>
      <p:sp>
        <p:nvSpPr>
          <p:cNvPr id="33" name="TextBox 32"/>
          <p:cNvSpPr txBox="1"/>
          <p:nvPr/>
        </p:nvSpPr>
        <p:spPr>
          <a:xfrm>
            <a:off x="8247888" y="3419856"/>
            <a:ext cx="3172968" cy="676656"/>
          </a:xfrm>
          <a:prstGeom prst="rect">
            <a:avLst/>
          </a:prstGeom>
          <a:noFill/>
          <a:effectLst/>
        </p:spPr>
        <p:txBody>
          <a:bodyPr wrap="square" lIns="0" tIns="0" rIns="0" bIns="0" anchor="t">
            <a:spAutoFit/>
          </a:bodyPr>
          <a:lstStyle/>
          <a:p>
            <a:pPr algn="ctr">
              <a:lnSpc>
                <a:spcPct val="114000"/>
              </a:lnSpc>
              <a:spcBef>
                <a:spcPts val="0"/>
              </a:spcBef>
              <a:spcAft>
                <a:spcPts val="0"/>
              </a:spcAft>
            </a:pPr>
            <a:r>
              <a:rPr sz="4000" b="1">
                <a:solidFill>
                  <a:srgbClr val="244CE5"/>
                </a:solidFill>
                <a:latin typeface="Arial"/>
              </a:rPr>
              <a:t>1.1–2.5</a:t>
            </a:r>
          </a:p>
        </p:txBody>
      </p:sp>
      <p:sp>
        <p:nvSpPr>
          <p:cNvPr id="34" name="TextBox 33"/>
          <p:cNvSpPr txBox="1"/>
          <p:nvPr/>
        </p:nvSpPr>
        <p:spPr>
          <a:xfrm>
            <a:off x="8257031" y="4224528"/>
            <a:ext cx="3145536" cy="283464"/>
          </a:xfrm>
          <a:prstGeom prst="rect">
            <a:avLst/>
          </a:prstGeom>
          <a:noFill/>
          <a:effectLst/>
        </p:spPr>
        <p:txBody>
          <a:bodyPr wrap="square" lIns="0" tIns="0" rIns="0" bIns="0" anchor="t">
            <a:spAutoFit/>
          </a:bodyPr>
          <a:lstStyle/>
          <a:p>
            <a:pPr algn="ctr">
              <a:lnSpc>
                <a:spcPct val="114000"/>
              </a:lnSpc>
              <a:spcBef>
                <a:spcPts val="0"/>
              </a:spcBef>
              <a:spcAft>
                <a:spcPts val="0"/>
              </a:spcAft>
            </a:pPr>
            <a:r>
              <a:rPr sz="2200" b="0">
                <a:solidFill>
                  <a:srgbClr val="5D7083"/>
                </a:solidFill>
                <a:latin typeface="Arial"/>
              </a:rPr>
              <a:t>mm</a:t>
            </a:r>
          </a:p>
        </p:txBody>
      </p:sp>
      <p:sp>
        <p:nvSpPr>
          <p:cNvPr id="35" name="TextBox 34"/>
          <p:cNvSpPr txBox="1"/>
          <p:nvPr/>
        </p:nvSpPr>
        <p:spPr>
          <a:xfrm>
            <a:off x="8211312" y="4864608"/>
            <a:ext cx="3154680" cy="557784"/>
          </a:xfrm>
          <a:prstGeom prst="rect">
            <a:avLst/>
          </a:prstGeom>
          <a:noFill/>
          <a:effectLst/>
        </p:spPr>
        <p:txBody>
          <a:bodyPr wrap="square" lIns="0" tIns="0" rIns="0" bIns="0" anchor="t">
            <a:spAutoFit/>
          </a:bodyPr>
          <a:lstStyle/>
          <a:p>
            <a:pPr algn="l">
              <a:lnSpc>
                <a:spcPct val="112000"/>
              </a:lnSpc>
              <a:spcBef>
                <a:spcPts val="0"/>
              </a:spcBef>
              <a:spcAft>
                <a:spcPts val="0"/>
              </a:spcAft>
            </a:pPr>
            <a:r>
              <a:rPr sz="1500" b="0">
                <a:solidFill>
                  <a:srgbClr val="192E43"/>
                </a:solidFill>
                <a:latin typeface="Arial"/>
              </a:rPr>
              <a:t>Emblem only, without adhesive.</a:t>
            </a:r>
          </a:p>
        </p:txBody>
      </p:sp>
      <p:sp>
        <p:nvSpPr>
          <p:cNvPr id="36" name="TextBox 35"/>
          <p:cNvSpPr txBox="1"/>
          <p:nvPr/>
        </p:nvSpPr>
        <p:spPr>
          <a:xfrm>
            <a:off x="8211312" y="5513832"/>
            <a:ext cx="3154680" cy="539496"/>
          </a:xfrm>
          <a:prstGeom prst="rect">
            <a:avLst/>
          </a:prstGeom>
          <a:noFill/>
          <a:effectLst/>
        </p:spPr>
        <p:txBody>
          <a:bodyPr wrap="square" lIns="0" tIns="0" rIns="0" bIns="0" anchor="t">
            <a:spAutoFit/>
          </a:bodyPr>
          <a:lstStyle/>
          <a:p>
            <a:pPr algn="l">
              <a:lnSpc>
                <a:spcPct val="116000"/>
              </a:lnSpc>
              <a:spcBef>
                <a:spcPts val="0"/>
              </a:spcBef>
              <a:spcAft>
                <a:spcPts val="0"/>
              </a:spcAft>
            </a:pPr>
            <a:r>
              <a:rPr sz="1140" b="0">
                <a:solidFill>
                  <a:srgbClr val="5D7083"/>
                </a:solidFill>
                <a:latin typeface="Arial"/>
              </a:rPr>
              <a:t>Wider parts can support greater</a:t>
            </a:r>
          </a:p>
          <a:p>
            <a:pPr algn="l">
              <a:lnSpc>
                <a:spcPct val="116000"/>
              </a:lnSpc>
              <a:spcBef>
                <a:spcPts val="0"/>
              </a:spcBef>
              <a:spcAft>
                <a:spcPts val="0"/>
              </a:spcAft>
            </a:pPr>
            <a:r>
              <a:rPr sz="1140" b="0">
                <a:solidFill>
                  <a:srgbClr val="5D7083"/>
                </a:solidFill>
                <a:latin typeface="Arial"/>
              </a:rPr>
              <a:t>thickness. Narrow emblems</a:t>
            </a:r>
          </a:p>
          <a:p>
            <a:pPr algn="l">
              <a:lnSpc>
                <a:spcPct val="116000"/>
              </a:lnSpc>
              <a:spcBef>
                <a:spcPts val="0"/>
              </a:spcBef>
              <a:spcAft>
                <a:spcPts val="0"/>
              </a:spcAft>
            </a:pPr>
            <a:r>
              <a:rPr sz="1140" b="0">
                <a:solidFill>
                  <a:srgbClr val="5D7083"/>
                </a:solidFill>
                <a:latin typeface="Arial"/>
              </a:rPr>
              <a:t>should not be made too thick.</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GRAFINDO SOFT EMBLEM</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GSE production process</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Ten main stages, with final inspection and a repair loop</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GRAFINDO SOFT EMBLEM</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20</a:t>
            </a:r>
          </a:p>
        </p:txBody>
      </p:sp>
      <p:sp>
        <p:nvSpPr>
          <p:cNvPr id="10" name="Rectangle 9"/>
          <p:cNvSpPr/>
          <p:nvPr/>
        </p:nvSpPr>
        <p:spPr>
          <a:xfrm>
            <a:off x="612648" y="2267712"/>
            <a:ext cx="1792224" cy="795528"/>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22376" y="2395728"/>
            <a:ext cx="41148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80" b="1">
                <a:solidFill>
                  <a:srgbClr val="244CE5"/>
                </a:solidFill>
                <a:latin typeface="Arial"/>
              </a:rPr>
              <a:t>01</a:t>
            </a:r>
          </a:p>
        </p:txBody>
      </p:sp>
      <p:sp>
        <p:nvSpPr>
          <p:cNvPr id="12" name="TextBox 11"/>
          <p:cNvSpPr txBox="1"/>
          <p:nvPr/>
        </p:nvSpPr>
        <p:spPr>
          <a:xfrm>
            <a:off x="722376" y="2679192"/>
            <a:ext cx="1581912" cy="292608"/>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1">
                <a:solidFill>
                  <a:srgbClr val="192E43"/>
                </a:solidFill>
                <a:latin typeface="Arial"/>
              </a:rPr>
              <a:t>Welding</a:t>
            </a:r>
          </a:p>
        </p:txBody>
      </p:sp>
      <p:sp>
        <p:nvSpPr>
          <p:cNvPr id="13" name="Rectangle 12"/>
          <p:cNvSpPr/>
          <p:nvPr/>
        </p:nvSpPr>
        <p:spPr>
          <a:xfrm>
            <a:off x="2642616" y="2267712"/>
            <a:ext cx="1792224" cy="795528"/>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2752344" y="2395728"/>
            <a:ext cx="41148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80" b="1">
                <a:solidFill>
                  <a:srgbClr val="244CE5"/>
                </a:solidFill>
                <a:latin typeface="Arial"/>
              </a:rPr>
              <a:t>02</a:t>
            </a:r>
          </a:p>
        </p:txBody>
      </p:sp>
      <p:sp>
        <p:nvSpPr>
          <p:cNvPr id="15" name="TextBox 14"/>
          <p:cNvSpPr txBox="1"/>
          <p:nvPr/>
        </p:nvSpPr>
        <p:spPr>
          <a:xfrm>
            <a:off x="2752344" y="2679192"/>
            <a:ext cx="1581912" cy="292608"/>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1">
                <a:solidFill>
                  <a:srgbClr val="192E43"/>
                </a:solidFill>
                <a:latin typeface="Arial"/>
              </a:rPr>
              <a:t>Adhesive</a:t>
            </a:r>
          </a:p>
        </p:txBody>
      </p:sp>
      <p:sp>
        <p:nvSpPr>
          <p:cNvPr id="16" name="Rectangle 15"/>
          <p:cNvSpPr/>
          <p:nvPr/>
        </p:nvSpPr>
        <p:spPr>
          <a:xfrm>
            <a:off x="4672584" y="2267712"/>
            <a:ext cx="1792224" cy="795528"/>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782312" y="2395728"/>
            <a:ext cx="41148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80" b="1">
                <a:solidFill>
                  <a:srgbClr val="244CE5"/>
                </a:solidFill>
                <a:latin typeface="Arial"/>
              </a:rPr>
              <a:t>03</a:t>
            </a:r>
          </a:p>
        </p:txBody>
      </p:sp>
      <p:sp>
        <p:nvSpPr>
          <p:cNvPr id="18" name="TextBox 17"/>
          <p:cNvSpPr txBox="1"/>
          <p:nvPr/>
        </p:nvSpPr>
        <p:spPr>
          <a:xfrm>
            <a:off x="4782312" y="2679192"/>
            <a:ext cx="1581912" cy="292608"/>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1">
                <a:solidFill>
                  <a:srgbClr val="192E43"/>
                </a:solidFill>
                <a:latin typeface="Arial"/>
              </a:rPr>
              <a:t>Kiss-cut emblem</a:t>
            </a:r>
          </a:p>
        </p:txBody>
      </p:sp>
      <p:sp>
        <p:nvSpPr>
          <p:cNvPr id="19" name="Rectangle 18"/>
          <p:cNvSpPr/>
          <p:nvPr/>
        </p:nvSpPr>
        <p:spPr>
          <a:xfrm>
            <a:off x="6702552" y="2267712"/>
            <a:ext cx="1792224" cy="795528"/>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6812280" y="2395728"/>
            <a:ext cx="41148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80" b="1">
                <a:solidFill>
                  <a:srgbClr val="244CE5"/>
                </a:solidFill>
                <a:latin typeface="Arial"/>
              </a:rPr>
              <a:t>04</a:t>
            </a:r>
          </a:p>
        </p:txBody>
      </p:sp>
      <p:sp>
        <p:nvSpPr>
          <p:cNvPr id="21" name="TextBox 20"/>
          <p:cNvSpPr txBox="1"/>
          <p:nvPr/>
        </p:nvSpPr>
        <p:spPr>
          <a:xfrm>
            <a:off x="6812280" y="2679192"/>
            <a:ext cx="1581912" cy="292608"/>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1">
                <a:solidFill>
                  <a:srgbClr val="192E43"/>
                </a:solidFill>
                <a:latin typeface="Arial"/>
              </a:rPr>
              <a:t>Peeling</a:t>
            </a:r>
          </a:p>
        </p:txBody>
      </p:sp>
      <p:sp>
        <p:nvSpPr>
          <p:cNvPr id="22" name="Rectangle 21"/>
          <p:cNvSpPr/>
          <p:nvPr/>
        </p:nvSpPr>
        <p:spPr>
          <a:xfrm>
            <a:off x="6702552" y="3547872"/>
            <a:ext cx="1792224" cy="795528"/>
          </a:xfrm>
          <a:prstGeom prst="rect">
            <a:avLst/>
          </a:prstGeom>
          <a:solidFill>
            <a:srgbClr val="EAF0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6812280" y="3675887"/>
            <a:ext cx="41148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80" b="1">
                <a:solidFill>
                  <a:srgbClr val="244CE5"/>
                </a:solidFill>
                <a:latin typeface="Arial"/>
              </a:rPr>
              <a:t>05</a:t>
            </a:r>
          </a:p>
        </p:txBody>
      </p:sp>
      <p:sp>
        <p:nvSpPr>
          <p:cNvPr id="24" name="TextBox 23"/>
          <p:cNvSpPr txBox="1"/>
          <p:nvPr/>
        </p:nvSpPr>
        <p:spPr>
          <a:xfrm>
            <a:off x="6812280" y="3959352"/>
            <a:ext cx="1581912" cy="292608"/>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1">
                <a:solidFill>
                  <a:srgbClr val="192E43"/>
                </a:solidFill>
                <a:latin typeface="Arial"/>
              </a:rPr>
              <a:t>Inspection 1</a:t>
            </a:r>
          </a:p>
        </p:txBody>
      </p:sp>
      <p:sp>
        <p:nvSpPr>
          <p:cNvPr id="25" name="Rectangle 24"/>
          <p:cNvSpPr/>
          <p:nvPr/>
        </p:nvSpPr>
        <p:spPr>
          <a:xfrm>
            <a:off x="4672584" y="3547872"/>
            <a:ext cx="1792224" cy="795528"/>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782312" y="3675887"/>
            <a:ext cx="41148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80" b="1">
                <a:solidFill>
                  <a:srgbClr val="244CE5"/>
                </a:solidFill>
                <a:latin typeface="Arial"/>
              </a:rPr>
              <a:t>06</a:t>
            </a:r>
          </a:p>
        </p:txBody>
      </p:sp>
      <p:sp>
        <p:nvSpPr>
          <p:cNvPr id="27" name="TextBox 26"/>
          <p:cNvSpPr txBox="1"/>
          <p:nvPr/>
        </p:nvSpPr>
        <p:spPr>
          <a:xfrm>
            <a:off x="4782312" y="3959352"/>
            <a:ext cx="1581912" cy="292608"/>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1">
                <a:solidFill>
                  <a:srgbClr val="192E43"/>
                </a:solidFill>
                <a:latin typeface="Arial"/>
              </a:rPr>
              <a:t>Re-layout</a:t>
            </a:r>
          </a:p>
        </p:txBody>
      </p:sp>
      <p:sp>
        <p:nvSpPr>
          <p:cNvPr id="28" name="Rectangle 27"/>
          <p:cNvSpPr/>
          <p:nvPr/>
        </p:nvSpPr>
        <p:spPr>
          <a:xfrm>
            <a:off x="2642616" y="3547872"/>
            <a:ext cx="1792224" cy="795528"/>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2752344" y="3675887"/>
            <a:ext cx="41148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80" b="1">
                <a:solidFill>
                  <a:srgbClr val="244CE5"/>
                </a:solidFill>
                <a:latin typeface="Arial"/>
              </a:rPr>
              <a:t>07</a:t>
            </a:r>
          </a:p>
        </p:txBody>
      </p:sp>
      <p:sp>
        <p:nvSpPr>
          <p:cNvPr id="30" name="TextBox 29"/>
          <p:cNvSpPr txBox="1"/>
          <p:nvPr/>
        </p:nvSpPr>
        <p:spPr>
          <a:xfrm>
            <a:off x="2752344" y="3959352"/>
            <a:ext cx="1581912" cy="292608"/>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1">
                <a:solidFill>
                  <a:srgbClr val="192E43"/>
                </a:solidFill>
                <a:latin typeface="Arial"/>
              </a:rPr>
              <a:t>Masking</a:t>
            </a:r>
          </a:p>
        </p:txBody>
      </p:sp>
      <p:sp>
        <p:nvSpPr>
          <p:cNvPr id="31" name="Rectangle 30"/>
          <p:cNvSpPr/>
          <p:nvPr/>
        </p:nvSpPr>
        <p:spPr>
          <a:xfrm>
            <a:off x="612648" y="3547872"/>
            <a:ext cx="1792224" cy="795528"/>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722376" y="3675887"/>
            <a:ext cx="41148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80" b="1">
                <a:solidFill>
                  <a:srgbClr val="244CE5"/>
                </a:solidFill>
                <a:latin typeface="Arial"/>
              </a:rPr>
              <a:t>08</a:t>
            </a:r>
          </a:p>
        </p:txBody>
      </p:sp>
      <p:sp>
        <p:nvSpPr>
          <p:cNvPr id="33" name="TextBox 32"/>
          <p:cNvSpPr txBox="1"/>
          <p:nvPr/>
        </p:nvSpPr>
        <p:spPr>
          <a:xfrm>
            <a:off x="722376" y="3959352"/>
            <a:ext cx="1581912" cy="292608"/>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1">
                <a:solidFill>
                  <a:srgbClr val="192E43"/>
                </a:solidFill>
                <a:latin typeface="Arial"/>
              </a:rPr>
              <a:t>Die-cutting</a:t>
            </a:r>
          </a:p>
        </p:txBody>
      </p:sp>
      <p:sp>
        <p:nvSpPr>
          <p:cNvPr id="34" name="Rectangle 33"/>
          <p:cNvSpPr/>
          <p:nvPr/>
        </p:nvSpPr>
        <p:spPr>
          <a:xfrm>
            <a:off x="612648" y="4828032"/>
            <a:ext cx="1792224" cy="795528"/>
          </a:xfrm>
          <a:prstGeom prst="rect">
            <a:avLst/>
          </a:prstGeom>
          <a:solidFill>
            <a:srgbClr val="EAF0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722376" y="4956048"/>
            <a:ext cx="41148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80" b="1">
                <a:solidFill>
                  <a:srgbClr val="244CE5"/>
                </a:solidFill>
                <a:latin typeface="Arial"/>
              </a:rPr>
              <a:t>9a</a:t>
            </a:r>
          </a:p>
        </p:txBody>
      </p:sp>
      <p:sp>
        <p:nvSpPr>
          <p:cNvPr id="36" name="TextBox 35"/>
          <p:cNvSpPr txBox="1"/>
          <p:nvPr/>
        </p:nvSpPr>
        <p:spPr>
          <a:xfrm>
            <a:off x="722376" y="5239512"/>
            <a:ext cx="1581912" cy="292608"/>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1">
                <a:solidFill>
                  <a:srgbClr val="192E43"/>
                </a:solidFill>
                <a:latin typeface="Arial"/>
              </a:rPr>
              <a:t>Final inspection</a:t>
            </a:r>
          </a:p>
        </p:txBody>
      </p:sp>
      <p:sp>
        <p:nvSpPr>
          <p:cNvPr id="37" name="Rectangle 36"/>
          <p:cNvSpPr/>
          <p:nvPr/>
        </p:nvSpPr>
        <p:spPr>
          <a:xfrm>
            <a:off x="2642616" y="4828032"/>
            <a:ext cx="1792224" cy="795528"/>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2752344" y="4956048"/>
            <a:ext cx="41148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80" b="1">
                <a:solidFill>
                  <a:srgbClr val="244CE5"/>
                </a:solidFill>
                <a:latin typeface="Arial"/>
              </a:rPr>
              <a:t>10</a:t>
            </a:r>
          </a:p>
        </p:txBody>
      </p:sp>
      <p:sp>
        <p:nvSpPr>
          <p:cNvPr id="39" name="TextBox 38"/>
          <p:cNvSpPr txBox="1"/>
          <p:nvPr/>
        </p:nvSpPr>
        <p:spPr>
          <a:xfrm>
            <a:off x="2752344" y="5239512"/>
            <a:ext cx="1581912" cy="292608"/>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1">
                <a:solidFill>
                  <a:srgbClr val="192E43"/>
                </a:solidFill>
                <a:latin typeface="Arial"/>
              </a:rPr>
              <a:t>Packing</a:t>
            </a:r>
          </a:p>
        </p:txBody>
      </p:sp>
      <p:cxnSp>
        <p:nvCxnSpPr>
          <p:cNvPr id="40" name="Connector 39"/>
          <p:cNvCxnSpPr/>
          <p:nvPr/>
        </p:nvCxnSpPr>
        <p:spPr>
          <a:xfrm>
            <a:off x="2441448" y="2665476"/>
            <a:ext cx="155448"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a:off x="4471416" y="2665476"/>
            <a:ext cx="155448"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a:off x="6501384" y="2665476"/>
            <a:ext cx="155448"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3" name="Connector 42"/>
          <p:cNvCxnSpPr/>
          <p:nvPr/>
        </p:nvCxnSpPr>
        <p:spPr>
          <a:xfrm flipH="1">
            <a:off x="6510528" y="3945635"/>
            <a:ext cx="155448"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4" name="Connector 43"/>
          <p:cNvCxnSpPr/>
          <p:nvPr/>
        </p:nvCxnSpPr>
        <p:spPr>
          <a:xfrm flipH="1">
            <a:off x="4480559" y="3945635"/>
            <a:ext cx="155449"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flipH="1">
            <a:off x="2450591" y="3945635"/>
            <a:ext cx="155449"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a:off x="2441448" y="5225796"/>
            <a:ext cx="155448" cy="0"/>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7" name="Connector 46"/>
          <p:cNvCxnSpPr/>
          <p:nvPr/>
        </p:nvCxnSpPr>
        <p:spPr>
          <a:xfrm>
            <a:off x="7598664" y="3099816"/>
            <a:ext cx="0" cy="402336"/>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8" name="Connector 47"/>
          <p:cNvCxnSpPr/>
          <p:nvPr/>
        </p:nvCxnSpPr>
        <p:spPr>
          <a:xfrm>
            <a:off x="1508760" y="4379976"/>
            <a:ext cx="0" cy="402336"/>
          </a:xfrm>
          <a:prstGeom prst="line">
            <a:avLst/>
          </a:prstGeom>
          <a:ln w="15240">
            <a:solidFill>
              <a:srgbClr val="244CE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640080" y="2002536"/>
            <a:ext cx="1371600" cy="137160"/>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1" spc="80">
                <a:solidFill>
                  <a:srgbClr val="244CE5"/>
                </a:solidFill>
                <a:latin typeface="Arial"/>
              </a:rPr>
              <a:t>START</a:t>
            </a:r>
          </a:p>
        </p:txBody>
      </p:sp>
      <p:sp>
        <p:nvSpPr>
          <p:cNvPr id="50" name="TextBox 49"/>
          <p:cNvSpPr txBox="1"/>
          <p:nvPr/>
        </p:nvSpPr>
        <p:spPr>
          <a:xfrm>
            <a:off x="2743200" y="5760720"/>
            <a:ext cx="1435608" cy="155448"/>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1" spc="80">
                <a:solidFill>
                  <a:srgbClr val="244CE5"/>
                </a:solidFill>
                <a:latin typeface="Arial"/>
              </a:rPr>
              <a:t>END</a:t>
            </a:r>
          </a:p>
        </p:txBody>
      </p:sp>
      <p:sp>
        <p:nvSpPr>
          <p:cNvPr id="51" name="Rectangle 50"/>
          <p:cNvSpPr/>
          <p:nvPr/>
        </p:nvSpPr>
        <p:spPr>
          <a:xfrm>
            <a:off x="4672584" y="4828032"/>
            <a:ext cx="1792224" cy="795528"/>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4782312" y="4956048"/>
            <a:ext cx="41148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80" b="1">
                <a:solidFill>
                  <a:srgbClr val="48D0DF"/>
                </a:solidFill>
                <a:latin typeface="Arial"/>
              </a:rPr>
              <a:t>9b</a:t>
            </a:r>
          </a:p>
        </p:txBody>
      </p:sp>
      <p:sp>
        <p:nvSpPr>
          <p:cNvPr id="53" name="TextBox 52"/>
          <p:cNvSpPr txBox="1"/>
          <p:nvPr/>
        </p:nvSpPr>
        <p:spPr>
          <a:xfrm>
            <a:off x="4782312" y="5239512"/>
            <a:ext cx="1581912" cy="292608"/>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1">
                <a:solidFill>
                  <a:srgbClr val="FFFFFF"/>
                </a:solidFill>
                <a:latin typeface="Arial"/>
              </a:rPr>
              <a:t>Repair &amp; inspect</a:t>
            </a:r>
          </a:p>
        </p:txBody>
      </p:sp>
      <p:cxnSp>
        <p:nvCxnSpPr>
          <p:cNvPr id="54" name="Connector 53"/>
          <p:cNvCxnSpPr/>
          <p:nvPr/>
        </p:nvCxnSpPr>
        <p:spPr>
          <a:xfrm>
            <a:off x="1508760" y="5632704"/>
            <a:ext cx="0" cy="411480"/>
          </a:xfrm>
          <a:prstGeom prst="line">
            <a:avLst/>
          </a:prstGeom>
          <a:ln w="12700">
            <a:solidFill>
              <a:srgbClr val="5D7083"/>
            </a:solidFill>
          </a:ln>
          <a:effectLst/>
        </p:spPr>
        <p:style>
          <a:lnRef idx="2">
            <a:schemeClr val="accent1"/>
          </a:lnRef>
          <a:fillRef idx="0">
            <a:schemeClr val="accent1"/>
          </a:fillRef>
          <a:effectRef idx="0">
            <a:schemeClr val="accent1"/>
          </a:effectRef>
          <a:fontRef idx="minor">
            <a:schemeClr val="tx1"/>
          </a:fontRef>
        </p:style>
      </p:cxnSp>
      <p:cxnSp>
        <p:nvCxnSpPr>
          <p:cNvPr id="55" name="Connector 54"/>
          <p:cNvCxnSpPr/>
          <p:nvPr/>
        </p:nvCxnSpPr>
        <p:spPr>
          <a:xfrm>
            <a:off x="1508760" y="6044184"/>
            <a:ext cx="4069080" cy="0"/>
          </a:xfrm>
          <a:prstGeom prst="line">
            <a:avLst/>
          </a:prstGeom>
          <a:ln w="12700">
            <a:solidFill>
              <a:srgbClr val="5D7083"/>
            </a:solidFill>
          </a:ln>
          <a:effectLst/>
        </p:spPr>
        <p:style>
          <a:lnRef idx="2">
            <a:schemeClr val="accent1"/>
          </a:lnRef>
          <a:fillRef idx="0">
            <a:schemeClr val="accent1"/>
          </a:fillRef>
          <a:effectRef idx="0">
            <a:schemeClr val="accent1"/>
          </a:effectRef>
          <a:fontRef idx="minor">
            <a:schemeClr val="tx1"/>
          </a:fontRef>
        </p:style>
      </p:cxnSp>
      <p:cxnSp>
        <p:nvCxnSpPr>
          <p:cNvPr id="56" name="Connector 55"/>
          <p:cNvCxnSpPr/>
          <p:nvPr/>
        </p:nvCxnSpPr>
        <p:spPr>
          <a:xfrm flipV="1">
            <a:off x="5577840" y="5650992"/>
            <a:ext cx="0" cy="393192"/>
          </a:xfrm>
          <a:prstGeom prst="line">
            <a:avLst/>
          </a:prstGeom>
          <a:ln w="12700">
            <a:solidFill>
              <a:srgbClr val="5D7083"/>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3675887" y="6163056"/>
            <a:ext cx="914400" cy="118872"/>
          </a:xfrm>
          <a:prstGeom prst="rect">
            <a:avLst/>
          </a:prstGeom>
          <a:noFill/>
          <a:effectLst/>
        </p:spPr>
        <p:txBody>
          <a:bodyPr wrap="square" lIns="0" tIns="0" rIns="0" bIns="0" anchor="t">
            <a:spAutoFit/>
          </a:bodyPr>
          <a:lstStyle/>
          <a:p>
            <a:pPr algn="l">
              <a:lnSpc>
                <a:spcPct val="114000"/>
              </a:lnSpc>
              <a:spcBef>
                <a:spcPts val="0"/>
              </a:spcBef>
              <a:spcAft>
                <a:spcPts val="0"/>
              </a:spcAft>
            </a:pPr>
            <a:r>
              <a:rPr sz="780" b="1" spc="80">
                <a:solidFill>
                  <a:srgbClr val="5D7083"/>
                </a:solidFill>
                <a:latin typeface="Arial"/>
              </a:rPr>
              <a:t>REWORK</a:t>
            </a:r>
          </a:p>
        </p:txBody>
      </p:sp>
      <p:cxnSp>
        <p:nvCxnSpPr>
          <p:cNvPr id="58" name="Connector 57"/>
          <p:cNvCxnSpPr/>
          <p:nvPr/>
        </p:nvCxnSpPr>
        <p:spPr>
          <a:xfrm flipV="1">
            <a:off x="5577840" y="4590288"/>
            <a:ext cx="0" cy="201168"/>
          </a:xfrm>
          <a:prstGeom prst="line">
            <a:avLst/>
          </a:prstGeom>
          <a:ln w="12700">
            <a:solidFill>
              <a:srgbClr val="5D7083"/>
            </a:solidFill>
          </a:ln>
          <a:effectLst/>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flipH="1">
            <a:off x="1508760" y="4590288"/>
            <a:ext cx="4069080" cy="0"/>
          </a:xfrm>
          <a:prstGeom prst="line">
            <a:avLst/>
          </a:prstGeom>
          <a:ln w="12700">
            <a:solidFill>
              <a:srgbClr val="5D7083"/>
            </a:solidFill>
          </a:ln>
          <a:effectLst/>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a:off x="1508760" y="4590288"/>
            <a:ext cx="0" cy="201168"/>
          </a:xfrm>
          <a:prstGeom prst="line">
            <a:avLst/>
          </a:prstGeom>
          <a:ln w="12700">
            <a:solidFill>
              <a:srgbClr val="5D7083"/>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3337560" y="4398264"/>
            <a:ext cx="1517904" cy="137160"/>
          </a:xfrm>
          <a:prstGeom prst="rect">
            <a:avLst/>
          </a:prstGeom>
          <a:noFill/>
          <a:effectLst/>
        </p:spPr>
        <p:txBody>
          <a:bodyPr wrap="square" lIns="0" tIns="0" rIns="0" bIns="0" anchor="t">
            <a:spAutoFit/>
          </a:bodyPr>
          <a:lstStyle/>
          <a:p>
            <a:pPr algn="l">
              <a:lnSpc>
                <a:spcPct val="114000"/>
              </a:lnSpc>
              <a:spcBef>
                <a:spcPts val="0"/>
              </a:spcBef>
              <a:spcAft>
                <a:spcPts val="0"/>
              </a:spcAft>
            </a:pPr>
            <a:r>
              <a:rPr sz="780" b="1" spc="80">
                <a:solidFill>
                  <a:srgbClr val="5D7083"/>
                </a:solidFill>
                <a:latin typeface="Arial"/>
              </a:rPr>
              <a:t>RE-INSPECTION</a:t>
            </a:r>
          </a:p>
        </p:txBody>
      </p:sp>
      <p:pic>
        <p:nvPicPr>
          <p:cNvPr id="62" name="Picture 61" descr="image71.png"/>
          <p:cNvPicPr>
            <a:picLocks noChangeAspect="1"/>
          </p:cNvPicPr>
          <p:nvPr/>
        </p:nvPicPr>
        <p:blipFill>
          <a:blip r:embed="rId4"/>
          <a:srcRect l="3418" r="3418"/>
          <a:stretch>
            <a:fillRect/>
          </a:stretch>
        </p:blipFill>
        <p:spPr>
          <a:xfrm>
            <a:off x="8887968" y="2267712"/>
            <a:ext cx="2697480" cy="2167128"/>
          </a:xfrm>
          <a:prstGeom prst="rect">
            <a:avLst/>
          </a:prstGeom>
          <a:effectLst/>
        </p:spPr>
      </p:pic>
      <p:sp>
        <p:nvSpPr>
          <p:cNvPr id="63" name="TextBox 62"/>
          <p:cNvSpPr txBox="1"/>
          <p:nvPr/>
        </p:nvSpPr>
        <p:spPr>
          <a:xfrm>
            <a:off x="8897112" y="4700016"/>
            <a:ext cx="2688336" cy="256032"/>
          </a:xfrm>
          <a:prstGeom prst="rect">
            <a:avLst/>
          </a:prstGeom>
          <a:noFill/>
          <a:effectLst/>
        </p:spPr>
        <p:txBody>
          <a:bodyPr wrap="square" lIns="0" tIns="0" rIns="0" bIns="0" anchor="t">
            <a:spAutoFit/>
          </a:bodyPr>
          <a:lstStyle/>
          <a:p>
            <a:pPr algn="l">
              <a:lnSpc>
                <a:spcPct val="114000"/>
              </a:lnSpc>
              <a:spcBef>
                <a:spcPts val="0"/>
              </a:spcBef>
              <a:spcAft>
                <a:spcPts val="0"/>
              </a:spcAft>
            </a:pPr>
            <a:r>
              <a:rPr sz="1700" b="1">
                <a:solidFill>
                  <a:srgbClr val="192E43"/>
                </a:solidFill>
                <a:latin typeface="Arial"/>
              </a:rPr>
              <a:t>Production floor</a:t>
            </a:r>
          </a:p>
        </p:txBody>
      </p:sp>
      <p:sp>
        <p:nvSpPr>
          <p:cNvPr id="64" name="TextBox 63"/>
          <p:cNvSpPr txBox="1"/>
          <p:nvPr/>
        </p:nvSpPr>
        <p:spPr>
          <a:xfrm>
            <a:off x="8897112" y="5212080"/>
            <a:ext cx="2651760" cy="713232"/>
          </a:xfrm>
          <a:prstGeom prst="rect">
            <a:avLst/>
          </a:prstGeom>
          <a:noFill/>
          <a:effectLst/>
        </p:spPr>
        <p:txBody>
          <a:bodyPr wrap="square" lIns="0" tIns="0" rIns="0" bIns="0" anchor="t">
            <a:spAutoFit/>
          </a:bodyPr>
          <a:lstStyle/>
          <a:p>
            <a:pPr algn="l">
              <a:lnSpc>
                <a:spcPct val="125000"/>
              </a:lnSpc>
              <a:spcBef>
                <a:spcPts val="0"/>
              </a:spcBef>
              <a:spcAft>
                <a:spcPts val="0"/>
              </a:spcAft>
            </a:pPr>
            <a:r>
              <a:rPr sz="1330" b="0">
                <a:solidFill>
                  <a:srgbClr val="5D7083"/>
                </a:solidFill>
                <a:latin typeface="Arial"/>
              </a:rPr>
              <a:t>Inspection is integrated into</a:t>
            </a:r>
          </a:p>
          <a:p>
            <a:pPr algn="l">
              <a:lnSpc>
                <a:spcPct val="125000"/>
              </a:lnSpc>
              <a:spcBef>
                <a:spcPts val="0"/>
              </a:spcBef>
              <a:spcAft>
                <a:spcPts val="0"/>
              </a:spcAft>
            </a:pPr>
            <a:r>
              <a:rPr sz="1330" b="0">
                <a:solidFill>
                  <a:srgbClr val="5D7083"/>
                </a:solidFill>
                <a:latin typeface="Arial"/>
              </a:rPr>
              <a:t>the process, including the</a:t>
            </a:r>
          </a:p>
          <a:p>
            <a:pPr algn="l">
              <a:lnSpc>
                <a:spcPct val="125000"/>
              </a:lnSpc>
              <a:spcBef>
                <a:spcPts val="0"/>
              </a:spcBef>
              <a:spcAft>
                <a:spcPts val="0"/>
              </a:spcAft>
            </a:pPr>
            <a:r>
              <a:rPr sz="1330" b="0">
                <a:solidFill>
                  <a:srgbClr val="5D7083"/>
                </a:solidFill>
                <a:latin typeface="Arial"/>
              </a:rPr>
              <a:t>repair stage.</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GRAFINDO SOFT EMBLEM</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Profiles in mass production</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OEM soft-emblem applications already in production</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GRAFINDO SOFT EMBLEM</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21</a:t>
            </a:r>
          </a:p>
        </p:txBody>
      </p:sp>
      <p:pic>
        <p:nvPicPr>
          <p:cNvPr id="10" name="Picture 9" descr="image72.jpg"/>
          <p:cNvPicPr>
            <a:picLocks noChangeAspect="1"/>
          </p:cNvPicPr>
          <p:nvPr/>
        </p:nvPicPr>
        <p:blipFill>
          <a:blip r:embed="rId4"/>
          <a:srcRect t="4731" r="8058" b="10936"/>
          <a:stretch>
            <a:fillRect/>
          </a:stretch>
        </p:blipFill>
        <p:spPr>
          <a:xfrm>
            <a:off x="594360" y="2011678"/>
            <a:ext cx="6848438" cy="4105651"/>
          </a:xfrm>
          <a:prstGeom prst="rect">
            <a:avLst/>
          </a:prstGeom>
          <a:effectLst/>
        </p:spPr>
      </p:pic>
      <p:pic>
        <p:nvPicPr>
          <p:cNvPr id="11" name="Picture 10" descr="image73.png"/>
          <p:cNvPicPr>
            <a:picLocks noChangeAspect="1"/>
          </p:cNvPicPr>
          <p:nvPr/>
        </p:nvPicPr>
        <p:blipFill>
          <a:blip r:embed="rId5"/>
          <a:srcRect t="16701" b="16701"/>
          <a:stretch>
            <a:fillRect/>
          </a:stretch>
        </p:blipFill>
        <p:spPr>
          <a:xfrm>
            <a:off x="7699248" y="2048256"/>
            <a:ext cx="3886200" cy="1920240"/>
          </a:xfrm>
          <a:prstGeom prst="rect">
            <a:avLst/>
          </a:prstGeom>
          <a:effectLst/>
        </p:spPr>
      </p:pic>
      <p:pic>
        <p:nvPicPr>
          <p:cNvPr id="12" name="Picture 11" descr="image34.png"/>
          <p:cNvPicPr>
            <a:picLocks noChangeAspect="1"/>
          </p:cNvPicPr>
          <p:nvPr/>
        </p:nvPicPr>
        <p:blipFill>
          <a:blip r:embed="rId6"/>
          <a:srcRect l="6966" r="6966"/>
          <a:stretch>
            <a:fillRect/>
          </a:stretch>
        </p:blipFill>
        <p:spPr>
          <a:xfrm>
            <a:off x="7699248" y="4206240"/>
            <a:ext cx="3886200" cy="1911095"/>
          </a:xfrm>
          <a:prstGeom prst="rect">
            <a:avLst/>
          </a:prstGeom>
          <a:effectLst/>
        </p:spPr>
      </p:pic>
      <p:sp>
        <p:nvSpPr>
          <p:cNvPr id="13" name="Rectangle 12"/>
          <p:cNvSpPr/>
          <p:nvPr/>
        </p:nvSpPr>
        <p:spPr>
          <a:xfrm>
            <a:off x="704088" y="5596128"/>
            <a:ext cx="840232" cy="320040"/>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795528" y="5673852"/>
            <a:ext cx="1810512" cy="164592"/>
          </a:xfrm>
          <a:prstGeom prst="rect">
            <a:avLst/>
          </a:prstGeom>
          <a:noFill/>
          <a:effectLst/>
        </p:spPr>
        <p:txBody>
          <a:bodyPr wrap="square" lIns="0" tIns="0" rIns="0" bIns="0" anchor="t">
            <a:spAutoFit/>
          </a:bodyPr>
          <a:lstStyle/>
          <a:p>
            <a:pPr algn="l">
              <a:lnSpc>
                <a:spcPct val="114000"/>
              </a:lnSpc>
              <a:spcBef>
                <a:spcPts val="0"/>
              </a:spcBef>
              <a:spcAft>
                <a:spcPts val="0"/>
              </a:spcAft>
            </a:pPr>
            <a:r>
              <a:rPr lang="en-US" sz="1000" b="1" spc="70" dirty="0">
                <a:solidFill>
                  <a:srgbClr val="FFFFFF"/>
                </a:solidFill>
                <a:latin typeface="Arial"/>
              </a:rPr>
              <a:t>ADV</a:t>
            </a:r>
            <a:endParaRPr sz="1000" b="1" spc="70" dirty="0">
              <a:solidFill>
                <a:srgbClr val="FFFFFF"/>
              </a:solidFill>
              <a:latin typeface="Arial"/>
            </a:endParaRPr>
          </a:p>
        </p:txBody>
      </p:sp>
      <p:sp>
        <p:nvSpPr>
          <p:cNvPr id="15" name="Rectangle 14"/>
          <p:cNvSpPr/>
          <p:nvPr/>
        </p:nvSpPr>
        <p:spPr>
          <a:xfrm>
            <a:off x="7818119" y="3438144"/>
            <a:ext cx="1444752" cy="320040"/>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7909559" y="3515868"/>
            <a:ext cx="1298448" cy="164592"/>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70">
                <a:solidFill>
                  <a:srgbClr val="FFFFFF"/>
                </a:solidFill>
                <a:latin typeface="Arial"/>
              </a:rPr>
              <a:t>SCOOPY</a:t>
            </a:r>
          </a:p>
        </p:txBody>
      </p:sp>
      <p:sp>
        <p:nvSpPr>
          <p:cNvPr id="17" name="Rectangle 16"/>
          <p:cNvSpPr/>
          <p:nvPr/>
        </p:nvSpPr>
        <p:spPr>
          <a:xfrm>
            <a:off x="7818119" y="5586984"/>
            <a:ext cx="1261871" cy="320040"/>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7909559" y="5664708"/>
            <a:ext cx="1170431" cy="160750"/>
          </a:xfrm>
          <a:prstGeom prst="rect">
            <a:avLst/>
          </a:prstGeom>
          <a:noFill/>
          <a:effectLst/>
        </p:spPr>
        <p:txBody>
          <a:bodyPr wrap="square" lIns="0" tIns="0" rIns="0" bIns="0" anchor="t">
            <a:spAutoFit/>
          </a:bodyPr>
          <a:lstStyle/>
          <a:p>
            <a:pPr algn="l">
              <a:lnSpc>
                <a:spcPct val="114000"/>
              </a:lnSpc>
              <a:spcBef>
                <a:spcPts val="0"/>
              </a:spcBef>
              <a:spcAft>
                <a:spcPts val="0"/>
              </a:spcAft>
            </a:pPr>
            <a:r>
              <a:rPr lang="en-US" sz="1000" b="1" spc="70" dirty="0">
                <a:solidFill>
                  <a:srgbClr val="FFFFFF"/>
                </a:solidFill>
                <a:latin typeface="Arial"/>
              </a:rPr>
              <a:t>FOX POLYTRON</a:t>
            </a:r>
            <a:endParaRPr sz="1000" b="1" spc="70" dirty="0">
              <a:solidFill>
                <a:srgbClr val="FFFFFF"/>
              </a:solidFill>
              <a:latin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EQUIPMENT</a:t>
            </a:r>
          </a:p>
        </p:txBody>
      </p:sp>
      <p:sp>
        <p:nvSpPr>
          <p:cNvPr id="3" name="TextBox 2"/>
          <p:cNvSpPr txBox="1"/>
          <p:nvPr/>
        </p:nvSpPr>
        <p:spPr>
          <a:xfrm>
            <a:off x="594360" y="873252"/>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Capacity, flexibility &amp; validation</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Design development • Printing • Evaluation</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EQUIPMENT</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22</a:t>
            </a:r>
          </a:p>
        </p:txBody>
      </p:sp>
      <p:sp>
        <p:nvSpPr>
          <p:cNvPr id="10" name="Rectangle 9"/>
          <p:cNvSpPr/>
          <p:nvPr/>
        </p:nvSpPr>
        <p:spPr>
          <a:xfrm>
            <a:off x="603504" y="2039112"/>
            <a:ext cx="2953512" cy="40782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58952" y="2240280"/>
            <a:ext cx="2642616" cy="283464"/>
          </a:xfrm>
          <a:prstGeom prst="rect">
            <a:avLst/>
          </a:prstGeom>
          <a:noFill/>
          <a:effectLst/>
        </p:spPr>
        <p:txBody>
          <a:bodyPr wrap="square" lIns="0" tIns="0" rIns="0" bIns="0" anchor="t">
            <a:spAutoFit/>
          </a:bodyPr>
          <a:lstStyle/>
          <a:p>
            <a:pPr algn="l">
              <a:lnSpc>
                <a:spcPct val="114000"/>
              </a:lnSpc>
              <a:spcBef>
                <a:spcPts val="0"/>
              </a:spcBef>
              <a:spcAft>
                <a:spcPts val="0"/>
              </a:spcAft>
            </a:pPr>
            <a:r>
              <a:rPr sz="1850" b="1">
                <a:solidFill>
                  <a:srgbClr val="192E43"/>
                </a:solidFill>
                <a:latin typeface="Arial"/>
              </a:rPr>
              <a:t>Design development</a:t>
            </a:r>
          </a:p>
        </p:txBody>
      </p:sp>
      <p:sp>
        <p:nvSpPr>
          <p:cNvPr id="12" name="Rectangle 11"/>
          <p:cNvSpPr/>
          <p:nvPr/>
        </p:nvSpPr>
        <p:spPr>
          <a:xfrm>
            <a:off x="3758184" y="2039112"/>
            <a:ext cx="4023360" cy="40782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3913632" y="2240280"/>
            <a:ext cx="3712464" cy="283464"/>
          </a:xfrm>
          <a:prstGeom prst="rect">
            <a:avLst/>
          </a:prstGeom>
          <a:noFill/>
          <a:effectLst/>
        </p:spPr>
        <p:txBody>
          <a:bodyPr wrap="square" lIns="0" tIns="0" rIns="0" bIns="0" anchor="t">
            <a:spAutoFit/>
          </a:bodyPr>
          <a:lstStyle/>
          <a:p>
            <a:pPr algn="l">
              <a:lnSpc>
                <a:spcPct val="114000"/>
              </a:lnSpc>
              <a:spcBef>
                <a:spcPts val="0"/>
              </a:spcBef>
              <a:spcAft>
                <a:spcPts val="0"/>
              </a:spcAft>
            </a:pPr>
            <a:r>
              <a:rPr sz="1850" b="1">
                <a:solidFill>
                  <a:srgbClr val="192E43"/>
                </a:solidFill>
                <a:latin typeface="Arial"/>
              </a:rPr>
              <a:t>Printing equipment</a:t>
            </a:r>
          </a:p>
        </p:txBody>
      </p:sp>
      <p:sp>
        <p:nvSpPr>
          <p:cNvPr id="14" name="Rectangle 13"/>
          <p:cNvSpPr/>
          <p:nvPr/>
        </p:nvSpPr>
        <p:spPr>
          <a:xfrm>
            <a:off x="8001000" y="2039112"/>
            <a:ext cx="3584448" cy="4078224"/>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8156448" y="2240280"/>
            <a:ext cx="3273552" cy="283464"/>
          </a:xfrm>
          <a:prstGeom prst="rect">
            <a:avLst/>
          </a:prstGeom>
          <a:noFill/>
          <a:effectLst/>
        </p:spPr>
        <p:txBody>
          <a:bodyPr wrap="square" lIns="0" tIns="0" rIns="0" bIns="0" anchor="t">
            <a:spAutoFit/>
          </a:bodyPr>
          <a:lstStyle/>
          <a:p>
            <a:pPr algn="l">
              <a:lnSpc>
                <a:spcPct val="114000"/>
              </a:lnSpc>
              <a:spcBef>
                <a:spcPts val="0"/>
              </a:spcBef>
              <a:spcAft>
                <a:spcPts val="0"/>
              </a:spcAft>
            </a:pPr>
            <a:r>
              <a:rPr sz="1850" b="1">
                <a:solidFill>
                  <a:srgbClr val="192E43"/>
                </a:solidFill>
                <a:latin typeface="Arial"/>
              </a:rPr>
              <a:t>Evaluation</a:t>
            </a:r>
          </a:p>
        </p:txBody>
      </p:sp>
      <p:pic>
        <p:nvPicPr>
          <p:cNvPr id="16" name="Picture 15" descr="image76.jpg"/>
          <p:cNvPicPr>
            <a:picLocks noChangeAspect="1"/>
          </p:cNvPicPr>
          <p:nvPr/>
        </p:nvPicPr>
        <p:blipFill>
          <a:blip r:embed="rId4"/>
          <a:srcRect l="9656" t="11324" r="25517" b="3810"/>
          <a:stretch>
            <a:fillRect/>
          </a:stretch>
        </p:blipFill>
        <p:spPr>
          <a:xfrm rot="16200000">
            <a:off x="982880" y="2644902"/>
            <a:ext cx="2126011" cy="2034710"/>
          </a:xfrm>
          <a:prstGeom prst="rect">
            <a:avLst/>
          </a:prstGeom>
          <a:effectLst/>
        </p:spPr>
      </p:pic>
      <p:sp>
        <p:nvSpPr>
          <p:cNvPr id="17" name="TextBox 16"/>
          <p:cNvSpPr txBox="1"/>
          <p:nvPr/>
        </p:nvSpPr>
        <p:spPr>
          <a:xfrm>
            <a:off x="777240" y="4690872"/>
            <a:ext cx="2642616" cy="960120"/>
          </a:xfrm>
          <a:prstGeom prst="rect">
            <a:avLst/>
          </a:prstGeom>
          <a:noFill/>
          <a:effectLst/>
        </p:spPr>
        <p:txBody>
          <a:bodyPr wrap="square" lIns="0" tIns="0" rIns="0" bIns="0" anchor="t">
            <a:spAutoFit/>
          </a:bodyPr>
          <a:lstStyle/>
          <a:p>
            <a:pPr algn="l">
              <a:lnSpc>
                <a:spcPct val="150000"/>
              </a:lnSpc>
              <a:spcBef>
                <a:spcPts val="0"/>
              </a:spcBef>
              <a:spcAft>
                <a:spcPts val="0"/>
              </a:spcAft>
            </a:pPr>
            <a:r>
              <a:rPr sz="1370" b="0">
                <a:solidFill>
                  <a:srgbClr val="5D7083"/>
                </a:solidFill>
                <a:latin typeface="Arial"/>
              </a:rPr>
              <a:t>In-house artwork &amp; film design</a:t>
            </a:r>
          </a:p>
          <a:p>
            <a:pPr algn="l">
              <a:lnSpc>
                <a:spcPct val="150000"/>
              </a:lnSpc>
              <a:spcBef>
                <a:spcPts val="0"/>
              </a:spcBef>
              <a:spcAft>
                <a:spcPts val="0"/>
              </a:spcAft>
            </a:pPr>
            <a:r>
              <a:rPr sz="1370" b="0">
                <a:solidFill>
                  <a:srgbClr val="5D7083"/>
                </a:solidFill>
                <a:latin typeface="Arial"/>
              </a:rPr>
              <a:t>Design confidentiality</a:t>
            </a:r>
          </a:p>
          <a:p>
            <a:pPr algn="l">
              <a:lnSpc>
                <a:spcPct val="150000"/>
              </a:lnSpc>
              <a:spcBef>
                <a:spcPts val="0"/>
              </a:spcBef>
              <a:spcAft>
                <a:spcPts val="0"/>
              </a:spcAft>
            </a:pPr>
            <a:r>
              <a:rPr sz="1370" b="0">
                <a:solidFill>
                  <a:srgbClr val="5D7083"/>
                </a:solidFill>
                <a:latin typeface="Arial"/>
              </a:rPr>
              <a:t>Flexible design changes</a:t>
            </a:r>
          </a:p>
        </p:txBody>
      </p:sp>
      <p:pic>
        <p:nvPicPr>
          <p:cNvPr id="18" name="Picture 17" descr="image77.jpg"/>
          <p:cNvPicPr>
            <a:picLocks noChangeAspect="1"/>
          </p:cNvPicPr>
          <p:nvPr/>
        </p:nvPicPr>
        <p:blipFill>
          <a:blip r:embed="rId5"/>
          <a:srcRect l="8670" r="8670"/>
          <a:stretch>
            <a:fillRect/>
          </a:stretch>
        </p:blipFill>
        <p:spPr>
          <a:xfrm>
            <a:off x="3904487" y="2779776"/>
            <a:ext cx="2203704" cy="1499616"/>
          </a:xfrm>
          <a:prstGeom prst="rect">
            <a:avLst/>
          </a:prstGeom>
          <a:effectLst/>
        </p:spPr>
      </p:pic>
      <p:pic>
        <p:nvPicPr>
          <p:cNvPr id="19" name="Picture 18" descr="image74.jpg"/>
          <p:cNvPicPr>
            <a:picLocks noChangeAspect="1"/>
          </p:cNvPicPr>
          <p:nvPr/>
        </p:nvPicPr>
        <p:blipFill>
          <a:blip r:embed="rId6"/>
          <a:srcRect l="18089" r="18089"/>
          <a:stretch>
            <a:fillRect/>
          </a:stretch>
        </p:blipFill>
        <p:spPr>
          <a:xfrm rot="5400000">
            <a:off x="6210203" y="2743974"/>
            <a:ext cx="1499616" cy="1566478"/>
          </a:xfrm>
          <a:prstGeom prst="rect">
            <a:avLst/>
          </a:prstGeom>
          <a:effectLst/>
        </p:spPr>
      </p:pic>
      <p:sp>
        <p:nvSpPr>
          <p:cNvPr id="20" name="TextBox 19"/>
          <p:cNvSpPr txBox="1"/>
          <p:nvPr/>
        </p:nvSpPr>
        <p:spPr>
          <a:xfrm>
            <a:off x="3931920" y="4407408"/>
            <a:ext cx="2103120" cy="168829"/>
          </a:xfrm>
          <a:prstGeom prst="rect">
            <a:avLst/>
          </a:prstGeom>
          <a:noFill/>
          <a:effectLst/>
        </p:spPr>
        <p:txBody>
          <a:bodyPr wrap="square" lIns="0" tIns="0" rIns="0" bIns="0" anchor="t">
            <a:spAutoFit/>
          </a:bodyPr>
          <a:lstStyle/>
          <a:p>
            <a:pPr algn="l">
              <a:lnSpc>
                <a:spcPct val="114000"/>
              </a:lnSpc>
              <a:spcBef>
                <a:spcPts val="0"/>
              </a:spcBef>
              <a:spcAft>
                <a:spcPts val="0"/>
              </a:spcAft>
            </a:pPr>
            <a:r>
              <a:rPr sz="1050" b="0" dirty="0">
                <a:solidFill>
                  <a:srgbClr val="5D7083"/>
                </a:solidFill>
                <a:latin typeface="Arial"/>
              </a:rPr>
              <a:t>Full auto</a:t>
            </a:r>
            <a:r>
              <a:rPr lang="en-US" sz="1050" b="0" dirty="0">
                <a:solidFill>
                  <a:srgbClr val="5D7083"/>
                </a:solidFill>
                <a:latin typeface="Arial"/>
              </a:rPr>
              <a:t> (5 unit)</a:t>
            </a:r>
            <a:endParaRPr sz="1050" b="0" dirty="0">
              <a:solidFill>
                <a:srgbClr val="5D7083"/>
              </a:solidFill>
              <a:latin typeface="Arial"/>
            </a:endParaRPr>
          </a:p>
        </p:txBody>
      </p:sp>
      <p:sp>
        <p:nvSpPr>
          <p:cNvPr id="21" name="TextBox 20"/>
          <p:cNvSpPr txBox="1"/>
          <p:nvPr/>
        </p:nvSpPr>
        <p:spPr>
          <a:xfrm>
            <a:off x="6227064" y="4407408"/>
            <a:ext cx="1463040" cy="168829"/>
          </a:xfrm>
          <a:prstGeom prst="rect">
            <a:avLst/>
          </a:prstGeom>
          <a:noFill/>
          <a:effectLst/>
        </p:spPr>
        <p:txBody>
          <a:bodyPr wrap="square" lIns="0" tIns="0" rIns="0" bIns="0" anchor="t">
            <a:spAutoFit/>
          </a:bodyPr>
          <a:lstStyle/>
          <a:p>
            <a:pPr algn="l">
              <a:lnSpc>
                <a:spcPct val="114000"/>
              </a:lnSpc>
              <a:spcBef>
                <a:spcPts val="0"/>
              </a:spcBef>
              <a:spcAft>
                <a:spcPts val="0"/>
              </a:spcAft>
            </a:pPr>
            <a:r>
              <a:rPr sz="1050" b="0" dirty="0">
                <a:solidFill>
                  <a:srgbClr val="5D7083"/>
                </a:solidFill>
                <a:latin typeface="Arial"/>
              </a:rPr>
              <a:t>Semi-auto</a:t>
            </a:r>
            <a:r>
              <a:rPr lang="en-US" sz="1050" b="0" dirty="0">
                <a:solidFill>
                  <a:srgbClr val="5D7083"/>
                </a:solidFill>
                <a:latin typeface="Arial"/>
              </a:rPr>
              <a:t> (19 unit)</a:t>
            </a:r>
            <a:endParaRPr sz="1050" b="0" dirty="0">
              <a:solidFill>
                <a:srgbClr val="5D7083"/>
              </a:solidFill>
              <a:latin typeface="Arial"/>
            </a:endParaRPr>
          </a:p>
        </p:txBody>
      </p:sp>
      <p:sp>
        <p:nvSpPr>
          <p:cNvPr id="22" name="TextBox 21"/>
          <p:cNvSpPr txBox="1"/>
          <p:nvPr/>
        </p:nvSpPr>
        <p:spPr>
          <a:xfrm>
            <a:off x="3922776" y="4837176"/>
            <a:ext cx="3666744" cy="514500"/>
          </a:xfrm>
          <a:prstGeom prst="rect">
            <a:avLst/>
          </a:prstGeom>
          <a:noFill/>
          <a:effectLst/>
        </p:spPr>
        <p:txBody>
          <a:bodyPr wrap="square" lIns="0" tIns="0" rIns="0" bIns="0" anchor="t">
            <a:spAutoFit/>
          </a:bodyPr>
          <a:lstStyle/>
          <a:p>
            <a:pPr algn="l">
              <a:lnSpc>
                <a:spcPct val="114000"/>
              </a:lnSpc>
              <a:spcBef>
                <a:spcPts val="0"/>
              </a:spcBef>
              <a:spcAft>
                <a:spcPts val="0"/>
              </a:spcAft>
            </a:pPr>
            <a:r>
              <a:rPr lang="en-US" sz="3200" b="1" dirty="0">
                <a:solidFill>
                  <a:srgbClr val="244CE5"/>
                </a:solidFill>
                <a:latin typeface="Arial"/>
              </a:rPr>
              <a:t>1,000,000</a:t>
            </a:r>
            <a:endParaRPr sz="3200" b="1" dirty="0">
              <a:solidFill>
                <a:srgbClr val="244CE5"/>
              </a:solidFill>
              <a:latin typeface="Arial"/>
            </a:endParaRPr>
          </a:p>
        </p:txBody>
      </p:sp>
      <p:sp>
        <p:nvSpPr>
          <p:cNvPr id="23" name="TextBox 22"/>
          <p:cNvSpPr txBox="1"/>
          <p:nvPr/>
        </p:nvSpPr>
        <p:spPr>
          <a:xfrm>
            <a:off x="3922776" y="5477256"/>
            <a:ext cx="3621024" cy="201168"/>
          </a:xfrm>
          <a:prstGeom prst="rect">
            <a:avLst/>
          </a:prstGeom>
          <a:noFill/>
          <a:effectLst/>
        </p:spPr>
        <p:txBody>
          <a:bodyPr wrap="square" lIns="0" tIns="0" rIns="0" bIns="0" anchor="t">
            <a:spAutoFit/>
          </a:bodyPr>
          <a:lstStyle/>
          <a:p>
            <a:pPr algn="l">
              <a:lnSpc>
                <a:spcPct val="114000"/>
              </a:lnSpc>
              <a:spcBef>
                <a:spcPts val="0"/>
              </a:spcBef>
              <a:spcAft>
                <a:spcPts val="0"/>
              </a:spcAft>
            </a:pPr>
            <a:r>
              <a:rPr sz="1250" b="0">
                <a:solidFill>
                  <a:srgbClr val="5D7083"/>
                </a:solidFill>
                <a:latin typeface="Arial"/>
              </a:rPr>
              <a:t>sets / year · Total printing capacity</a:t>
            </a:r>
          </a:p>
        </p:txBody>
      </p:sp>
      <p:sp>
        <p:nvSpPr>
          <p:cNvPr id="24" name="TextBox 23"/>
          <p:cNvSpPr txBox="1"/>
          <p:nvPr/>
        </p:nvSpPr>
        <p:spPr>
          <a:xfrm>
            <a:off x="3922776" y="5870448"/>
            <a:ext cx="3630168" cy="164592"/>
          </a:xfrm>
          <a:prstGeom prst="rect">
            <a:avLst/>
          </a:prstGeom>
          <a:noFill/>
          <a:effectLst/>
        </p:spPr>
        <p:txBody>
          <a:bodyPr wrap="square" lIns="0" tIns="0" rIns="0" bIns="0" anchor="t">
            <a:spAutoFit/>
          </a:bodyPr>
          <a:lstStyle/>
          <a:p>
            <a:pPr algn="l">
              <a:lnSpc>
                <a:spcPct val="114000"/>
              </a:lnSpc>
              <a:spcBef>
                <a:spcPts val="0"/>
              </a:spcBef>
              <a:spcAft>
                <a:spcPts val="0"/>
              </a:spcAft>
            </a:pPr>
            <a:r>
              <a:rPr sz="1040" b="0">
                <a:solidFill>
                  <a:srgbClr val="5D7083"/>
                </a:solidFill>
                <a:latin typeface="Arial"/>
              </a:rPr>
              <a:t>Accuracy and flexibility for multiple variants</a:t>
            </a:r>
          </a:p>
        </p:txBody>
      </p:sp>
      <p:pic>
        <p:nvPicPr>
          <p:cNvPr id="25" name="Picture 24" descr="image75.jpg"/>
          <p:cNvPicPr>
            <a:picLocks noChangeAspect="1"/>
          </p:cNvPicPr>
          <p:nvPr/>
        </p:nvPicPr>
        <p:blipFill>
          <a:blip r:embed="rId7"/>
          <a:srcRect t="14920" b="14920"/>
          <a:stretch>
            <a:fillRect/>
          </a:stretch>
        </p:blipFill>
        <p:spPr>
          <a:xfrm rot="5400000">
            <a:off x="7296912" y="3458787"/>
            <a:ext cx="3236976" cy="1517904"/>
          </a:xfrm>
          <a:prstGeom prst="rect">
            <a:avLst/>
          </a:prstGeom>
          <a:effectLst/>
        </p:spPr>
      </p:pic>
      <p:sp>
        <p:nvSpPr>
          <p:cNvPr id="26" name="TextBox 25"/>
          <p:cNvSpPr txBox="1"/>
          <p:nvPr/>
        </p:nvSpPr>
        <p:spPr>
          <a:xfrm>
            <a:off x="9838096" y="3055930"/>
            <a:ext cx="1714501" cy="321563"/>
          </a:xfrm>
          <a:prstGeom prst="rect">
            <a:avLst/>
          </a:prstGeom>
          <a:noFill/>
          <a:effectLst/>
        </p:spPr>
        <p:txBody>
          <a:bodyPr wrap="square" lIns="0" tIns="0" rIns="0" bIns="0" anchor="t">
            <a:spAutoFit/>
          </a:bodyPr>
          <a:lstStyle/>
          <a:p>
            <a:pPr algn="l">
              <a:lnSpc>
                <a:spcPct val="114000"/>
              </a:lnSpc>
              <a:spcBef>
                <a:spcPts val="0"/>
              </a:spcBef>
              <a:spcAft>
                <a:spcPts val="0"/>
              </a:spcAft>
            </a:pPr>
            <a:r>
              <a:rPr sz="2000" b="1" dirty="0">
                <a:solidFill>
                  <a:srgbClr val="192E43"/>
                </a:solidFill>
                <a:latin typeface="Arial"/>
              </a:rPr>
              <a:t>SUGA SX75</a:t>
            </a:r>
          </a:p>
        </p:txBody>
      </p:sp>
      <p:sp>
        <p:nvSpPr>
          <p:cNvPr id="27" name="TextBox 26"/>
          <p:cNvSpPr txBox="1"/>
          <p:nvPr/>
        </p:nvSpPr>
        <p:spPr>
          <a:xfrm>
            <a:off x="9838096" y="3567994"/>
            <a:ext cx="1714501" cy="1695592"/>
          </a:xfrm>
          <a:prstGeom prst="rect">
            <a:avLst/>
          </a:prstGeom>
          <a:noFill/>
          <a:effectLst/>
        </p:spPr>
        <p:txBody>
          <a:bodyPr wrap="square" lIns="0" tIns="0" rIns="0" bIns="0" anchor="t">
            <a:spAutoFit/>
          </a:bodyPr>
          <a:lstStyle/>
          <a:p>
            <a:pPr algn="l">
              <a:lnSpc>
                <a:spcPct val="150000"/>
              </a:lnSpc>
              <a:spcBef>
                <a:spcPts val="0"/>
              </a:spcBef>
              <a:spcAft>
                <a:spcPts val="0"/>
              </a:spcAft>
            </a:pPr>
            <a:r>
              <a:rPr sz="1250" b="0">
                <a:solidFill>
                  <a:srgbClr val="5D7083"/>
                </a:solidFill>
                <a:latin typeface="Arial"/>
              </a:rPr>
              <a:t>Xenon-arc weatherability testing</a:t>
            </a:r>
          </a:p>
          <a:p>
            <a:pPr algn="l">
              <a:lnSpc>
                <a:spcPct val="150000"/>
              </a:lnSpc>
              <a:spcBef>
                <a:spcPts val="0"/>
              </a:spcBef>
              <a:spcAft>
                <a:spcPts val="0"/>
              </a:spcAft>
            </a:pPr>
            <a:r>
              <a:rPr sz="1250" b="0">
                <a:solidFill>
                  <a:srgbClr val="5D7083"/>
                </a:solidFill>
                <a:latin typeface="Arial"/>
              </a:rPr>
              <a:t>Complies with YGK standard</a:t>
            </a:r>
          </a:p>
          <a:p>
            <a:pPr algn="l">
              <a:lnSpc>
                <a:spcPct val="150000"/>
              </a:lnSpc>
              <a:spcBef>
                <a:spcPts val="0"/>
              </a:spcBef>
              <a:spcAft>
                <a:spcPts val="0"/>
              </a:spcAft>
            </a:pPr>
            <a:r>
              <a:rPr sz="1250" b="0">
                <a:solidFill>
                  <a:srgbClr val="5D7083"/>
                </a:solidFill>
                <a:latin typeface="Arial"/>
              </a:rPr>
              <a:t>Extreme testing in a shorter period</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EQUIPMENT</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200" b="1" spc="-40">
                <a:solidFill>
                  <a:srgbClr val="112B45"/>
                </a:solidFill>
                <a:latin typeface="Arial"/>
              </a:rPr>
              <a:t>Dome &amp; soft-emblem production</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Dedicated machines for dimensional graphics and emblems</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EQUIPMENT</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23</a:t>
            </a:r>
          </a:p>
        </p:txBody>
      </p:sp>
      <p:sp>
        <p:nvSpPr>
          <p:cNvPr id="10" name="Rectangle 9"/>
          <p:cNvSpPr/>
          <p:nvPr/>
        </p:nvSpPr>
        <p:spPr>
          <a:xfrm>
            <a:off x="603504" y="2048256"/>
            <a:ext cx="537667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6217920" y="2048256"/>
            <a:ext cx="5376672" cy="405993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795528" y="2231136"/>
            <a:ext cx="4937760" cy="320040"/>
          </a:xfrm>
          <a:prstGeom prst="rect">
            <a:avLst/>
          </a:prstGeom>
          <a:noFill/>
          <a:effectLst/>
        </p:spPr>
        <p:txBody>
          <a:bodyPr wrap="square" lIns="0" tIns="0" rIns="0" bIns="0" anchor="t">
            <a:spAutoFit/>
          </a:bodyPr>
          <a:lstStyle/>
          <a:p>
            <a:pPr algn="l">
              <a:lnSpc>
                <a:spcPct val="114000"/>
              </a:lnSpc>
              <a:spcBef>
                <a:spcPts val="0"/>
              </a:spcBef>
              <a:spcAft>
                <a:spcPts val="0"/>
              </a:spcAft>
            </a:pPr>
            <a:r>
              <a:rPr sz="2300" b="1">
                <a:solidFill>
                  <a:srgbClr val="192E43"/>
                </a:solidFill>
                <a:latin typeface="Arial"/>
              </a:rPr>
              <a:t>Resin dome</a:t>
            </a:r>
          </a:p>
        </p:txBody>
      </p:sp>
      <p:pic>
        <p:nvPicPr>
          <p:cNvPr id="13" name="Picture 12" descr="image81.jpg"/>
          <p:cNvPicPr>
            <a:picLocks noChangeAspect="1"/>
          </p:cNvPicPr>
          <p:nvPr/>
        </p:nvPicPr>
        <p:blipFill>
          <a:blip r:embed="rId4"/>
          <a:srcRect t="1648" b="1648"/>
          <a:stretch>
            <a:fillRect/>
          </a:stretch>
        </p:blipFill>
        <p:spPr>
          <a:xfrm>
            <a:off x="777240" y="2788920"/>
            <a:ext cx="2496312" cy="1810512"/>
          </a:xfrm>
          <a:prstGeom prst="rect">
            <a:avLst/>
          </a:prstGeom>
          <a:effectLst/>
        </p:spPr>
      </p:pic>
      <p:pic>
        <p:nvPicPr>
          <p:cNvPr id="14" name="Picture 13" descr="image79.jpg"/>
          <p:cNvPicPr>
            <a:picLocks noChangeAspect="1"/>
          </p:cNvPicPr>
          <p:nvPr/>
        </p:nvPicPr>
        <p:blipFill>
          <a:blip r:embed="rId5"/>
          <a:srcRect t="376" b="376"/>
          <a:stretch>
            <a:fillRect/>
          </a:stretch>
        </p:blipFill>
        <p:spPr>
          <a:xfrm>
            <a:off x="3374136" y="2788920"/>
            <a:ext cx="2432304" cy="1810512"/>
          </a:xfrm>
          <a:prstGeom prst="rect">
            <a:avLst/>
          </a:prstGeom>
          <a:effectLst/>
        </p:spPr>
      </p:pic>
      <p:sp>
        <p:nvSpPr>
          <p:cNvPr id="15" name="TextBox 14"/>
          <p:cNvSpPr txBox="1"/>
          <p:nvPr/>
        </p:nvSpPr>
        <p:spPr>
          <a:xfrm>
            <a:off x="795528" y="4855464"/>
            <a:ext cx="4928616" cy="420624"/>
          </a:xfrm>
          <a:prstGeom prst="rect">
            <a:avLst/>
          </a:prstGeom>
          <a:noFill/>
          <a:effectLst/>
        </p:spPr>
        <p:txBody>
          <a:bodyPr wrap="square" lIns="0" tIns="0" rIns="0" bIns="0" anchor="t">
            <a:spAutoFit/>
          </a:bodyPr>
          <a:lstStyle/>
          <a:p>
            <a:pPr algn="l">
              <a:lnSpc>
                <a:spcPct val="110000"/>
              </a:lnSpc>
              <a:spcBef>
                <a:spcPts val="0"/>
              </a:spcBef>
              <a:spcAft>
                <a:spcPts val="0"/>
              </a:spcAft>
            </a:pPr>
            <a:r>
              <a:rPr sz="1300" b="0">
                <a:solidFill>
                  <a:srgbClr val="5D7083"/>
                </a:solidFill>
                <a:latin typeface="Arial"/>
              </a:rPr>
              <a:t>Mercury-free system · Degassing to minimize bubbles</a:t>
            </a:r>
          </a:p>
        </p:txBody>
      </p:sp>
      <p:sp>
        <p:nvSpPr>
          <p:cNvPr id="16" name="TextBox 15"/>
          <p:cNvSpPr txBox="1"/>
          <p:nvPr/>
        </p:nvSpPr>
        <p:spPr>
          <a:xfrm>
            <a:off x="786384" y="5404104"/>
            <a:ext cx="3035808" cy="482248"/>
          </a:xfrm>
          <a:prstGeom prst="rect">
            <a:avLst/>
          </a:prstGeom>
          <a:noFill/>
          <a:effectLst/>
        </p:spPr>
        <p:txBody>
          <a:bodyPr wrap="square" lIns="0" tIns="0" rIns="0" bIns="0" anchor="t">
            <a:spAutoFit/>
          </a:bodyPr>
          <a:lstStyle/>
          <a:p>
            <a:pPr algn="l">
              <a:lnSpc>
                <a:spcPct val="114000"/>
              </a:lnSpc>
              <a:spcBef>
                <a:spcPts val="0"/>
              </a:spcBef>
              <a:spcAft>
                <a:spcPts val="0"/>
              </a:spcAft>
            </a:pPr>
            <a:r>
              <a:rPr lang="en-US" sz="3000" b="1" dirty="0">
                <a:solidFill>
                  <a:srgbClr val="244CE5"/>
                </a:solidFill>
                <a:latin typeface="Arial"/>
              </a:rPr>
              <a:t>6</a:t>
            </a:r>
            <a:r>
              <a:rPr sz="3000" b="1" dirty="0">
                <a:solidFill>
                  <a:srgbClr val="244CE5"/>
                </a:solidFill>
                <a:latin typeface="Arial"/>
              </a:rPr>
              <a:t>,</a:t>
            </a:r>
            <a:r>
              <a:rPr lang="en-US" sz="3000" b="1" dirty="0">
                <a:solidFill>
                  <a:srgbClr val="244CE5"/>
                </a:solidFill>
                <a:latin typeface="Arial"/>
              </a:rPr>
              <a:t>0</a:t>
            </a:r>
            <a:r>
              <a:rPr sz="3000" b="1" dirty="0">
                <a:solidFill>
                  <a:srgbClr val="244CE5"/>
                </a:solidFill>
                <a:latin typeface="Arial"/>
              </a:rPr>
              <a:t>00,000</a:t>
            </a:r>
          </a:p>
        </p:txBody>
      </p:sp>
      <p:sp>
        <p:nvSpPr>
          <p:cNvPr id="17" name="TextBox 16"/>
          <p:cNvSpPr txBox="1"/>
          <p:nvPr/>
        </p:nvSpPr>
        <p:spPr>
          <a:xfrm>
            <a:off x="3886200" y="5650992"/>
            <a:ext cx="1801368" cy="173736"/>
          </a:xfrm>
          <a:prstGeom prst="rect">
            <a:avLst/>
          </a:prstGeom>
          <a:noFill/>
          <a:effectLst/>
        </p:spPr>
        <p:txBody>
          <a:bodyPr wrap="square" lIns="0" tIns="0" rIns="0" bIns="0" anchor="t">
            <a:spAutoFit/>
          </a:bodyPr>
          <a:lstStyle/>
          <a:p>
            <a:pPr algn="l">
              <a:lnSpc>
                <a:spcPct val="114000"/>
              </a:lnSpc>
              <a:spcBef>
                <a:spcPts val="0"/>
              </a:spcBef>
              <a:spcAft>
                <a:spcPts val="0"/>
              </a:spcAft>
            </a:pPr>
            <a:r>
              <a:rPr sz="1240" b="0">
                <a:solidFill>
                  <a:srgbClr val="5D7083"/>
                </a:solidFill>
                <a:latin typeface="Arial"/>
              </a:rPr>
              <a:t>pcs / year</a:t>
            </a:r>
          </a:p>
        </p:txBody>
      </p:sp>
      <p:sp>
        <p:nvSpPr>
          <p:cNvPr id="18" name="TextBox 17"/>
          <p:cNvSpPr txBox="1"/>
          <p:nvPr/>
        </p:nvSpPr>
        <p:spPr>
          <a:xfrm>
            <a:off x="6419088" y="2231136"/>
            <a:ext cx="4937760" cy="320040"/>
          </a:xfrm>
          <a:prstGeom prst="rect">
            <a:avLst/>
          </a:prstGeom>
          <a:noFill/>
          <a:effectLst/>
        </p:spPr>
        <p:txBody>
          <a:bodyPr wrap="square" lIns="0" tIns="0" rIns="0" bIns="0" anchor="t">
            <a:spAutoFit/>
          </a:bodyPr>
          <a:lstStyle/>
          <a:p>
            <a:pPr algn="l">
              <a:lnSpc>
                <a:spcPct val="114000"/>
              </a:lnSpc>
              <a:spcBef>
                <a:spcPts val="0"/>
              </a:spcBef>
              <a:spcAft>
                <a:spcPts val="0"/>
              </a:spcAft>
            </a:pPr>
            <a:r>
              <a:rPr sz="2300" b="1" dirty="0" err="1">
                <a:solidFill>
                  <a:srgbClr val="192E43"/>
                </a:solidFill>
                <a:latin typeface="Arial"/>
              </a:rPr>
              <a:t>Grafindo</a:t>
            </a:r>
            <a:r>
              <a:rPr sz="2300" b="1" dirty="0">
                <a:solidFill>
                  <a:srgbClr val="192E43"/>
                </a:solidFill>
                <a:latin typeface="Arial"/>
              </a:rPr>
              <a:t> Soft Emblem</a:t>
            </a:r>
          </a:p>
        </p:txBody>
      </p:sp>
      <p:pic>
        <p:nvPicPr>
          <p:cNvPr id="19" name="Picture 18" descr="image78.jpg"/>
          <p:cNvPicPr>
            <a:picLocks noChangeAspect="1"/>
          </p:cNvPicPr>
          <p:nvPr/>
        </p:nvPicPr>
        <p:blipFill>
          <a:blip r:embed="rId6"/>
          <a:srcRect t="1088" b="1088"/>
          <a:stretch>
            <a:fillRect/>
          </a:stretch>
        </p:blipFill>
        <p:spPr>
          <a:xfrm rot="5400000">
            <a:off x="6491009" y="3009607"/>
            <a:ext cx="1806877" cy="1365503"/>
          </a:xfrm>
          <a:prstGeom prst="rect">
            <a:avLst/>
          </a:prstGeom>
          <a:effectLst/>
        </p:spPr>
      </p:pic>
      <p:pic>
        <p:nvPicPr>
          <p:cNvPr id="20" name="Picture 19" descr="image80.jpg"/>
          <p:cNvPicPr>
            <a:picLocks noChangeAspect="1"/>
          </p:cNvPicPr>
          <p:nvPr/>
        </p:nvPicPr>
        <p:blipFill>
          <a:blip r:embed="rId7"/>
          <a:stretch>
            <a:fillRect/>
          </a:stretch>
        </p:blipFill>
        <p:spPr>
          <a:xfrm>
            <a:off x="9717918" y="2788920"/>
            <a:ext cx="1019290" cy="1810512"/>
          </a:xfrm>
          <a:prstGeom prst="rect">
            <a:avLst/>
          </a:prstGeom>
          <a:effectLst/>
        </p:spPr>
      </p:pic>
      <p:sp>
        <p:nvSpPr>
          <p:cNvPr id="21" name="TextBox 20"/>
          <p:cNvSpPr txBox="1"/>
          <p:nvPr/>
        </p:nvSpPr>
        <p:spPr>
          <a:xfrm>
            <a:off x="6455664" y="4718304"/>
            <a:ext cx="2304288" cy="16075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0" dirty="0">
                <a:solidFill>
                  <a:srgbClr val="5D7083"/>
                </a:solidFill>
                <a:latin typeface="Arial"/>
              </a:rPr>
              <a:t>RP12</a:t>
            </a:r>
            <a:r>
              <a:rPr lang="en-US" sz="1000" b="0" dirty="0">
                <a:solidFill>
                  <a:srgbClr val="5D7083"/>
                </a:solidFill>
                <a:latin typeface="Arial"/>
              </a:rPr>
              <a:t> (1 unit)</a:t>
            </a:r>
            <a:endParaRPr sz="1000" b="0" dirty="0">
              <a:solidFill>
                <a:srgbClr val="5D7083"/>
              </a:solidFill>
              <a:latin typeface="Arial"/>
            </a:endParaRPr>
          </a:p>
        </p:txBody>
      </p:sp>
      <p:sp>
        <p:nvSpPr>
          <p:cNvPr id="22" name="TextBox 21"/>
          <p:cNvSpPr txBox="1"/>
          <p:nvPr/>
        </p:nvSpPr>
        <p:spPr>
          <a:xfrm>
            <a:off x="9134856" y="4718304"/>
            <a:ext cx="2121408" cy="16075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0" dirty="0">
                <a:solidFill>
                  <a:srgbClr val="5D7083"/>
                </a:solidFill>
                <a:latin typeface="Arial"/>
              </a:rPr>
              <a:t>RP15</a:t>
            </a:r>
            <a:r>
              <a:rPr lang="en-US" sz="1000" b="0" dirty="0">
                <a:solidFill>
                  <a:srgbClr val="5D7083"/>
                </a:solidFill>
                <a:latin typeface="Arial"/>
              </a:rPr>
              <a:t> (2 unit)</a:t>
            </a:r>
            <a:endParaRPr sz="1000" b="0" dirty="0">
              <a:solidFill>
                <a:srgbClr val="5D7083"/>
              </a:solidFill>
              <a:latin typeface="Arial"/>
            </a:endParaRPr>
          </a:p>
        </p:txBody>
      </p:sp>
      <p:sp>
        <p:nvSpPr>
          <p:cNvPr id="23" name="TextBox 22"/>
          <p:cNvSpPr txBox="1"/>
          <p:nvPr/>
        </p:nvSpPr>
        <p:spPr>
          <a:xfrm>
            <a:off x="6428232" y="5029200"/>
            <a:ext cx="4901184" cy="209032"/>
          </a:xfrm>
          <a:prstGeom prst="rect">
            <a:avLst/>
          </a:prstGeom>
          <a:noFill/>
          <a:effectLst/>
        </p:spPr>
        <p:txBody>
          <a:bodyPr wrap="square" lIns="0" tIns="0" rIns="0" bIns="0" anchor="t">
            <a:spAutoFit/>
          </a:bodyPr>
          <a:lstStyle/>
          <a:p>
            <a:pPr algn="l">
              <a:lnSpc>
                <a:spcPct val="114000"/>
              </a:lnSpc>
              <a:spcBef>
                <a:spcPts val="0"/>
              </a:spcBef>
              <a:spcAft>
                <a:spcPts val="0"/>
              </a:spcAft>
            </a:pPr>
            <a:r>
              <a:rPr sz="1300" b="0" dirty="0">
                <a:solidFill>
                  <a:srgbClr val="5D7083"/>
                </a:solidFill>
                <a:latin typeface="Arial"/>
              </a:rPr>
              <a:t>T</a:t>
            </a:r>
            <a:r>
              <a:rPr lang="en-US" sz="1300" b="0" dirty="0">
                <a:solidFill>
                  <a:srgbClr val="5D7083"/>
                </a:solidFill>
                <a:latin typeface="Arial"/>
              </a:rPr>
              <a:t>hree</a:t>
            </a:r>
            <a:r>
              <a:rPr sz="1300" b="0" dirty="0">
                <a:solidFill>
                  <a:srgbClr val="5D7083"/>
                </a:solidFill>
                <a:latin typeface="Arial"/>
              </a:rPr>
              <a:t> machines · RP12 and RP15</a:t>
            </a:r>
          </a:p>
        </p:txBody>
      </p:sp>
      <p:sp>
        <p:nvSpPr>
          <p:cNvPr id="24" name="TextBox 23"/>
          <p:cNvSpPr txBox="1"/>
          <p:nvPr/>
        </p:nvSpPr>
        <p:spPr>
          <a:xfrm>
            <a:off x="6409944" y="5404104"/>
            <a:ext cx="3054096" cy="482248"/>
          </a:xfrm>
          <a:prstGeom prst="rect">
            <a:avLst/>
          </a:prstGeom>
          <a:noFill/>
          <a:effectLst/>
        </p:spPr>
        <p:txBody>
          <a:bodyPr wrap="square" lIns="0" tIns="0" rIns="0" bIns="0" anchor="t">
            <a:spAutoFit/>
          </a:bodyPr>
          <a:lstStyle/>
          <a:p>
            <a:pPr algn="l">
              <a:lnSpc>
                <a:spcPct val="114000"/>
              </a:lnSpc>
              <a:spcBef>
                <a:spcPts val="0"/>
              </a:spcBef>
              <a:spcAft>
                <a:spcPts val="0"/>
              </a:spcAft>
            </a:pPr>
            <a:r>
              <a:rPr lang="en-US" sz="3000" b="1" dirty="0">
                <a:solidFill>
                  <a:srgbClr val="244CE5"/>
                </a:solidFill>
                <a:latin typeface="Arial"/>
              </a:rPr>
              <a:t>5</a:t>
            </a:r>
            <a:r>
              <a:rPr sz="3000" b="1" dirty="0">
                <a:solidFill>
                  <a:srgbClr val="244CE5"/>
                </a:solidFill>
                <a:latin typeface="Arial"/>
              </a:rPr>
              <a:t>,000,000</a:t>
            </a:r>
          </a:p>
        </p:txBody>
      </p:sp>
      <p:sp>
        <p:nvSpPr>
          <p:cNvPr id="25" name="TextBox 24"/>
          <p:cNvSpPr txBox="1"/>
          <p:nvPr/>
        </p:nvSpPr>
        <p:spPr>
          <a:xfrm>
            <a:off x="9537192" y="5650992"/>
            <a:ext cx="1801368" cy="173736"/>
          </a:xfrm>
          <a:prstGeom prst="rect">
            <a:avLst/>
          </a:prstGeom>
          <a:noFill/>
          <a:effectLst/>
        </p:spPr>
        <p:txBody>
          <a:bodyPr wrap="square" lIns="0" tIns="0" rIns="0" bIns="0" anchor="t">
            <a:spAutoFit/>
          </a:bodyPr>
          <a:lstStyle/>
          <a:p>
            <a:pPr algn="l">
              <a:lnSpc>
                <a:spcPct val="114000"/>
              </a:lnSpc>
              <a:spcBef>
                <a:spcPts val="0"/>
              </a:spcBef>
              <a:spcAft>
                <a:spcPts val="0"/>
              </a:spcAft>
            </a:pPr>
            <a:r>
              <a:rPr sz="1240" b="0">
                <a:solidFill>
                  <a:srgbClr val="5D7083"/>
                </a:solidFill>
                <a:latin typeface="Arial"/>
              </a:rPr>
              <a:t>pcs / year</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48390-AE52-F741-0D89-849BD962F86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3CE309-5AE1-6CFC-4621-85110B32ADF0}"/>
              </a:ext>
            </a:extLst>
          </p:cNvPr>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dirty="0">
                <a:solidFill>
                  <a:srgbClr val="244CE5"/>
                </a:solidFill>
                <a:latin typeface="Arial"/>
              </a:rPr>
              <a:t>MATERIALS</a:t>
            </a:r>
          </a:p>
        </p:txBody>
      </p:sp>
      <p:sp>
        <p:nvSpPr>
          <p:cNvPr id="3" name="TextBox 2">
            <a:extLst>
              <a:ext uri="{FF2B5EF4-FFF2-40B4-BE49-F238E27FC236}">
                <a16:creationId xmlns:a16="http://schemas.microsoft.com/office/drawing/2014/main" id="{1FFEBAC3-1A08-F6CF-7588-A5A5CA406F49}"/>
              </a:ext>
            </a:extLst>
          </p:cNvPr>
          <p:cNvSpPr txBox="1"/>
          <p:nvPr/>
        </p:nvSpPr>
        <p:spPr>
          <a:xfrm>
            <a:off x="594360" y="905256"/>
            <a:ext cx="10515600" cy="482248"/>
          </a:xfrm>
          <a:prstGeom prst="rect">
            <a:avLst/>
          </a:prstGeom>
          <a:noFill/>
          <a:effectLst/>
        </p:spPr>
        <p:txBody>
          <a:bodyPr wrap="square" lIns="0" tIns="0" rIns="0" bIns="0" anchor="t">
            <a:spAutoFit/>
          </a:bodyPr>
          <a:lstStyle/>
          <a:p>
            <a:pPr algn="l">
              <a:lnSpc>
                <a:spcPct val="114000"/>
              </a:lnSpc>
              <a:spcBef>
                <a:spcPts val="0"/>
              </a:spcBef>
              <a:spcAft>
                <a:spcPts val="0"/>
              </a:spcAft>
            </a:pPr>
            <a:r>
              <a:rPr lang="en-US" sz="3000" b="1" spc="-40" dirty="0">
                <a:solidFill>
                  <a:srgbClr val="112B45"/>
                </a:solidFill>
                <a:latin typeface="Arial"/>
              </a:rPr>
              <a:t>Customer</a:t>
            </a:r>
            <a:endParaRPr sz="3000" b="1" spc="-40" dirty="0">
              <a:solidFill>
                <a:srgbClr val="112B45"/>
              </a:solidFill>
              <a:latin typeface="Arial"/>
            </a:endParaRPr>
          </a:p>
        </p:txBody>
      </p:sp>
      <p:sp>
        <p:nvSpPr>
          <p:cNvPr id="4" name="TextBox 3">
            <a:extLst>
              <a:ext uri="{FF2B5EF4-FFF2-40B4-BE49-F238E27FC236}">
                <a16:creationId xmlns:a16="http://schemas.microsoft.com/office/drawing/2014/main" id="{9F5C6714-A24B-D896-BE0B-C17D5AFEB26F}"/>
              </a:ext>
            </a:extLst>
          </p:cNvPr>
          <p:cNvSpPr txBox="1"/>
          <p:nvPr/>
        </p:nvSpPr>
        <p:spPr>
          <a:xfrm>
            <a:off x="612648" y="1572768"/>
            <a:ext cx="10881360" cy="217047"/>
          </a:xfrm>
          <a:prstGeom prst="rect">
            <a:avLst/>
          </a:prstGeom>
          <a:noFill/>
          <a:effectLst/>
        </p:spPr>
        <p:txBody>
          <a:bodyPr wrap="square" lIns="0" tIns="0" rIns="0" bIns="0" anchor="t">
            <a:spAutoFit/>
          </a:bodyPr>
          <a:lstStyle/>
          <a:p>
            <a:pPr algn="l">
              <a:lnSpc>
                <a:spcPct val="114000"/>
              </a:lnSpc>
              <a:spcBef>
                <a:spcPts val="0"/>
              </a:spcBef>
              <a:spcAft>
                <a:spcPts val="0"/>
              </a:spcAft>
            </a:pPr>
            <a:r>
              <a:rPr lang="en-US" sz="1350" dirty="0">
                <a:solidFill>
                  <a:srgbClr val="5D7083"/>
                </a:solidFill>
                <a:latin typeface="Arial"/>
              </a:rPr>
              <a:t>Our Customer</a:t>
            </a:r>
            <a:endParaRPr sz="1350" b="0" dirty="0">
              <a:solidFill>
                <a:srgbClr val="5D7083"/>
              </a:solidFill>
              <a:latin typeface="Arial"/>
            </a:endParaRPr>
          </a:p>
        </p:txBody>
      </p:sp>
      <p:pic>
        <p:nvPicPr>
          <p:cNvPr id="5" name="Picture 4" descr="image1.png">
            <a:extLst>
              <a:ext uri="{FF2B5EF4-FFF2-40B4-BE49-F238E27FC236}">
                <a16:creationId xmlns:a16="http://schemas.microsoft.com/office/drawing/2014/main" id="{D5851677-6074-7444-9C72-67CD2D9AD450}"/>
              </a:ext>
            </a:extLst>
          </p:cNvPr>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a:extLst>
              <a:ext uri="{FF2B5EF4-FFF2-40B4-BE49-F238E27FC236}">
                <a16:creationId xmlns:a16="http://schemas.microsoft.com/office/drawing/2014/main" id="{D6993DA7-2940-3275-32EA-97487E801C5C}"/>
              </a:ext>
            </a:extLst>
          </p:cNvPr>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7F1D73F-6E11-4D7D-C277-CD76AC6E8228}"/>
              </a:ext>
            </a:extLst>
          </p:cNvPr>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dirty="0">
                <a:solidFill>
                  <a:srgbClr val="8997A5"/>
                </a:solidFill>
                <a:latin typeface="Arial"/>
              </a:rPr>
              <a:t>GRAFINDO  /  COMPANY PROFILE 2026</a:t>
            </a:r>
          </a:p>
        </p:txBody>
      </p:sp>
      <p:sp>
        <p:nvSpPr>
          <p:cNvPr id="8" name="TextBox 7">
            <a:extLst>
              <a:ext uri="{FF2B5EF4-FFF2-40B4-BE49-F238E27FC236}">
                <a16:creationId xmlns:a16="http://schemas.microsoft.com/office/drawing/2014/main" id="{1AA85822-277A-0033-15A1-5E32CF258DFC}"/>
              </a:ext>
            </a:extLst>
          </p:cNvPr>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dirty="0">
                <a:solidFill>
                  <a:srgbClr val="8997A5"/>
                </a:solidFill>
                <a:latin typeface="Arial"/>
              </a:rPr>
              <a:t>MATERIALS</a:t>
            </a:r>
          </a:p>
        </p:txBody>
      </p:sp>
      <p:sp>
        <p:nvSpPr>
          <p:cNvPr id="9" name="TextBox 8">
            <a:extLst>
              <a:ext uri="{FF2B5EF4-FFF2-40B4-BE49-F238E27FC236}">
                <a16:creationId xmlns:a16="http://schemas.microsoft.com/office/drawing/2014/main" id="{44D3347E-56CB-AB2C-00CF-D71334516D85}"/>
              </a:ext>
            </a:extLst>
          </p:cNvPr>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dirty="0">
                <a:solidFill>
                  <a:srgbClr val="244CE5"/>
                </a:solidFill>
                <a:latin typeface="Arial"/>
              </a:rPr>
              <a:t>24</a:t>
            </a:r>
          </a:p>
        </p:txBody>
      </p:sp>
      <p:sp>
        <p:nvSpPr>
          <p:cNvPr id="10" name="Rectangle 9">
            <a:extLst>
              <a:ext uri="{FF2B5EF4-FFF2-40B4-BE49-F238E27FC236}">
                <a16:creationId xmlns:a16="http://schemas.microsoft.com/office/drawing/2014/main" id="{E85491C4-C2AE-C249-EA6A-E4FD16850721}"/>
              </a:ext>
            </a:extLst>
          </p:cNvPr>
          <p:cNvSpPr/>
          <p:nvPr/>
        </p:nvSpPr>
        <p:spPr>
          <a:xfrm>
            <a:off x="594360" y="2039112"/>
            <a:ext cx="3575304" cy="195681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11" name="Rectangle 10">
            <a:extLst>
              <a:ext uri="{FF2B5EF4-FFF2-40B4-BE49-F238E27FC236}">
                <a16:creationId xmlns:a16="http://schemas.microsoft.com/office/drawing/2014/main" id="{887355DF-0F53-2180-1CD4-15844BA2A086}"/>
              </a:ext>
            </a:extLst>
          </p:cNvPr>
          <p:cNvSpPr/>
          <p:nvPr/>
        </p:nvSpPr>
        <p:spPr>
          <a:xfrm>
            <a:off x="694944" y="2139696"/>
            <a:ext cx="3374136" cy="10607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13" name="TextBox 12">
            <a:extLst>
              <a:ext uri="{FF2B5EF4-FFF2-40B4-BE49-F238E27FC236}">
                <a16:creationId xmlns:a16="http://schemas.microsoft.com/office/drawing/2014/main" id="{EC613454-BE24-445D-E999-B0281CB5ED8C}"/>
              </a:ext>
            </a:extLst>
          </p:cNvPr>
          <p:cNvSpPr txBox="1"/>
          <p:nvPr/>
        </p:nvSpPr>
        <p:spPr>
          <a:xfrm>
            <a:off x="749808" y="3337560"/>
            <a:ext cx="3264408" cy="228332"/>
          </a:xfrm>
          <a:prstGeom prst="rect">
            <a:avLst/>
          </a:prstGeom>
          <a:noFill/>
          <a:effectLst/>
        </p:spPr>
        <p:txBody>
          <a:bodyPr wrap="square" lIns="0" tIns="0" rIns="0" bIns="0" anchor="t">
            <a:spAutoFit/>
          </a:bodyPr>
          <a:lstStyle/>
          <a:p>
            <a:pPr algn="ctr">
              <a:lnSpc>
                <a:spcPct val="114000"/>
              </a:lnSpc>
              <a:spcBef>
                <a:spcPts val="0"/>
              </a:spcBef>
              <a:spcAft>
                <a:spcPts val="0"/>
              </a:spcAft>
            </a:pPr>
            <a:r>
              <a:rPr lang="en-US" sz="1420" b="1" dirty="0">
                <a:solidFill>
                  <a:srgbClr val="192E43"/>
                </a:solidFill>
                <a:latin typeface="Arial"/>
              </a:rPr>
              <a:t>Yamaha</a:t>
            </a:r>
            <a:endParaRPr sz="1420" b="1" dirty="0">
              <a:solidFill>
                <a:srgbClr val="192E43"/>
              </a:solidFill>
              <a:latin typeface="Arial"/>
            </a:endParaRPr>
          </a:p>
        </p:txBody>
      </p:sp>
      <p:sp>
        <p:nvSpPr>
          <p:cNvPr id="15" name="Rectangle 14">
            <a:extLst>
              <a:ext uri="{FF2B5EF4-FFF2-40B4-BE49-F238E27FC236}">
                <a16:creationId xmlns:a16="http://schemas.microsoft.com/office/drawing/2014/main" id="{ED8F896A-8010-E235-23DF-E249CC4FFFD9}"/>
              </a:ext>
            </a:extLst>
          </p:cNvPr>
          <p:cNvSpPr/>
          <p:nvPr/>
        </p:nvSpPr>
        <p:spPr>
          <a:xfrm>
            <a:off x="4306824" y="2039112"/>
            <a:ext cx="3575304" cy="195681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16" name="Rectangle 15">
            <a:extLst>
              <a:ext uri="{FF2B5EF4-FFF2-40B4-BE49-F238E27FC236}">
                <a16:creationId xmlns:a16="http://schemas.microsoft.com/office/drawing/2014/main" id="{D46B8C95-E650-947B-49FE-4684B2837968}"/>
              </a:ext>
            </a:extLst>
          </p:cNvPr>
          <p:cNvSpPr/>
          <p:nvPr/>
        </p:nvSpPr>
        <p:spPr>
          <a:xfrm>
            <a:off x="4270247" y="2248848"/>
            <a:ext cx="3374136" cy="10607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18" name="TextBox 17">
            <a:extLst>
              <a:ext uri="{FF2B5EF4-FFF2-40B4-BE49-F238E27FC236}">
                <a16:creationId xmlns:a16="http://schemas.microsoft.com/office/drawing/2014/main" id="{51BB5B59-C9E1-FBF0-4E79-F36BAA45851D}"/>
              </a:ext>
            </a:extLst>
          </p:cNvPr>
          <p:cNvSpPr txBox="1"/>
          <p:nvPr/>
        </p:nvSpPr>
        <p:spPr>
          <a:xfrm>
            <a:off x="4462272" y="3337560"/>
            <a:ext cx="3264408" cy="228332"/>
          </a:xfrm>
          <a:prstGeom prst="rect">
            <a:avLst/>
          </a:prstGeom>
          <a:noFill/>
          <a:effectLst/>
        </p:spPr>
        <p:txBody>
          <a:bodyPr wrap="square" lIns="0" tIns="0" rIns="0" bIns="0" anchor="t">
            <a:spAutoFit/>
          </a:bodyPr>
          <a:lstStyle/>
          <a:p>
            <a:pPr algn="ctr">
              <a:lnSpc>
                <a:spcPct val="114000"/>
              </a:lnSpc>
              <a:spcBef>
                <a:spcPts val="0"/>
              </a:spcBef>
              <a:spcAft>
                <a:spcPts val="0"/>
              </a:spcAft>
            </a:pPr>
            <a:r>
              <a:rPr lang="en-US" sz="1420" b="1" dirty="0">
                <a:solidFill>
                  <a:srgbClr val="192E43"/>
                </a:solidFill>
                <a:latin typeface="Arial"/>
              </a:rPr>
              <a:t>Astra Honda Motor</a:t>
            </a:r>
            <a:endParaRPr sz="1420" b="1" dirty="0">
              <a:solidFill>
                <a:srgbClr val="192E43"/>
              </a:solidFill>
              <a:latin typeface="Arial"/>
            </a:endParaRPr>
          </a:p>
        </p:txBody>
      </p:sp>
      <p:sp>
        <p:nvSpPr>
          <p:cNvPr id="20" name="Rectangle 19">
            <a:extLst>
              <a:ext uri="{FF2B5EF4-FFF2-40B4-BE49-F238E27FC236}">
                <a16:creationId xmlns:a16="http://schemas.microsoft.com/office/drawing/2014/main" id="{DD912B1E-4DCF-0010-1DB6-537637E6A6A8}"/>
              </a:ext>
            </a:extLst>
          </p:cNvPr>
          <p:cNvSpPr/>
          <p:nvPr/>
        </p:nvSpPr>
        <p:spPr>
          <a:xfrm>
            <a:off x="8019288" y="2039112"/>
            <a:ext cx="3575304" cy="195681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21" name="Rectangle 20">
            <a:extLst>
              <a:ext uri="{FF2B5EF4-FFF2-40B4-BE49-F238E27FC236}">
                <a16:creationId xmlns:a16="http://schemas.microsoft.com/office/drawing/2014/main" id="{C09BAB5F-23D6-F1FD-038A-3A4E6EE579B9}"/>
              </a:ext>
            </a:extLst>
          </p:cNvPr>
          <p:cNvSpPr/>
          <p:nvPr/>
        </p:nvSpPr>
        <p:spPr>
          <a:xfrm>
            <a:off x="8119871" y="2139696"/>
            <a:ext cx="3374136" cy="10607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23" name="TextBox 22">
            <a:extLst>
              <a:ext uri="{FF2B5EF4-FFF2-40B4-BE49-F238E27FC236}">
                <a16:creationId xmlns:a16="http://schemas.microsoft.com/office/drawing/2014/main" id="{285E11E7-D744-1EFF-3FED-C0C4B46EA6C9}"/>
              </a:ext>
            </a:extLst>
          </p:cNvPr>
          <p:cNvSpPr txBox="1"/>
          <p:nvPr/>
        </p:nvSpPr>
        <p:spPr>
          <a:xfrm>
            <a:off x="8174736" y="3337560"/>
            <a:ext cx="3264408" cy="228332"/>
          </a:xfrm>
          <a:prstGeom prst="rect">
            <a:avLst/>
          </a:prstGeom>
          <a:noFill/>
          <a:effectLst/>
        </p:spPr>
        <p:txBody>
          <a:bodyPr wrap="square" lIns="0" tIns="0" rIns="0" bIns="0" anchor="t">
            <a:spAutoFit/>
          </a:bodyPr>
          <a:lstStyle/>
          <a:p>
            <a:pPr algn="ctr">
              <a:lnSpc>
                <a:spcPct val="114000"/>
              </a:lnSpc>
              <a:spcBef>
                <a:spcPts val="0"/>
              </a:spcBef>
              <a:spcAft>
                <a:spcPts val="0"/>
              </a:spcAft>
            </a:pPr>
            <a:r>
              <a:rPr lang="en-US" sz="1420" b="1" dirty="0">
                <a:solidFill>
                  <a:srgbClr val="192E43"/>
                </a:solidFill>
                <a:latin typeface="Arial"/>
              </a:rPr>
              <a:t>TVS</a:t>
            </a:r>
            <a:endParaRPr sz="1420" b="1" dirty="0">
              <a:solidFill>
                <a:srgbClr val="192E43"/>
              </a:solidFill>
              <a:latin typeface="Arial"/>
            </a:endParaRPr>
          </a:p>
        </p:txBody>
      </p:sp>
      <p:sp>
        <p:nvSpPr>
          <p:cNvPr id="25" name="Rectangle 24">
            <a:extLst>
              <a:ext uri="{FF2B5EF4-FFF2-40B4-BE49-F238E27FC236}">
                <a16:creationId xmlns:a16="http://schemas.microsoft.com/office/drawing/2014/main" id="{6F03D1ED-046F-D57F-7ADC-B7437A73444E}"/>
              </a:ext>
            </a:extLst>
          </p:cNvPr>
          <p:cNvSpPr/>
          <p:nvPr/>
        </p:nvSpPr>
        <p:spPr>
          <a:xfrm>
            <a:off x="594360" y="4169664"/>
            <a:ext cx="3575304" cy="195681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26" name="Rectangle 25">
            <a:extLst>
              <a:ext uri="{FF2B5EF4-FFF2-40B4-BE49-F238E27FC236}">
                <a16:creationId xmlns:a16="http://schemas.microsoft.com/office/drawing/2014/main" id="{8B189A39-3B49-FADB-A6F5-738ECFEEAB01}"/>
              </a:ext>
            </a:extLst>
          </p:cNvPr>
          <p:cNvSpPr/>
          <p:nvPr/>
        </p:nvSpPr>
        <p:spPr>
          <a:xfrm>
            <a:off x="694944" y="4270248"/>
            <a:ext cx="3374136" cy="10607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28" name="TextBox 27">
            <a:extLst>
              <a:ext uri="{FF2B5EF4-FFF2-40B4-BE49-F238E27FC236}">
                <a16:creationId xmlns:a16="http://schemas.microsoft.com/office/drawing/2014/main" id="{AE5233DB-E1EB-76B8-03E2-7F7A56B80FC2}"/>
              </a:ext>
            </a:extLst>
          </p:cNvPr>
          <p:cNvSpPr txBox="1"/>
          <p:nvPr/>
        </p:nvSpPr>
        <p:spPr>
          <a:xfrm>
            <a:off x="749808" y="5468112"/>
            <a:ext cx="3264408" cy="228332"/>
          </a:xfrm>
          <a:prstGeom prst="rect">
            <a:avLst/>
          </a:prstGeom>
          <a:noFill/>
          <a:effectLst/>
        </p:spPr>
        <p:txBody>
          <a:bodyPr wrap="square" lIns="0" tIns="0" rIns="0" bIns="0" anchor="t">
            <a:spAutoFit/>
          </a:bodyPr>
          <a:lstStyle/>
          <a:p>
            <a:pPr algn="ctr">
              <a:lnSpc>
                <a:spcPct val="114000"/>
              </a:lnSpc>
              <a:spcBef>
                <a:spcPts val="0"/>
              </a:spcBef>
              <a:spcAft>
                <a:spcPts val="0"/>
              </a:spcAft>
            </a:pPr>
            <a:r>
              <a:rPr lang="en-US" sz="1420" b="1" dirty="0">
                <a:solidFill>
                  <a:srgbClr val="192E43"/>
                </a:solidFill>
                <a:latin typeface="Arial"/>
              </a:rPr>
              <a:t>Suzuki</a:t>
            </a:r>
            <a:endParaRPr sz="1420" b="1" dirty="0">
              <a:solidFill>
                <a:srgbClr val="192E43"/>
              </a:solidFill>
              <a:latin typeface="Arial"/>
            </a:endParaRPr>
          </a:p>
        </p:txBody>
      </p:sp>
      <p:sp>
        <p:nvSpPr>
          <p:cNvPr id="30" name="Rectangle 29">
            <a:extLst>
              <a:ext uri="{FF2B5EF4-FFF2-40B4-BE49-F238E27FC236}">
                <a16:creationId xmlns:a16="http://schemas.microsoft.com/office/drawing/2014/main" id="{54522393-3037-7B24-142D-C4B9F228BD5A}"/>
              </a:ext>
            </a:extLst>
          </p:cNvPr>
          <p:cNvSpPr/>
          <p:nvPr/>
        </p:nvSpPr>
        <p:spPr>
          <a:xfrm>
            <a:off x="4306824" y="4169664"/>
            <a:ext cx="3575304" cy="195681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31" name="Rectangle 30">
            <a:extLst>
              <a:ext uri="{FF2B5EF4-FFF2-40B4-BE49-F238E27FC236}">
                <a16:creationId xmlns:a16="http://schemas.microsoft.com/office/drawing/2014/main" id="{2DBF5274-E63F-DB50-EDFE-2501C13DC57F}"/>
              </a:ext>
            </a:extLst>
          </p:cNvPr>
          <p:cNvSpPr/>
          <p:nvPr/>
        </p:nvSpPr>
        <p:spPr>
          <a:xfrm>
            <a:off x="4407408" y="4270248"/>
            <a:ext cx="3374136" cy="10607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33" name="TextBox 32">
            <a:extLst>
              <a:ext uri="{FF2B5EF4-FFF2-40B4-BE49-F238E27FC236}">
                <a16:creationId xmlns:a16="http://schemas.microsoft.com/office/drawing/2014/main" id="{FE1B639D-E17D-255D-4A01-EF3570F52B93}"/>
              </a:ext>
            </a:extLst>
          </p:cNvPr>
          <p:cNvSpPr txBox="1"/>
          <p:nvPr/>
        </p:nvSpPr>
        <p:spPr>
          <a:xfrm>
            <a:off x="4462272" y="5468112"/>
            <a:ext cx="3264408" cy="228332"/>
          </a:xfrm>
          <a:prstGeom prst="rect">
            <a:avLst/>
          </a:prstGeom>
          <a:noFill/>
          <a:effectLst/>
        </p:spPr>
        <p:txBody>
          <a:bodyPr wrap="square" lIns="0" tIns="0" rIns="0" bIns="0" anchor="t">
            <a:spAutoFit/>
          </a:bodyPr>
          <a:lstStyle/>
          <a:p>
            <a:pPr algn="ctr">
              <a:lnSpc>
                <a:spcPct val="114000"/>
              </a:lnSpc>
              <a:spcBef>
                <a:spcPts val="0"/>
              </a:spcBef>
              <a:spcAft>
                <a:spcPts val="0"/>
              </a:spcAft>
            </a:pPr>
            <a:r>
              <a:rPr lang="en-US" sz="1420" b="1" dirty="0">
                <a:solidFill>
                  <a:srgbClr val="192E43"/>
                </a:solidFill>
                <a:latin typeface="Arial"/>
              </a:rPr>
              <a:t>Denso</a:t>
            </a:r>
            <a:endParaRPr sz="1420" b="1" dirty="0">
              <a:solidFill>
                <a:srgbClr val="192E43"/>
              </a:solidFill>
              <a:latin typeface="Arial"/>
            </a:endParaRPr>
          </a:p>
        </p:txBody>
      </p:sp>
      <p:sp>
        <p:nvSpPr>
          <p:cNvPr id="35" name="Rectangle 34">
            <a:extLst>
              <a:ext uri="{FF2B5EF4-FFF2-40B4-BE49-F238E27FC236}">
                <a16:creationId xmlns:a16="http://schemas.microsoft.com/office/drawing/2014/main" id="{F337995E-EE13-1B32-D1EE-985F1DE2E548}"/>
              </a:ext>
            </a:extLst>
          </p:cNvPr>
          <p:cNvSpPr/>
          <p:nvPr/>
        </p:nvSpPr>
        <p:spPr>
          <a:xfrm>
            <a:off x="8019288" y="4169664"/>
            <a:ext cx="3575304" cy="195681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36" name="Rectangle 35">
            <a:extLst>
              <a:ext uri="{FF2B5EF4-FFF2-40B4-BE49-F238E27FC236}">
                <a16:creationId xmlns:a16="http://schemas.microsoft.com/office/drawing/2014/main" id="{065ACE13-5BF2-D503-BA96-AA202BBC11E1}"/>
              </a:ext>
            </a:extLst>
          </p:cNvPr>
          <p:cNvSpPr/>
          <p:nvPr/>
        </p:nvSpPr>
        <p:spPr>
          <a:xfrm>
            <a:off x="8119871" y="4270248"/>
            <a:ext cx="3374136" cy="10607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38" name="TextBox 37">
            <a:extLst>
              <a:ext uri="{FF2B5EF4-FFF2-40B4-BE49-F238E27FC236}">
                <a16:creationId xmlns:a16="http://schemas.microsoft.com/office/drawing/2014/main" id="{19222F22-E9F7-E2EE-2373-D4E6C7BA1ED7}"/>
              </a:ext>
            </a:extLst>
          </p:cNvPr>
          <p:cNvSpPr txBox="1"/>
          <p:nvPr/>
        </p:nvSpPr>
        <p:spPr>
          <a:xfrm>
            <a:off x="8174736" y="5468112"/>
            <a:ext cx="3264408" cy="228332"/>
          </a:xfrm>
          <a:prstGeom prst="rect">
            <a:avLst/>
          </a:prstGeom>
          <a:noFill/>
          <a:effectLst/>
        </p:spPr>
        <p:txBody>
          <a:bodyPr wrap="square" lIns="0" tIns="0" rIns="0" bIns="0" anchor="t">
            <a:spAutoFit/>
          </a:bodyPr>
          <a:lstStyle/>
          <a:p>
            <a:pPr algn="ctr">
              <a:lnSpc>
                <a:spcPct val="114000"/>
              </a:lnSpc>
              <a:spcBef>
                <a:spcPts val="0"/>
              </a:spcBef>
              <a:spcAft>
                <a:spcPts val="0"/>
              </a:spcAft>
            </a:pPr>
            <a:r>
              <a:rPr lang="en-US" sz="1420" b="1" dirty="0">
                <a:solidFill>
                  <a:srgbClr val="192E43"/>
                </a:solidFill>
                <a:latin typeface="Arial"/>
              </a:rPr>
              <a:t>Polytron</a:t>
            </a:r>
            <a:endParaRPr sz="1420" b="1" dirty="0">
              <a:solidFill>
                <a:srgbClr val="192E43"/>
              </a:solidFill>
              <a:latin typeface="Arial"/>
            </a:endParaRPr>
          </a:p>
        </p:txBody>
      </p:sp>
      <p:pic>
        <p:nvPicPr>
          <p:cNvPr id="41" name="Picture 40" descr="AHM&#10;&#10;AI-generated content may be incorrect.">
            <a:extLst>
              <a:ext uri="{FF2B5EF4-FFF2-40B4-BE49-F238E27FC236}">
                <a16:creationId xmlns:a16="http://schemas.microsoft.com/office/drawing/2014/main" id="{0DD714D3-F5CE-9FA6-1747-04FB684B3A76}"/>
              </a:ext>
            </a:extLst>
          </p:cNvPr>
          <p:cNvPicPr>
            <a:picLocks noChangeAspect="1"/>
          </p:cNvPicPr>
          <p:nvPr/>
        </p:nvPicPr>
        <p:blipFill>
          <a:blip r:embed="rId4"/>
          <a:stretch>
            <a:fillRect/>
          </a:stretch>
        </p:blipFill>
        <p:spPr>
          <a:xfrm>
            <a:off x="4973772" y="2320258"/>
            <a:ext cx="2159111" cy="628682"/>
          </a:xfrm>
          <a:prstGeom prst="rect">
            <a:avLst/>
          </a:prstGeom>
        </p:spPr>
      </p:pic>
      <p:pic>
        <p:nvPicPr>
          <p:cNvPr id="43" name="Picture 42" descr="Revs your Heart.&#10;&#10;AI-generated content may be incorrect.">
            <a:extLst>
              <a:ext uri="{FF2B5EF4-FFF2-40B4-BE49-F238E27FC236}">
                <a16:creationId xmlns:a16="http://schemas.microsoft.com/office/drawing/2014/main" id="{17538994-5BD9-6C1E-4699-45004DD31987}"/>
              </a:ext>
            </a:extLst>
          </p:cNvPr>
          <p:cNvPicPr>
            <a:picLocks noChangeAspect="1"/>
          </p:cNvPicPr>
          <p:nvPr/>
        </p:nvPicPr>
        <p:blipFill>
          <a:blip r:embed="rId5"/>
          <a:stretch>
            <a:fillRect/>
          </a:stretch>
        </p:blipFill>
        <p:spPr>
          <a:xfrm>
            <a:off x="1277055" y="2177375"/>
            <a:ext cx="2209914" cy="914447"/>
          </a:xfrm>
          <a:prstGeom prst="rect">
            <a:avLst/>
          </a:prstGeom>
        </p:spPr>
      </p:pic>
      <p:pic>
        <p:nvPicPr>
          <p:cNvPr id="45" name="Picture 44" descr="The image displays the TVS logo, featuring a red horse silhouette.&#10;&#10;AI-generated content may be incorrect.">
            <a:extLst>
              <a:ext uri="{FF2B5EF4-FFF2-40B4-BE49-F238E27FC236}">
                <a16:creationId xmlns:a16="http://schemas.microsoft.com/office/drawing/2014/main" id="{FB8F32CC-16D2-BA39-557E-965AC63D1093}"/>
              </a:ext>
            </a:extLst>
          </p:cNvPr>
          <p:cNvPicPr>
            <a:picLocks noChangeAspect="1"/>
          </p:cNvPicPr>
          <p:nvPr/>
        </p:nvPicPr>
        <p:blipFill>
          <a:blip r:embed="rId6"/>
          <a:stretch>
            <a:fillRect/>
          </a:stretch>
        </p:blipFill>
        <p:spPr>
          <a:xfrm>
            <a:off x="8873441" y="2374469"/>
            <a:ext cx="1866996" cy="571529"/>
          </a:xfrm>
          <a:prstGeom prst="rect">
            <a:avLst/>
          </a:prstGeom>
        </p:spPr>
      </p:pic>
      <p:pic>
        <p:nvPicPr>
          <p:cNvPr id="47" name="Picture 46" descr="The image shows a bold, simple black and white silhouette of the SUZUKI logo, featuring a red circle and white S and U interlocked.&#10;&#10;AI-generated content may be incorrect.">
            <a:extLst>
              <a:ext uri="{FF2B5EF4-FFF2-40B4-BE49-F238E27FC236}">
                <a16:creationId xmlns:a16="http://schemas.microsoft.com/office/drawing/2014/main" id="{13173EC8-A7E7-451C-83CB-73340104C3C5}"/>
              </a:ext>
            </a:extLst>
          </p:cNvPr>
          <p:cNvPicPr>
            <a:picLocks noChangeAspect="1"/>
          </p:cNvPicPr>
          <p:nvPr/>
        </p:nvPicPr>
        <p:blipFill>
          <a:blip r:embed="rId7"/>
          <a:stretch>
            <a:fillRect/>
          </a:stretch>
        </p:blipFill>
        <p:spPr>
          <a:xfrm>
            <a:off x="1331033" y="4503132"/>
            <a:ext cx="2101958" cy="654084"/>
          </a:xfrm>
          <a:prstGeom prst="rect">
            <a:avLst/>
          </a:prstGeom>
        </p:spPr>
      </p:pic>
      <p:pic>
        <p:nvPicPr>
          <p:cNvPr id="49" name="Picture 48" descr="DENSO&#10;&#10;AI-generated content may be incorrect.">
            <a:extLst>
              <a:ext uri="{FF2B5EF4-FFF2-40B4-BE49-F238E27FC236}">
                <a16:creationId xmlns:a16="http://schemas.microsoft.com/office/drawing/2014/main" id="{DFFE3D5E-13F2-0D30-F26A-B2BB09C54E63}"/>
              </a:ext>
            </a:extLst>
          </p:cNvPr>
          <p:cNvPicPr>
            <a:picLocks noChangeAspect="1"/>
          </p:cNvPicPr>
          <p:nvPr/>
        </p:nvPicPr>
        <p:blipFill>
          <a:blip r:embed="rId8"/>
          <a:stretch>
            <a:fillRect/>
          </a:stretch>
        </p:blipFill>
        <p:spPr>
          <a:xfrm>
            <a:off x="4805753" y="4455829"/>
            <a:ext cx="2502029" cy="749339"/>
          </a:xfrm>
          <a:prstGeom prst="rect">
            <a:avLst/>
          </a:prstGeom>
        </p:spPr>
      </p:pic>
      <p:pic>
        <p:nvPicPr>
          <p:cNvPr id="51" name="Picture 50" descr="POLYTRON&#10;&#10;AI-generated content may be incorrect.">
            <a:extLst>
              <a:ext uri="{FF2B5EF4-FFF2-40B4-BE49-F238E27FC236}">
                <a16:creationId xmlns:a16="http://schemas.microsoft.com/office/drawing/2014/main" id="{723D054E-8090-3FA0-C998-039638FCF911}"/>
              </a:ext>
            </a:extLst>
          </p:cNvPr>
          <p:cNvPicPr>
            <a:picLocks noChangeAspect="1"/>
          </p:cNvPicPr>
          <p:nvPr/>
        </p:nvPicPr>
        <p:blipFill>
          <a:blip r:embed="rId9"/>
          <a:stretch>
            <a:fillRect/>
          </a:stretch>
        </p:blipFill>
        <p:spPr>
          <a:xfrm>
            <a:off x="8835213" y="4601562"/>
            <a:ext cx="2025754" cy="457223"/>
          </a:xfrm>
          <a:prstGeom prst="rect">
            <a:avLst/>
          </a:prstGeom>
        </p:spPr>
      </p:pic>
    </p:spTree>
    <p:extLst>
      <p:ext uri="{BB962C8B-B14F-4D97-AF65-F5344CB8AC3E}">
        <p14:creationId xmlns:p14="http://schemas.microsoft.com/office/powerpoint/2010/main" val="87261121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530352"/>
            <a:ext cx="960120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50">
                <a:solidFill>
                  <a:srgbClr val="244CE5"/>
                </a:solidFill>
                <a:latin typeface="Arial"/>
              </a:rPr>
              <a:t>MATERIALS</a:t>
            </a:r>
          </a:p>
        </p:txBody>
      </p:sp>
      <p:sp>
        <p:nvSpPr>
          <p:cNvPr id="3" name="TextBox 2"/>
          <p:cNvSpPr txBox="1"/>
          <p:nvPr/>
        </p:nvSpPr>
        <p:spPr>
          <a:xfrm>
            <a:off x="594360" y="905256"/>
            <a:ext cx="10515600" cy="612648"/>
          </a:xfrm>
          <a:prstGeom prst="rect">
            <a:avLst/>
          </a:prstGeom>
          <a:noFill/>
          <a:effectLst/>
        </p:spPr>
        <p:txBody>
          <a:bodyPr wrap="square" lIns="0" tIns="0" rIns="0" bIns="0" anchor="t">
            <a:spAutoFit/>
          </a:bodyPr>
          <a:lstStyle/>
          <a:p>
            <a:pPr algn="l">
              <a:lnSpc>
                <a:spcPct val="114000"/>
              </a:lnSpc>
              <a:spcBef>
                <a:spcPts val="0"/>
              </a:spcBef>
              <a:spcAft>
                <a:spcPts val="0"/>
              </a:spcAft>
            </a:pPr>
            <a:r>
              <a:rPr sz="3000" b="1" spc="-40">
                <a:solidFill>
                  <a:srgbClr val="112B45"/>
                </a:solidFill>
                <a:latin typeface="Arial"/>
              </a:rPr>
              <a:t>Established global material suppliers</a:t>
            </a:r>
          </a:p>
        </p:txBody>
      </p:sp>
      <p:sp>
        <p:nvSpPr>
          <p:cNvPr id="4" name="TextBox 3"/>
          <p:cNvSpPr txBox="1"/>
          <p:nvPr/>
        </p:nvSpPr>
        <p:spPr>
          <a:xfrm>
            <a:off x="612648" y="1572768"/>
            <a:ext cx="10881360" cy="310896"/>
          </a:xfrm>
          <a:prstGeom prst="rect">
            <a:avLst/>
          </a:prstGeom>
          <a:noFill/>
          <a:effectLst/>
        </p:spPr>
        <p:txBody>
          <a:bodyPr wrap="square" lIns="0" tIns="0" rIns="0" bIns="0" anchor="t">
            <a:spAutoFit/>
          </a:bodyPr>
          <a:lstStyle/>
          <a:p>
            <a:pPr algn="l">
              <a:lnSpc>
                <a:spcPct val="114000"/>
              </a:lnSpc>
              <a:spcBef>
                <a:spcPts val="0"/>
              </a:spcBef>
              <a:spcAft>
                <a:spcPts val="0"/>
              </a:spcAft>
            </a:pPr>
            <a:r>
              <a:rPr sz="1350" b="0">
                <a:solidFill>
                  <a:srgbClr val="5D7083"/>
                </a:solidFill>
                <a:latin typeface="Arial"/>
              </a:rPr>
              <a:t>Materials sourced from Japan, Italy, Germany and Switzerland</a:t>
            </a:r>
          </a:p>
        </p:txBody>
      </p:sp>
      <p:pic>
        <p:nvPicPr>
          <p:cNvPr id="5" name="Picture 4" descr="image1.png"/>
          <p:cNvPicPr>
            <a:picLocks noChangeAspect="1"/>
          </p:cNvPicPr>
          <p:nvPr/>
        </p:nvPicPr>
        <p:blipFill>
          <a:blip r:embed="rId3"/>
          <a:stretch>
            <a:fillRect/>
          </a:stretch>
        </p:blipFill>
        <p:spPr>
          <a:xfrm>
            <a:off x="11036808" y="461772"/>
            <a:ext cx="576072" cy="384048"/>
          </a:xfrm>
          <a:prstGeom prst="rect">
            <a:avLst/>
          </a:prstGeom>
          <a:effectLst/>
        </p:spPr>
      </p:pic>
      <p:cxnSp>
        <p:nvCxnSpPr>
          <p:cNvPr id="6" name="Connector 5"/>
          <p:cNvCxnSpPr/>
          <p:nvPr/>
        </p:nvCxnSpPr>
        <p:spPr>
          <a:xfrm>
            <a:off x="594360" y="6437376"/>
            <a:ext cx="11000232" cy="0"/>
          </a:xfrm>
          <a:prstGeom prst="line">
            <a:avLst/>
          </a:prstGeom>
          <a:ln w="7620">
            <a:solidFill>
              <a:srgbClr val="DAE2E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94360" y="6565392"/>
            <a:ext cx="4937760" cy="146304"/>
          </a:xfrm>
          <a:prstGeom prst="rect">
            <a:avLst/>
          </a:prstGeom>
          <a:noFill/>
          <a:effectLst/>
        </p:spPr>
        <p:txBody>
          <a:bodyPr wrap="square" lIns="0" tIns="0" rIns="0" bIns="0" anchor="t">
            <a:spAutoFit/>
          </a:bodyPr>
          <a:lstStyle/>
          <a:p>
            <a:pPr algn="l">
              <a:lnSpc>
                <a:spcPct val="114000"/>
              </a:lnSpc>
              <a:spcBef>
                <a:spcPts val="0"/>
              </a:spcBef>
              <a:spcAft>
                <a:spcPts val="0"/>
              </a:spcAft>
            </a:pPr>
            <a:r>
              <a:rPr sz="850" b="0" spc="65">
                <a:solidFill>
                  <a:srgbClr val="8997A5"/>
                </a:solidFill>
                <a:latin typeface="Arial"/>
              </a:rPr>
              <a:t>GRAFINDO  /  COMPANY PROFILE 2026</a:t>
            </a:r>
          </a:p>
        </p:txBody>
      </p:sp>
      <p:sp>
        <p:nvSpPr>
          <p:cNvPr id="8" name="TextBox 7"/>
          <p:cNvSpPr txBox="1"/>
          <p:nvPr/>
        </p:nvSpPr>
        <p:spPr>
          <a:xfrm>
            <a:off x="5486400" y="6565392"/>
            <a:ext cx="5120640" cy="146304"/>
          </a:xfrm>
          <a:prstGeom prst="rect">
            <a:avLst/>
          </a:prstGeom>
          <a:noFill/>
          <a:effectLst/>
        </p:spPr>
        <p:txBody>
          <a:bodyPr wrap="square" lIns="0" tIns="0" rIns="0" bIns="0" anchor="t">
            <a:spAutoFit/>
          </a:bodyPr>
          <a:lstStyle/>
          <a:p>
            <a:pPr algn="r">
              <a:lnSpc>
                <a:spcPct val="114000"/>
              </a:lnSpc>
              <a:spcBef>
                <a:spcPts val="0"/>
              </a:spcBef>
              <a:spcAft>
                <a:spcPts val="0"/>
              </a:spcAft>
            </a:pPr>
            <a:r>
              <a:rPr sz="850" b="0" spc="65">
                <a:solidFill>
                  <a:srgbClr val="8997A5"/>
                </a:solidFill>
                <a:latin typeface="Arial"/>
              </a:rPr>
              <a:t>MATERIALS</a:t>
            </a:r>
          </a:p>
        </p:txBody>
      </p:sp>
      <p:sp>
        <p:nvSpPr>
          <p:cNvPr id="9" name="TextBox 8"/>
          <p:cNvSpPr txBox="1"/>
          <p:nvPr/>
        </p:nvSpPr>
        <p:spPr>
          <a:xfrm>
            <a:off x="11045952" y="6528816"/>
            <a:ext cx="530352" cy="201168"/>
          </a:xfrm>
          <a:prstGeom prst="rect">
            <a:avLst/>
          </a:prstGeom>
          <a:noFill/>
          <a:effectLst/>
        </p:spPr>
        <p:txBody>
          <a:bodyPr wrap="square" lIns="0" tIns="0" rIns="0" bIns="0" anchor="t">
            <a:spAutoFit/>
          </a:bodyPr>
          <a:lstStyle/>
          <a:p>
            <a:pPr algn="r">
              <a:lnSpc>
                <a:spcPct val="114000"/>
              </a:lnSpc>
              <a:spcBef>
                <a:spcPts val="0"/>
              </a:spcBef>
              <a:spcAft>
                <a:spcPts val="0"/>
              </a:spcAft>
            </a:pPr>
            <a:r>
              <a:rPr sz="1000" b="1">
                <a:solidFill>
                  <a:srgbClr val="244CE5"/>
                </a:solidFill>
                <a:latin typeface="Arial"/>
              </a:rPr>
              <a:t>24</a:t>
            </a:r>
          </a:p>
        </p:txBody>
      </p:sp>
      <p:sp>
        <p:nvSpPr>
          <p:cNvPr id="10" name="Rectangle 9"/>
          <p:cNvSpPr/>
          <p:nvPr/>
        </p:nvSpPr>
        <p:spPr>
          <a:xfrm>
            <a:off x="594360" y="2039112"/>
            <a:ext cx="3575304" cy="195681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694944" y="2139696"/>
            <a:ext cx="3374136" cy="10607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2" name="Picture 11" descr="image82.png"/>
          <p:cNvPicPr>
            <a:picLocks noChangeAspect="1"/>
          </p:cNvPicPr>
          <p:nvPr/>
        </p:nvPicPr>
        <p:blipFill>
          <a:blip r:embed="rId4"/>
          <a:stretch>
            <a:fillRect/>
          </a:stretch>
        </p:blipFill>
        <p:spPr>
          <a:xfrm>
            <a:off x="1853533" y="2276856"/>
            <a:ext cx="1038668" cy="749808"/>
          </a:xfrm>
          <a:prstGeom prst="rect">
            <a:avLst/>
          </a:prstGeom>
          <a:effectLst/>
        </p:spPr>
      </p:pic>
      <p:sp>
        <p:nvSpPr>
          <p:cNvPr id="13" name="TextBox 12"/>
          <p:cNvSpPr txBox="1"/>
          <p:nvPr/>
        </p:nvSpPr>
        <p:spPr>
          <a:xfrm>
            <a:off x="749808" y="3337560"/>
            <a:ext cx="3264408" cy="310896"/>
          </a:xfrm>
          <a:prstGeom prst="rect">
            <a:avLst/>
          </a:prstGeom>
          <a:noFill/>
          <a:effectLst/>
        </p:spPr>
        <p:txBody>
          <a:bodyPr wrap="square" lIns="0" tIns="0" rIns="0" bIns="0" anchor="t">
            <a:spAutoFit/>
          </a:bodyPr>
          <a:lstStyle/>
          <a:p>
            <a:pPr algn="ctr">
              <a:lnSpc>
                <a:spcPct val="114000"/>
              </a:lnSpc>
              <a:spcBef>
                <a:spcPts val="0"/>
              </a:spcBef>
              <a:spcAft>
                <a:spcPts val="0"/>
              </a:spcAft>
            </a:pPr>
            <a:r>
              <a:rPr sz="1420" b="1">
                <a:solidFill>
                  <a:srgbClr val="192E43"/>
                </a:solidFill>
                <a:latin typeface="Arial"/>
              </a:rPr>
              <a:t>Lintec Co.</a:t>
            </a:r>
          </a:p>
        </p:txBody>
      </p:sp>
      <p:sp>
        <p:nvSpPr>
          <p:cNvPr id="14" name="TextBox 13"/>
          <p:cNvSpPr txBox="1"/>
          <p:nvPr/>
        </p:nvSpPr>
        <p:spPr>
          <a:xfrm>
            <a:off x="749808" y="3758183"/>
            <a:ext cx="3264408" cy="164592"/>
          </a:xfrm>
          <a:prstGeom prst="rect">
            <a:avLst/>
          </a:prstGeom>
          <a:noFill/>
          <a:effectLst/>
        </p:spPr>
        <p:txBody>
          <a:bodyPr wrap="square" lIns="0" tIns="0" rIns="0" bIns="0" anchor="t">
            <a:spAutoFit/>
          </a:bodyPr>
          <a:lstStyle/>
          <a:p>
            <a:pPr algn="ctr">
              <a:lnSpc>
                <a:spcPct val="114000"/>
              </a:lnSpc>
              <a:spcBef>
                <a:spcPts val="0"/>
              </a:spcBef>
              <a:spcAft>
                <a:spcPts val="0"/>
              </a:spcAft>
            </a:pPr>
            <a:r>
              <a:rPr sz="940" b="1" spc="100">
                <a:solidFill>
                  <a:srgbClr val="244CE5"/>
                </a:solidFill>
                <a:latin typeface="Arial"/>
              </a:rPr>
              <a:t>JAPAN</a:t>
            </a:r>
          </a:p>
        </p:txBody>
      </p:sp>
      <p:sp>
        <p:nvSpPr>
          <p:cNvPr id="15" name="Rectangle 14"/>
          <p:cNvSpPr/>
          <p:nvPr/>
        </p:nvSpPr>
        <p:spPr>
          <a:xfrm>
            <a:off x="4306824" y="2039112"/>
            <a:ext cx="3575304" cy="195681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Rectangle 15"/>
          <p:cNvSpPr/>
          <p:nvPr/>
        </p:nvSpPr>
        <p:spPr>
          <a:xfrm>
            <a:off x="4407408" y="2139696"/>
            <a:ext cx="3374136" cy="10607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7" name="Picture 16" descr="image83.jpg"/>
          <p:cNvPicPr>
            <a:picLocks noChangeAspect="1"/>
          </p:cNvPicPr>
          <p:nvPr/>
        </p:nvPicPr>
        <p:blipFill>
          <a:blip r:embed="rId5"/>
          <a:stretch>
            <a:fillRect/>
          </a:stretch>
        </p:blipFill>
        <p:spPr>
          <a:xfrm>
            <a:off x="4690872" y="2403856"/>
            <a:ext cx="2788920" cy="495807"/>
          </a:xfrm>
          <a:prstGeom prst="rect">
            <a:avLst/>
          </a:prstGeom>
          <a:effectLst/>
        </p:spPr>
      </p:pic>
      <p:sp>
        <p:nvSpPr>
          <p:cNvPr id="18" name="TextBox 17"/>
          <p:cNvSpPr txBox="1"/>
          <p:nvPr/>
        </p:nvSpPr>
        <p:spPr>
          <a:xfrm>
            <a:off x="4462272" y="3337560"/>
            <a:ext cx="3264408" cy="310896"/>
          </a:xfrm>
          <a:prstGeom prst="rect">
            <a:avLst/>
          </a:prstGeom>
          <a:noFill/>
          <a:effectLst/>
        </p:spPr>
        <p:txBody>
          <a:bodyPr wrap="square" lIns="0" tIns="0" rIns="0" bIns="0" anchor="t">
            <a:spAutoFit/>
          </a:bodyPr>
          <a:lstStyle/>
          <a:p>
            <a:pPr algn="ctr">
              <a:lnSpc>
                <a:spcPct val="114000"/>
              </a:lnSpc>
              <a:spcBef>
                <a:spcPts val="0"/>
              </a:spcBef>
              <a:spcAft>
                <a:spcPts val="0"/>
              </a:spcAft>
            </a:pPr>
            <a:r>
              <a:rPr sz="1420" b="1">
                <a:solidFill>
                  <a:srgbClr val="192E43"/>
                </a:solidFill>
                <a:latin typeface="Arial"/>
              </a:rPr>
              <a:t>Seiko Advance Co.</a:t>
            </a:r>
          </a:p>
        </p:txBody>
      </p:sp>
      <p:sp>
        <p:nvSpPr>
          <p:cNvPr id="19" name="TextBox 18"/>
          <p:cNvSpPr txBox="1"/>
          <p:nvPr/>
        </p:nvSpPr>
        <p:spPr>
          <a:xfrm>
            <a:off x="4462272" y="3758183"/>
            <a:ext cx="3264408" cy="164592"/>
          </a:xfrm>
          <a:prstGeom prst="rect">
            <a:avLst/>
          </a:prstGeom>
          <a:noFill/>
          <a:effectLst/>
        </p:spPr>
        <p:txBody>
          <a:bodyPr wrap="square" lIns="0" tIns="0" rIns="0" bIns="0" anchor="t">
            <a:spAutoFit/>
          </a:bodyPr>
          <a:lstStyle/>
          <a:p>
            <a:pPr algn="ctr">
              <a:lnSpc>
                <a:spcPct val="114000"/>
              </a:lnSpc>
              <a:spcBef>
                <a:spcPts val="0"/>
              </a:spcBef>
              <a:spcAft>
                <a:spcPts val="0"/>
              </a:spcAft>
            </a:pPr>
            <a:r>
              <a:rPr sz="940" b="1" spc="100">
                <a:solidFill>
                  <a:srgbClr val="244CE5"/>
                </a:solidFill>
                <a:latin typeface="Arial"/>
              </a:rPr>
              <a:t>JAPAN</a:t>
            </a:r>
          </a:p>
        </p:txBody>
      </p:sp>
      <p:sp>
        <p:nvSpPr>
          <p:cNvPr id="20" name="Rectangle 19"/>
          <p:cNvSpPr/>
          <p:nvPr/>
        </p:nvSpPr>
        <p:spPr>
          <a:xfrm>
            <a:off x="8019288" y="2039112"/>
            <a:ext cx="3575304" cy="195681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Rectangle 20"/>
          <p:cNvSpPr/>
          <p:nvPr/>
        </p:nvSpPr>
        <p:spPr>
          <a:xfrm>
            <a:off x="8119871" y="2139696"/>
            <a:ext cx="3374136" cy="10607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22" name="Picture 21" descr="image84.png"/>
          <p:cNvPicPr>
            <a:picLocks noChangeAspect="1"/>
          </p:cNvPicPr>
          <p:nvPr/>
        </p:nvPicPr>
        <p:blipFill>
          <a:blip r:embed="rId6"/>
          <a:stretch>
            <a:fillRect/>
          </a:stretch>
        </p:blipFill>
        <p:spPr>
          <a:xfrm>
            <a:off x="8408947" y="2276856"/>
            <a:ext cx="2777697" cy="749808"/>
          </a:xfrm>
          <a:prstGeom prst="rect">
            <a:avLst/>
          </a:prstGeom>
          <a:effectLst/>
        </p:spPr>
      </p:pic>
      <p:sp>
        <p:nvSpPr>
          <p:cNvPr id="23" name="TextBox 22"/>
          <p:cNvSpPr txBox="1"/>
          <p:nvPr/>
        </p:nvSpPr>
        <p:spPr>
          <a:xfrm>
            <a:off x="8174736" y="3337560"/>
            <a:ext cx="3264408" cy="310896"/>
          </a:xfrm>
          <a:prstGeom prst="rect">
            <a:avLst/>
          </a:prstGeom>
          <a:noFill/>
          <a:effectLst/>
        </p:spPr>
        <p:txBody>
          <a:bodyPr wrap="square" lIns="0" tIns="0" rIns="0" bIns="0" anchor="t">
            <a:spAutoFit/>
          </a:bodyPr>
          <a:lstStyle/>
          <a:p>
            <a:pPr algn="ctr">
              <a:lnSpc>
                <a:spcPct val="114000"/>
              </a:lnSpc>
              <a:spcBef>
                <a:spcPts val="0"/>
              </a:spcBef>
              <a:spcAft>
                <a:spcPts val="0"/>
              </a:spcAft>
            </a:pPr>
            <a:r>
              <a:rPr sz="1420" b="1">
                <a:solidFill>
                  <a:srgbClr val="192E43"/>
                </a:solidFill>
                <a:latin typeface="Arial"/>
              </a:rPr>
              <a:t>Teikoku Printing Inks Mfg. Co.</a:t>
            </a:r>
          </a:p>
        </p:txBody>
      </p:sp>
      <p:sp>
        <p:nvSpPr>
          <p:cNvPr id="24" name="TextBox 23"/>
          <p:cNvSpPr txBox="1"/>
          <p:nvPr/>
        </p:nvSpPr>
        <p:spPr>
          <a:xfrm>
            <a:off x="8174736" y="3758183"/>
            <a:ext cx="3264408" cy="164592"/>
          </a:xfrm>
          <a:prstGeom prst="rect">
            <a:avLst/>
          </a:prstGeom>
          <a:noFill/>
          <a:effectLst/>
        </p:spPr>
        <p:txBody>
          <a:bodyPr wrap="square" lIns="0" tIns="0" rIns="0" bIns="0" anchor="t">
            <a:spAutoFit/>
          </a:bodyPr>
          <a:lstStyle/>
          <a:p>
            <a:pPr algn="ctr">
              <a:lnSpc>
                <a:spcPct val="114000"/>
              </a:lnSpc>
              <a:spcBef>
                <a:spcPts val="0"/>
              </a:spcBef>
              <a:spcAft>
                <a:spcPts val="0"/>
              </a:spcAft>
            </a:pPr>
            <a:r>
              <a:rPr sz="940" b="1" spc="100">
                <a:solidFill>
                  <a:srgbClr val="244CE5"/>
                </a:solidFill>
                <a:latin typeface="Arial"/>
              </a:rPr>
              <a:t>JAPAN</a:t>
            </a:r>
          </a:p>
        </p:txBody>
      </p:sp>
      <p:sp>
        <p:nvSpPr>
          <p:cNvPr id="25" name="Rectangle 24"/>
          <p:cNvSpPr/>
          <p:nvPr/>
        </p:nvSpPr>
        <p:spPr>
          <a:xfrm>
            <a:off x="594360" y="4169664"/>
            <a:ext cx="3575304" cy="195681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Rectangle 25"/>
          <p:cNvSpPr/>
          <p:nvPr/>
        </p:nvSpPr>
        <p:spPr>
          <a:xfrm>
            <a:off x="694944" y="4270248"/>
            <a:ext cx="3374136" cy="10607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27" name="Picture 26" descr="image85.png"/>
          <p:cNvPicPr>
            <a:picLocks noChangeAspect="1"/>
          </p:cNvPicPr>
          <p:nvPr/>
        </p:nvPicPr>
        <p:blipFill>
          <a:blip r:embed="rId7"/>
          <a:stretch>
            <a:fillRect/>
          </a:stretch>
        </p:blipFill>
        <p:spPr>
          <a:xfrm>
            <a:off x="978408" y="4599040"/>
            <a:ext cx="2788920" cy="366543"/>
          </a:xfrm>
          <a:prstGeom prst="rect">
            <a:avLst/>
          </a:prstGeom>
          <a:effectLst/>
        </p:spPr>
      </p:pic>
      <p:sp>
        <p:nvSpPr>
          <p:cNvPr id="28" name="TextBox 27"/>
          <p:cNvSpPr txBox="1"/>
          <p:nvPr/>
        </p:nvSpPr>
        <p:spPr>
          <a:xfrm>
            <a:off x="749808" y="5468112"/>
            <a:ext cx="3264408" cy="310896"/>
          </a:xfrm>
          <a:prstGeom prst="rect">
            <a:avLst/>
          </a:prstGeom>
          <a:noFill/>
          <a:effectLst/>
        </p:spPr>
        <p:txBody>
          <a:bodyPr wrap="square" lIns="0" tIns="0" rIns="0" bIns="0" anchor="t">
            <a:spAutoFit/>
          </a:bodyPr>
          <a:lstStyle/>
          <a:p>
            <a:pPr algn="ctr">
              <a:lnSpc>
                <a:spcPct val="114000"/>
              </a:lnSpc>
              <a:spcBef>
                <a:spcPts val="0"/>
              </a:spcBef>
              <a:spcAft>
                <a:spcPts val="0"/>
              </a:spcAft>
            </a:pPr>
            <a:r>
              <a:rPr sz="1420" b="1">
                <a:solidFill>
                  <a:srgbClr val="192E43"/>
                </a:solidFill>
                <a:latin typeface="Arial"/>
              </a:rPr>
              <a:t>Color-Dec</a:t>
            </a:r>
          </a:p>
        </p:txBody>
      </p:sp>
      <p:sp>
        <p:nvSpPr>
          <p:cNvPr id="29" name="TextBox 28"/>
          <p:cNvSpPr txBox="1"/>
          <p:nvPr/>
        </p:nvSpPr>
        <p:spPr>
          <a:xfrm>
            <a:off x="749808" y="5888736"/>
            <a:ext cx="3264408" cy="164592"/>
          </a:xfrm>
          <a:prstGeom prst="rect">
            <a:avLst/>
          </a:prstGeom>
          <a:noFill/>
          <a:effectLst/>
        </p:spPr>
        <p:txBody>
          <a:bodyPr wrap="square" lIns="0" tIns="0" rIns="0" bIns="0" anchor="t">
            <a:spAutoFit/>
          </a:bodyPr>
          <a:lstStyle/>
          <a:p>
            <a:pPr algn="ctr">
              <a:lnSpc>
                <a:spcPct val="114000"/>
              </a:lnSpc>
              <a:spcBef>
                <a:spcPts val="0"/>
              </a:spcBef>
              <a:spcAft>
                <a:spcPts val="0"/>
              </a:spcAft>
            </a:pPr>
            <a:r>
              <a:rPr sz="940" b="1" spc="100">
                <a:solidFill>
                  <a:srgbClr val="244CE5"/>
                </a:solidFill>
                <a:latin typeface="Arial"/>
              </a:rPr>
              <a:t>ITALY</a:t>
            </a:r>
          </a:p>
        </p:txBody>
      </p:sp>
      <p:sp>
        <p:nvSpPr>
          <p:cNvPr id="30" name="Rectangle 29"/>
          <p:cNvSpPr/>
          <p:nvPr/>
        </p:nvSpPr>
        <p:spPr>
          <a:xfrm>
            <a:off x="4306824" y="4169664"/>
            <a:ext cx="3575304" cy="195681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Rectangle 30"/>
          <p:cNvSpPr/>
          <p:nvPr/>
        </p:nvSpPr>
        <p:spPr>
          <a:xfrm>
            <a:off x="4407408" y="4270248"/>
            <a:ext cx="3374136" cy="10607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32" name="Picture 31" descr="image87.jpg"/>
          <p:cNvPicPr>
            <a:picLocks noChangeAspect="1"/>
          </p:cNvPicPr>
          <p:nvPr/>
        </p:nvPicPr>
        <p:blipFill>
          <a:blip r:embed="rId8"/>
          <a:stretch>
            <a:fillRect/>
          </a:stretch>
        </p:blipFill>
        <p:spPr>
          <a:xfrm>
            <a:off x="4799946" y="4407408"/>
            <a:ext cx="2570770" cy="749808"/>
          </a:xfrm>
          <a:prstGeom prst="rect">
            <a:avLst/>
          </a:prstGeom>
          <a:effectLst/>
        </p:spPr>
      </p:pic>
      <p:sp>
        <p:nvSpPr>
          <p:cNvPr id="33" name="TextBox 32"/>
          <p:cNvSpPr txBox="1"/>
          <p:nvPr/>
        </p:nvSpPr>
        <p:spPr>
          <a:xfrm>
            <a:off x="4462272" y="5468112"/>
            <a:ext cx="3264408" cy="310896"/>
          </a:xfrm>
          <a:prstGeom prst="rect">
            <a:avLst/>
          </a:prstGeom>
          <a:noFill/>
          <a:effectLst/>
        </p:spPr>
        <p:txBody>
          <a:bodyPr wrap="square" lIns="0" tIns="0" rIns="0" bIns="0" anchor="t">
            <a:spAutoFit/>
          </a:bodyPr>
          <a:lstStyle/>
          <a:p>
            <a:pPr algn="ctr">
              <a:lnSpc>
                <a:spcPct val="114000"/>
              </a:lnSpc>
              <a:spcBef>
                <a:spcPts val="0"/>
              </a:spcBef>
              <a:spcAft>
                <a:spcPts val="0"/>
              </a:spcAft>
            </a:pPr>
            <a:r>
              <a:rPr sz="1420" b="1">
                <a:solidFill>
                  <a:srgbClr val="192E43"/>
                </a:solidFill>
                <a:latin typeface="Arial"/>
              </a:rPr>
              <a:t>Kissel + Wolf GmbH</a:t>
            </a:r>
          </a:p>
        </p:txBody>
      </p:sp>
      <p:sp>
        <p:nvSpPr>
          <p:cNvPr id="34" name="TextBox 33"/>
          <p:cNvSpPr txBox="1"/>
          <p:nvPr/>
        </p:nvSpPr>
        <p:spPr>
          <a:xfrm>
            <a:off x="4462272" y="5888736"/>
            <a:ext cx="3264408" cy="164592"/>
          </a:xfrm>
          <a:prstGeom prst="rect">
            <a:avLst/>
          </a:prstGeom>
          <a:noFill/>
          <a:effectLst/>
        </p:spPr>
        <p:txBody>
          <a:bodyPr wrap="square" lIns="0" tIns="0" rIns="0" bIns="0" anchor="t">
            <a:spAutoFit/>
          </a:bodyPr>
          <a:lstStyle/>
          <a:p>
            <a:pPr algn="ctr">
              <a:lnSpc>
                <a:spcPct val="114000"/>
              </a:lnSpc>
              <a:spcBef>
                <a:spcPts val="0"/>
              </a:spcBef>
              <a:spcAft>
                <a:spcPts val="0"/>
              </a:spcAft>
            </a:pPr>
            <a:r>
              <a:rPr sz="940" b="1" spc="100">
                <a:solidFill>
                  <a:srgbClr val="244CE5"/>
                </a:solidFill>
                <a:latin typeface="Arial"/>
              </a:rPr>
              <a:t>GERMANY</a:t>
            </a:r>
          </a:p>
        </p:txBody>
      </p:sp>
      <p:sp>
        <p:nvSpPr>
          <p:cNvPr id="35" name="Rectangle 34"/>
          <p:cNvSpPr/>
          <p:nvPr/>
        </p:nvSpPr>
        <p:spPr>
          <a:xfrm>
            <a:off x="8019288" y="4169664"/>
            <a:ext cx="3575304" cy="1956816"/>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Rectangle 35"/>
          <p:cNvSpPr/>
          <p:nvPr/>
        </p:nvSpPr>
        <p:spPr>
          <a:xfrm>
            <a:off x="8119871" y="4270248"/>
            <a:ext cx="3374136" cy="10607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37" name="Picture 36" descr="image86.png"/>
          <p:cNvPicPr>
            <a:picLocks noChangeAspect="1"/>
          </p:cNvPicPr>
          <p:nvPr/>
        </p:nvPicPr>
        <p:blipFill>
          <a:blip r:embed="rId9"/>
          <a:stretch>
            <a:fillRect/>
          </a:stretch>
        </p:blipFill>
        <p:spPr>
          <a:xfrm>
            <a:off x="9235440" y="4407408"/>
            <a:ext cx="1124712" cy="749808"/>
          </a:xfrm>
          <a:prstGeom prst="rect">
            <a:avLst/>
          </a:prstGeom>
          <a:effectLst/>
        </p:spPr>
      </p:pic>
      <p:sp>
        <p:nvSpPr>
          <p:cNvPr id="38" name="TextBox 37"/>
          <p:cNvSpPr txBox="1"/>
          <p:nvPr/>
        </p:nvSpPr>
        <p:spPr>
          <a:xfrm>
            <a:off x="8174736" y="5468112"/>
            <a:ext cx="3264408" cy="310896"/>
          </a:xfrm>
          <a:prstGeom prst="rect">
            <a:avLst/>
          </a:prstGeom>
          <a:noFill/>
          <a:effectLst/>
        </p:spPr>
        <p:txBody>
          <a:bodyPr wrap="square" lIns="0" tIns="0" rIns="0" bIns="0" anchor="t">
            <a:spAutoFit/>
          </a:bodyPr>
          <a:lstStyle/>
          <a:p>
            <a:pPr algn="ctr">
              <a:lnSpc>
                <a:spcPct val="114000"/>
              </a:lnSpc>
              <a:spcBef>
                <a:spcPts val="0"/>
              </a:spcBef>
              <a:spcAft>
                <a:spcPts val="0"/>
              </a:spcAft>
            </a:pPr>
            <a:r>
              <a:rPr sz="1420" b="1">
                <a:solidFill>
                  <a:srgbClr val="192E43"/>
                </a:solidFill>
                <a:latin typeface="Arial"/>
              </a:rPr>
              <a:t>Sefar AG</a:t>
            </a:r>
          </a:p>
        </p:txBody>
      </p:sp>
      <p:sp>
        <p:nvSpPr>
          <p:cNvPr id="39" name="TextBox 38"/>
          <p:cNvSpPr txBox="1"/>
          <p:nvPr/>
        </p:nvSpPr>
        <p:spPr>
          <a:xfrm>
            <a:off x="8174736" y="5888736"/>
            <a:ext cx="3264408" cy="164592"/>
          </a:xfrm>
          <a:prstGeom prst="rect">
            <a:avLst/>
          </a:prstGeom>
          <a:noFill/>
          <a:effectLst/>
        </p:spPr>
        <p:txBody>
          <a:bodyPr wrap="square" lIns="0" tIns="0" rIns="0" bIns="0" anchor="t">
            <a:spAutoFit/>
          </a:bodyPr>
          <a:lstStyle/>
          <a:p>
            <a:pPr algn="ctr">
              <a:lnSpc>
                <a:spcPct val="114000"/>
              </a:lnSpc>
              <a:spcBef>
                <a:spcPts val="0"/>
              </a:spcBef>
              <a:spcAft>
                <a:spcPts val="0"/>
              </a:spcAft>
            </a:pPr>
            <a:r>
              <a:rPr sz="940" b="1" spc="100">
                <a:solidFill>
                  <a:srgbClr val="244CE5"/>
                </a:solidFill>
                <a:latin typeface="Arial"/>
              </a:rPr>
              <a:t>SWITZERLAND</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11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3" name="Picture 2" descr="image2.jpg"/>
          <p:cNvPicPr>
            <a:picLocks noChangeAspect="1"/>
          </p:cNvPicPr>
          <p:nvPr/>
        </p:nvPicPr>
        <p:blipFill>
          <a:blip r:embed="rId3"/>
          <a:srcRect l="33524" r="33524"/>
          <a:stretch>
            <a:fillRect/>
          </a:stretch>
        </p:blipFill>
        <p:spPr>
          <a:xfrm>
            <a:off x="6976872" y="0"/>
            <a:ext cx="5212080" cy="6858000"/>
          </a:xfrm>
          <a:prstGeom prst="rect">
            <a:avLst/>
          </a:prstGeom>
          <a:effectLst/>
        </p:spPr>
      </p:pic>
      <p:sp>
        <p:nvSpPr>
          <p:cNvPr id="4" name="Rectangle 3"/>
          <p:cNvSpPr/>
          <p:nvPr/>
        </p:nvSpPr>
        <p:spPr>
          <a:xfrm>
            <a:off x="594360" y="566928"/>
            <a:ext cx="859536"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4"/>
          <a:stretch>
            <a:fillRect/>
          </a:stretch>
        </p:blipFill>
        <p:spPr>
          <a:xfrm>
            <a:off x="669797" y="630936"/>
            <a:ext cx="699516" cy="466344"/>
          </a:xfrm>
          <a:prstGeom prst="rect">
            <a:avLst/>
          </a:prstGeom>
          <a:effectLst/>
        </p:spPr>
      </p:pic>
      <p:sp>
        <p:nvSpPr>
          <p:cNvPr id="6" name="TextBox 5"/>
          <p:cNvSpPr txBox="1"/>
          <p:nvPr/>
        </p:nvSpPr>
        <p:spPr>
          <a:xfrm>
            <a:off x="1627632" y="667512"/>
            <a:ext cx="4206240" cy="475488"/>
          </a:xfrm>
          <a:prstGeom prst="rect">
            <a:avLst/>
          </a:prstGeom>
          <a:noFill/>
          <a:effectLst/>
        </p:spPr>
        <p:txBody>
          <a:bodyPr wrap="square" lIns="0" tIns="0" rIns="0" bIns="0" anchor="t">
            <a:spAutoFit/>
          </a:bodyPr>
          <a:lstStyle/>
          <a:p>
            <a:pPr algn="l">
              <a:lnSpc>
                <a:spcPct val="112000"/>
              </a:lnSpc>
              <a:spcBef>
                <a:spcPts val="0"/>
              </a:spcBef>
              <a:spcAft>
                <a:spcPts val="0"/>
              </a:spcAft>
            </a:pPr>
            <a:r>
              <a:rPr sz="1250" b="1" spc="40">
                <a:solidFill>
                  <a:srgbClr val="FFFFFF"/>
                </a:solidFill>
                <a:latin typeface="Arial"/>
              </a:rPr>
              <a:t>PT. GRAFINDO</a:t>
            </a:r>
          </a:p>
          <a:p>
            <a:pPr algn="l">
              <a:lnSpc>
                <a:spcPct val="112000"/>
              </a:lnSpc>
              <a:spcBef>
                <a:spcPts val="0"/>
              </a:spcBef>
              <a:spcAft>
                <a:spcPts val="0"/>
              </a:spcAft>
            </a:pPr>
            <a:r>
              <a:rPr sz="1250" b="1" spc="40">
                <a:solidFill>
                  <a:srgbClr val="FFFFFF"/>
                </a:solidFill>
                <a:latin typeface="Arial"/>
              </a:rPr>
              <a:t>MITRASEMESTA</a:t>
            </a:r>
          </a:p>
        </p:txBody>
      </p:sp>
      <p:sp>
        <p:nvSpPr>
          <p:cNvPr id="7" name="TextBox 6"/>
          <p:cNvSpPr txBox="1"/>
          <p:nvPr/>
        </p:nvSpPr>
        <p:spPr>
          <a:xfrm>
            <a:off x="594360" y="2011680"/>
            <a:ext cx="6035040" cy="941832"/>
          </a:xfrm>
          <a:prstGeom prst="rect">
            <a:avLst/>
          </a:prstGeom>
          <a:noFill/>
          <a:effectLst/>
        </p:spPr>
        <p:txBody>
          <a:bodyPr wrap="square" lIns="0" tIns="0" rIns="0" bIns="0" anchor="t">
            <a:spAutoFit/>
          </a:bodyPr>
          <a:lstStyle/>
          <a:p>
            <a:pPr algn="l">
              <a:lnSpc>
                <a:spcPct val="114000"/>
              </a:lnSpc>
              <a:spcBef>
                <a:spcPts val="0"/>
              </a:spcBef>
              <a:spcAft>
                <a:spcPts val="0"/>
              </a:spcAft>
            </a:pPr>
            <a:r>
              <a:rPr sz="4800" b="1" spc="-60">
                <a:solidFill>
                  <a:srgbClr val="FFFFFF"/>
                </a:solidFill>
                <a:latin typeface="Arial"/>
              </a:rPr>
              <a:t>Thank you.</a:t>
            </a:r>
          </a:p>
        </p:txBody>
      </p:sp>
      <p:sp>
        <p:nvSpPr>
          <p:cNvPr id="8" name="Rectangle 7"/>
          <p:cNvSpPr/>
          <p:nvPr/>
        </p:nvSpPr>
        <p:spPr>
          <a:xfrm>
            <a:off x="621792" y="3163824"/>
            <a:ext cx="987552" cy="50292"/>
          </a:xfrm>
          <a:prstGeom prst="rect">
            <a:avLst/>
          </a:prstGeom>
          <a:solidFill>
            <a:srgbClr val="48D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621792" y="3611880"/>
            <a:ext cx="5577840" cy="182880"/>
          </a:xfrm>
          <a:prstGeom prst="rect">
            <a:avLst/>
          </a:prstGeom>
          <a:noFill/>
          <a:effectLst/>
        </p:spPr>
        <p:txBody>
          <a:bodyPr wrap="square" lIns="0" tIns="0" rIns="0" bIns="0" anchor="t">
            <a:spAutoFit/>
          </a:bodyPr>
          <a:lstStyle/>
          <a:p>
            <a:pPr algn="l">
              <a:lnSpc>
                <a:spcPct val="114000"/>
              </a:lnSpc>
              <a:spcBef>
                <a:spcPts val="0"/>
              </a:spcBef>
              <a:spcAft>
                <a:spcPts val="0"/>
              </a:spcAft>
            </a:pPr>
            <a:r>
              <a:rPr sz="1000" b="1" spc="130">
                <a:solidFill>
                  <a:srgbClr val="48D0DF"/>
                </a:solidFill>
                <a:latin typeface="Arial"/>
              </a:rPr>
              <a:t>HEAD OFFICE &amp; WORKSHOP</a:t>
            </a:r>
          </a:p>
        </p:txBody>
      </p:sp>
      <p:sp>
        <p:nvSpPr>
          <p:cNvPr id="10" name="TextBox 9"/>
          <p:cNvSpPr txBox="1"/>
          <p:nvPr/>
        </p:nvSpPr>
        <p:spPr>
          <a:xfrm>
            <a:off x="621792" y="3977639"/>
            <a:ext cx="5742432" cy="768096"/>
          </a:xfrm>
          <a:prstGeom prst="rect">
            <a:avLst/>
          </a:prstGeom>
          <a:noFill/>
          <a:effectLst/>
        </p:spPr>
        <p:txBody>
          <a:bodyPr wrap="square" lIns="0" tIns="0" rIns="0" bIns="0" anchor="t">
            <a:spAutoFit/>
          </a:bodyPr>
          <a:lstStyle/>
          <a:p>
            <a:pPr algn="l">
              <a:lnSpc>
                <a:spcPct val="125000"/>
              </a:lnSpc>
              <a:spcBef>
                <a:spcPts val="0"/>
              </a:spcBef>
              <a:spcAft>
                <a:spcPts val="0"/>
              </a:spcAft>
            </a:pPr>
            <a:r>
              <a:rPr sz="1550" b="0">
                <a:solidFill>
                  <a:srgbClr val="FFFFFF"/>
                </a:solidFill>
                <a:latin typeface="Arial"/>
              </a:rPr>
              <a:t>Cikarang Industrial Estate · Jababeka I</a:t>
            </a:r>
          </a:p>
          <a:p>
            <a:pPr algn="l">
              <a:lnSpc>
                <a:spcPct val="125000"/>
              </a:lnSpc>
              <a:spcBef>
                <a:spcPts val="0"/>
              </a:spcBef>
              <a:spcAft>
                <a:spcPts val="0"/>
              </a:spcAft>
            </a:pPr>
            <a:r>
              <a:rPr sz="1550" b="0">
                <a:solidFill>
                  <a:srgbClr val="FFFFFF"/>
                </a:solidFill>
                <a:latin typeface="Arial"/>
              </a:rPr>
              <a:t>Blocks U8D, U8C &amp; U7A</a:t>
            </a:r>
          </a:p>
          <a:p>
            <a:pPr algn="l">
              <a:lnSpc>
                <a:spcPct val="125000"/>
              </a:lnSpc>
              <a:spcBef>
                <a:spcPts val="0"/>
              </a:spcBef>
              <a:spcAft>
                <a:spcPts val="0"/>
              </a:spcAft>
            </a:pPr>
            <a:r>
              <a:rPr sz="1550" b="0">
                <a:solidFill>
                  <a:srgbClr val="FFFFFF"/>
                </a:solidFill>
                <a:latin typeface="Arial"/>
              </a:rPr>
              <a:t>Cikarang, Bekasi, Indonesia</a:t>
            </a:r>
          </a:p>
        </p:txBody>
      </p:sp>
      <p:sp>
        <p:nvSpPr>
          <p:cNvPr id="11" name="TextBox 10"/>
          <p:cNvSpPr txBox="1"/>
          <p:nvPr/>
        </p:nvSpPr>
        <p:spPr>
          <a:xfrm>
            <a:off x="621792" y="5001768"/>
            <a:ext cx="5669280" cy="539496"/>
          </a:xfrm>
          <a:prstGeom prst="rect">
            <a:avLst/>
          </a:prstGeom>
          <a:noFill/>
          <a:effectLst/>
        </p:spPr>
        <p:txBody>
          <a:bodyPr wrap="square" lIns="0" tIns="0" rIns="0" bIns="0" anchor="t">
            <a:spAutoFit/>
          </a:bodyPr>
          <a:lstStyle/>
          <a:p>
            <a:pPr algn="l">
              <a:lnSpc>
                <a:spcPct val="145000"/>
              </a:lnSpc>
              <a:spcBef>
                <a:spcPts val="0"/>
              </a:spcBef>
              <a:spcAft>
                <a:spcPts val="0"/>
              </a:spcAft>
            </a:pPr>
            <a:r>
              <a:rPr sz="1450" b="0">
                <a:solidFill>
                  <a:srgbClr val="FFFFFF"/>
                </a:solidFill>
                <a:latin typeface="Arial"/>
              </a:rPr>
              <a:t>admin1@grafindomitrasemesta.com</a:t>
            </a:r>
          </a:p>
          <a:p>
            <a:pPr algn="l">
              <a:lnSpc>
                <a:spcPct val="145000"/>
              </a:lnSpc>
              <a:spcBef>
                <a:spcPts val="0"/>
              </a:spcBef>
              <a:spcAft>
                <a:spcPts val="0"/>
              </a:spcAft>
            </a:pPr>
            <a:r>
              <a:rPr sz="1450" b="0">
                <a:solidFill>
                  <a:srgbClr val="FFFFFF"/>
                </a:solidFill>
                <a:latin typeface="Arial"/>
              </a:rPr>
              <a:t>www.grafindomitrasemesta.com</a:t>
            </a:r>
          </a:p>
        </p:txBody>
      </p:sp>
      <p:sp>
        <p:nvSpPr>
          <p:cNvPr id="12" name="TextBox 11"/>
          <p:cNvSpPr txBox="1"/>
          <p:nvPr/>
        </p:nvSpPr>
        <p:spPr>
          <a:xfrm>
            <a:off x="621792" y="5833872"/>
            <a:ext cx="6016752" cy="365760"/>
          </a:xfrm>
          <a:prstGeom prst="rect">
            <a:avLst/>
          </a:prstGeom>
          <a:noFill/>
          <a:effectLst/>
        </p:spPr>
        <p:txBody>
          <a:bodyPr wrap="square" lIns="0" tIns="0" rIns="0" bIns="0" anchor="t">
            <a:spAutoFit/>
          </a:bodyPr>
          <a:lstStyle/>
          <a:p>
            <a:pPr algn="l">
              <a:lnSpc>
                <a:spcPct val="140000"/>
              </a:lnSpc>
              <a:spcBef>
                <a:spcPts val="0"/>
              </a:spcBef>
              <a:spcAft>
                <a:spcPts val="0"/>
              </a:spcAft>
            </a:pPr>
            <a:r>
              <a:rPr sz="969" b="0">
                <a:solidFill>
                  <a:srgbClr val="BCCBDC"/>
                </a:solidFill>
                <a:latin typeface="Arial"/>
              </a:rPr>
              <a:t>Tel. 8934714–16 · 8935120 · 89110628–29 · 89111014–15</a:t>
            </a:r>
          </a:p>
          <a:p>
            <a:pPr algn="l">
              <a:lnSpc>
                <a:spcPct val="140000"/>
              </a:lnSpc>
              <a:spcBef>
                <a:spcPts val="0"/>
              </a:spcBef>
              <a:spcAft>
                <a:spcPts val="0"/>
              </a:spcAft>
            </a:pPr>
            <a:r>
              <a:rPr sz="969" b="0">
                <a:solidFill>
                  <a:srgbClr val="BCCBDC"/>
                </a:solidFill>
                <a:latin typeface="Arial"/>
              </a:rPr>
              <a:t>Fax 8934713 / 89111016</a:t>
            </a:r>
          </a:p>
        </p:txBody>
      </p:sp>
    </p:spTree>
  </p:cSld>
  <p:clrMapOvr>
    <a:masterClrMapping/>
  </p:clrMapOvr>
  <p:transition>
    <p:fade/>
  </p:transition>
</p:sld>
</file>

<file path=ppt/theme/theme1.xml><?xml version="1.0" encoding="utf-8"?>
<a:theme xmlns:a="http://schemas.openxmlformats.org/drawingml/2006/main" name="Office Theme">
  <a:themeElements>
    <a:clrScheme name="Grafindo">
      <a:dk1>
        <a:srgbClr val="192E43"/>
      </a:dk1>
      <a:lt1>
        <a:srgbClr val="FFFFFF"/>
      </a:lt1>
      <a:dk2>
        <a:srgbClr val="112B45"/>
      </a:dk2>
      <a:lt2>
        <a:srgbClr val="F3F6FA"/>
      </a:lt2>
      <a:accent1>
        <a:srgbClr val="244CE5"/>
      </a:accent1>
      <a:accent2>
        <a:srgbClr val="48D0DF"/>
      </a:accent2>
      <a:accent3>
        <a:srgbClr val="5D7083"/>
      </a:accent3>
      <a:accent4>
        <a:srgbClr val="EAF0FB"/>
      </a:accent4>
      <a:accent5>
        <a:srgbClr val="112B45"/>
      </a:accent5>
      <a:accent6>
        <a:srgbClr val="8997A5"/>
      </a:accent6>
      <a:hlink>
        <a:srgbClr val="244CE5"/>
      </a:hlink>
      <a:folHlink>
        <a:srgbClr val="5D7083"/>
      </a:folHlink>
    </a:clrScheme>
    <a:fontScheme name="Grafindo Arial">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174</TotalTime>
  <Words>2101</Words>
  <Application>Microsoft Office PowerPoint</Application>
  <PresentationFormat>Widescreen</PresentationFormat>
  <Paragraphs>550</Paragraphs>
  <Slides>26</Slides>
  <Notes>26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26</vt:i4>
      </vt:variant>
    </vt:vector>
  </HeadingPairs>
  <TitlesOfParts>
    <vt:vector size="2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Grafindo Company Profile 2026</dc:title>
  <dc:subject>OEM automotive graphics, resin dome graphics and soft emblems</dc:subject>
  <dc:creator>PT. Grafindo Mitrasemesta</dc:creator>
  <cp:keywords>Grafindo, company profile, 2026, automotive, OEM</cp:keywords>
  <dc:description>generated using python-pptx</dc:description>
  <cp:lastModifiedBy>Benz K.</cp:lastModifiedBy>
  <cp:revision>5</cp:revision>
  <dcterms:created xsi:type="dcterms:W3CDTF">2013-01-27T09:14:16Z</dcterms:created>
  <dcterms:modified xsi:type="dcterms:W3CDTF">2026-10-08T07:20:39Z</dcterms:modified>
  <cp:category/>
</cp:coreProperties>
</file>